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charts/chart4.xml" ContentType="application/vnd.openxmlformats-officedocument.drawingml.chart+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Lst>
  <p:notesMasterIdLst>
    <p:notesMasterId r:id="rId3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f86167-93c6-247f-3fbc-f3314410f589}">
          <p14:sldIdLst>
            <p14:sldId id="256"/>
            <p14:sldId id="257"/>
            <p14:sldId id="258"/>
          </p14:sldIdLst>
        </p14:section>
        <p14:section name="Application" id="{12132e20-8aab-0d05-eb27-3760dd1d6290}">
          <p14:sldIdLst>
            <p14:sldId id="259"/>
            <p14:sldId id="260"/>
            <p14:sldId id="261"/>
            <p14:sldId id="262"/>
          </p14:sldIdLst>
        </p14:section>
        <p14:section name="Part 1" id="{84e301c2-aebe-52ce-615a-6e49869f28c2}">
          <p14:sldIdLst>
            <p14:sldId id="263"/>
            <p14:sldId id="264"/>
            <p14:sldId id="265"/>
            <p14:sldId id="266"/>
            <p14:sldId id="267"/>
            <p14:sldId id="268"/>
          </p14:sldIdLst>
        </p14:section>
        <p14:section name="Part 2" id="{a6f83d4c-56f4-4106-e165-001df4b78616}">
          <p14:sldIdLst>
            <p14:sldId id="269"/>
            <p14:sldId id="270"/>
            <p14:sldId id="271"/>
            <p14:sldId id="272"/>
            <p14:sldId id="273"/>
            <p14:sldId id="274"/>
            <p14:sldId id="275"/>
            <p14:sldId id="276"/>
            <p14:sldId id="277"/>
          </p14:sldIdLst>
        </p14:section>
        <p14:section name="Part 3" id="{81f65f21-832d-d33e-cf0f-5cc3da51fd4f}">
          <p14:sldIdLst>
            <p14:sldId id="278"/>
            <p14:sldId id="279"/>
            <p14:sldId id="280"/>
            <p14:sldId id="281"/>
          </p14:sldIdLst>
        </p14:section>
        <p14:section name="LLM use" id="{609fe8d9-e1ff-7ae7-7a16-febfef1d7b7e}">
          <p14:sldIdLst>
            <p14:sldId id="282"/>
            <p14:sldId id="283"/>
          </p14:sldIdLst>
        </p14:section>
        <p14:section name="Findings" id="{cbe1acb8-1379-7f88-089a-d90901600558}">
          <p14:sldIdLst>
            <p14:sldId id="284"/>
            <p14:sldId id="285"/>
            <p14:sldId id="286"/>
            <p14:sldId id="287"/>
            <p14:sldId id="28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notesMaster" Target="notesMasters/notesMaster1.xml"/><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38"/>
                </a:solidFill>
                <a:latin typeface="+mj-lt"/>
              </a:defRPr>
            </a:pPr>
            <a:r>
              <a:rPr sz="1400" b="0" i="0" u="none" strike="noStrike">
                <a:solidFill>
                  <a:srgbClr val="1E2B38"/>
                </a:solidFill>
                <a:latin typeface="+mj-lt"/>
              </a:rPr>
              <a:t>Pattern instances</a:t>
            </a:r>
          </a:p>
        </c:rich>
      </c:tx>
      <c:layout/>
      <c:overlay val="0"/>
    </c:title>
    <c:autoTitleDeleted val="0"/>
    <c:plotArea>
      <c:layout/>
      <c:barChart>
        <c:barDir val="col"/>
        <c:grouping val="clustered"/>
        <c:varyColors val="0"/>
        <c:ser>
          <c:idx val="0"/>
          <c:order val="0"/>
          <c:tx>
            <c:strRef>
              <c:f>Sheet1!$B$1</c:f>
              <c:strCache>
                <c:ptCount val="1"/>
                <c:pt idx="0">
                  <c:v>Pattern instances</c:v>
                </c:pt>
              </c:strCache>
            </c:strRef>
          </c:tx>
          <c:spPr>
            <a:solidFill>
              <a:srgbClr val="E39B2D"/>
            </a:solidFill>
            <a:effectLst/>
          </c:spPr>
          <c:invertIfNegative val="0"/>
          <c:dLbls>
            <c:numFmt formatCode="#,##0" sourceLinked="0"/>
            <c:txPr>
              <a:bodyPr/>
              <a:lstStyle/>
              <a:p>
                <a:pPr>
                  <a:defRPr b="0" i="0" strike="noStrike" sz="11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C1</c:v>
                  </c:pt>
                  <c:pt idx="2">
                    <c:v>C2</c:v>
                  </c:pt>
                  <c:pt idx="3">
                    <c:v>C3</c:v>
                  </c:pt>
                  <c:pt idx="4">
                    <c:v>C4</c:v>
                  </c:pt>
                </c:lvl>
              </c:multiLvlStrCache>
            </c:multiLvlStrRef>
          </c:cat>
          <c:val>
            <c:numRef>
              <c:f>Sheet1!$B$2:$B$6</c:f>
              <c:numCache>
                <c:formatCode>General</c:formatCode>
                <c:ptCount val="5"/>
                <c:pt idx="0">
                  <c:v>9</c:v>
                </c:pt>
                <c:pt idx="1">
                  <c:v>10</c:v>
                </c:pt>
                <c:pt idx="2">
                  <c:v>11</c:v>
                </c:pt>
                <c:pt idx="3">
                  <c:v>12</c:v>
                </c:pt>
                <c:pt idx="4">
                  <c:v>13</c:v>
                </c:pt>
              </c:numCache>
            </c:numRef>
          </c:val>
        </c:ser>
        <c:dLbls>
          <c:numFmt formatCode="#,##0" sourceLinked="0"/>
          <c:txPr>
            <a:bodyPr/>
            <a:lstStyle/>
            <a:p>
              <a:pPr>
                <a:defRPr b="0" i="0" strike="noStrike" sz="1100" u="none">
                  <a:solidFill>
                    <a:srgbClr val="1A1F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38"/>
                </a:solidFill>
                <a:latin typeface="+mj-lt"/>
              </a:defRPr>
            </a:pPr>
            <a:r>
              <a:rPr sz="1400" b="0" i="0" u="none" strike="noStrike">
                <a:solidFill>
                  <a:srgbClr val="1E2B38"/>
                </a:solidFill>
                <a:latin typeface="+mj-lt"/>
              </a:rPr>
              <a:t>Source LOC (FlemanApi)</a:t>
            </a:r>
          </a:p>
        </c:rich>
      </c:tx>
      <c:layout/>
      <c:overlay val="0"/>
    </c:title>
    <c:autoTitleDeleted val="0"/>
    <c:plotArea>
      <c:layout/>
      <c:barChart>
        <c:barDir val="col"/>
        <c:grouping val="clustered"/>
        <c:varyColors val="0"/>
        <c:ser>
          <c:idx val="0"/>
          <c:order val="0"/>
          <c:tx>
            <c:strRef>
              <c:f>Sheet1!$B$1</c:f>
              <c:strCache>
                <c:ptCount val="1"/>
                <c:pt idx="0">
                  <c:v>Source LOC (FlemanApi)</c:v>
                </c:pt>
              </c:strCache>
            </c:strRef>
          </c:tx>
          <c:spPr>
            <a:solidFill>
              <a:srgbClr val="2A7F7A"/>
            </a:solidFill>
            <a:effectLst/>
          </c:spPr>
          <c:invertIfNegative val="0"/>
          <c:dLbls>
            <c:numFmt formatCode="#,##0" sourceLinked="0"/>
            <c:txPr>
              <a:bodyPr/>
              <a:lstStyle/>
              <a:p>
                <a:pPr>
                  <a:defRPr b="0" i="0" strike="noStrike" sz="11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C1</c:v>
                  </c:pt>
                  <c:pt idx="2">
                    <c:v>C2</c:v>
                  </c:pt>
                  <c:pt idx="3">
                    <c:v>C3</c:v>
                  </c:pt>
                  <c:pt idx="4">
                    <c:v>C4</c:v>
                  </c:pt>
                </c:lvl>
              </c:multiLvlStrCache>
            </c:multiLvlStrRef>
          </c:cat>
          <c:val>
            <c:numRef>
              <c:f>Sheet1!$B$2:$B$6</c:f>
              <c:numCache>
                <c:formatCode>General</c:formatCode>
                <c:ptCount val="5"/>
                <c:pt idx="0">
                  <c:v>3599</c:v>
                </c:pt>
                <c:pt idx="1">
                  <c:v>3956</c:v>
                </c:pt>
                <c:pt idx="2">
                  <c:v>4151</c:v>
                </c:pt>
                <c:pt idx="3">
                  <c:v>4360</c:v>
                </c:pt>
                <c:pt idx="4">
                  <c:v>4500</c:v>
                </c:pt>
              </c:numCache>
            </c:numRef>
          </c:val>
        </c:ser>
        <c:dLbls>
          <c:numFmt formatCode="#,##0" sourceLinked="0"/>
          <c:txPr>
            <a:bodyPr/>
            <a:lstStyle/>
            <a:p>
              <a:pPr>
                <a:defRPr b="0" i="0" strike="noStrike" sz="1100" u="none">
                  <a:solidFill>
                    <a:srgbClr val="1A1F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38"/>
                </a:solidFill>
                <a:latin typeface="+mj-lt"/>
              </a:defRPr>
            </a:pPr>
            <a:r>
              <a:rPr sz="1400" b="0" i="0" u="none" strike="noStrike">
                <a:solidFill>
                  <a:srgbClr val="1E2B38"/>
                </a:solidFill>
                <a:latin typeface="+mj-lt"/>
              </a:rPr>
              <a:t>Tests passed</a:t>
            </a:r>
          </a:p>
        </c:rich>
      </c:tx>
      <c:layout/>
      <c:overlay val="0"/>
    </c:title>
    <c:autoTitleDeleted val="0"/>
    <c:plotArea>
      <c:layout/>
      <c:barChart>
        <c:barDir val="col"/>
        <c:grouping val="clustered"/>
        <c:varyColors val="0"/>
        <c:ser>
          <c:idx val="0"/>
          <c:order val="0"/>
          <c:tx>
            <c:strRef>
              <c:f>Sheet1!$B$1</c:f>
              <c:strCache>
                <c:ptCount val="1"/>
                <c:pt idx="0">
                  <c:v>Tests passed</c:v>
                </c:pt>
              </c:strCache>
            </c:strRef>
          </c:tx>
          <c:spPr>
            <a:solidFill>
              <a:srgbClr val="1E2B38"/>
            </a:solidFill>
            <a:effectLst/>
          </c:spPr>
          <c:invertIfNegative val="0"/>
          <c:dLbls>
            <c:numFmt formatCode="#,##0" sourceLinked="0"/>
            <c:txPr>
              <a:bodyPr/>
              <a:lstStyle/>
              <a:p>
                <a:pPr>
                  <a:defRPr b="0" i="0" strike="noStrike" sz="11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Original</c:v>
                  </c:pt>
                  <c:pt idx="1">
                    <c:v>C1</c:v>
                  </c:pt>
                  <c:pt idx="2">
                    <c:v>C2</c:v>
                  </c:pt>
                  <c:pt idx="3">
                    <c:v>C3</c:v>
                  </c:pt>
                  <c:pt idx="4">
                    <c:v>C4</c:v>
                  </c:pt>
                </c:lvl>
              </c:multiLvlStrCache>
            </c:multiLvlStrRef>
          </c:cat>
          <c:val>
            <c:numRef>
              <c:f>Sheet1!$B$2:$B$6</c:f>
              <c:numCache>
                <c:formatCode>General</c:formatCode>
                <c:ptCount val="5"/>
                <c:pt idx="0">
                  <c:v>182</c:v>
                </c:pt>
                <c:pt idx="1">
                  <c:v>232</c:v>
                </c:pt>
                <c:pt idx="2">
                  <c:v>256</c:v>
                </c:pt>
                <c:pt idx="3">
                  <c:v>279</c:v>
                </c:pt>
                <c:pt idx="4">
                  <c:v>297</c:v>
                </c:pt>
              </c:numCache>
            </c:numRef>
          </c:val>
        </c:ser>
        <c:dLbls>
          <c:numFmt formatCode="#,##0" sourceLinked="0"/>
          <c:txPr>
            <a:bodyPr/>
            <a:lstStyle/>
            <a:p>
              <a:pPr>
                <a:defRPr b="0" i="0" strike="noStrike" sz="1100" u="none">
                  <a:solidFill>
                    <a:srgbClr val="1A1F2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E2B38"/>
                </a:solidFill>
                <a:latin typeface="+mj-lt"/>
              </a:defRPr>
            </a:pPr>
            <a:r>
              <a:rPr sz="1400" b="0" i="0" u="none" strike="noStrike">
                <a:solidFill>
                  <a:srgbClr val="1E2B38"/>
                </a:solidFill>
                <a:latin typeface="+mj-lt"/>
              </a:rPr>
              <a:t>Source LOC per snippet (all five patterns)</a:t>
            </a:r>
          </a:p>
        </c:rich>
      </c:tx>
      <c:layout/>
      <c:overlay val="0"/>
    </c:title>
    <c:autoTitleDeleted val="0"/>
    <c:plotArea>
      <c:layout/>
      <c:barChart>
        <c:barDir val="col"/>
        <c:grouping val="clustered"/>
        <c:varyColors val="0"/>
        <c:ser>
          <c:idx val="0"/>
          <c:order val="0"/>
          <c:tx>
            <c:strRef>
              <c:f>Sheet1!$B$1</c:f>
              <c:strCache>
                <c:ptCount val="1"/>
                <c:pt idx="0">
                  <c:v>Java</c:v>
                </c:pt>
              </c:strCache>
            </c:strRef>
          </c:tx>
          <c:spPr>
            <a:solidFill>
              <a:srgbClr val="B5483A"/>
            </a:solidFill>
            <a:effectLst/>
          </c:spPr>
          <c:invertIfNegative val="0"/>
          <c:dLbls>
            <c:numFmt formatCode="#,##0" sourceLinked="0"/>
            <c:txPr>
              <a:bodyPr/>
              <a:lstStyle/>
              <a:p>
                <a:pPr>
                  <a:defRPr b="0" i="0" strike="noStrike" sz="9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Factory Method</c:v>
                  </c:pt>
                  <c:pt idx="1">
                    <c:v>Observer</c:v>
                  </c:pt>
                  <c:pt idx="2">
                    <c:v>Dependency Injection</c:v>
                  </c:pt>
                  <c:pt idx="3">
                    <c:v>Strategy</c:v>
                  </c:pt>
                  <c:pt idx="4">
                    <c:v>Repository</c:v>
                  </c:pt>
                </c:lvl>
              </c:multiLvlStrCache>
            </c:multiLvlStrRef>
          </c:cat>
          <c:val>
            <c:numRef>
              <c:f>Sheet1!$B$2:$B$6</c:f>
              <c:numCache>
                <c:formatCode>General</c:formatCode>
                <c:ptCount val="5"/>
                <c:pt idx="0">
                  <c:v>65</c:v>
                </c:pt>
                <c:pt idx="1">
                  <c:v>71</c:v>
                </c:pt>
                <c:pt idx="2">
                  <c:v>110</c:v>
                </c:pt>
                <c:pt idx="3">
                  <c:v>13</c:v>
                </c:pt>
                <c:pt idx="4">
                  <c:v>11</c:v>
                </c:pt>
              </c:numCache>
            </c:numRef>
          </c:val>
        </c:ser>
        <c:ser>
          <c:idx val="1"/>
          <c:order val="1"/>
          <c:tx>
            <c:strRef>
              <c:f>Sheet1!$C$1</c:f>
              <c:strCache>
                <c:ptCount val="1"/>
                <c:pt idx="0">
                  <c:v>Python</c:v>
                </c:pt>
              </c:strCache>
            </c:strRef>
          </c:tx>
          <c:spPr>
            <a:solidFill>
              <a:srgbClr val="2A7F7A"/>
            </a:solidFill>
            <a:effectLst/>
          </c:spPr>
          <c:invertIfNegative val="0"/>
          <c:dLbls>
            <c:numFmt formatCode="#,##0" sourceLinked="0"/>
            <c:txPr>
              <a:bodyPr/>
              <a:lstStyle/>
              <a:p>
                <a:pPr>
                  <a:defRPr b="0" i="0" strike="noStrike" sz="9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Factory Method</c:v>
                  </c:pt>
                  <c:pt idx="1">
                    <c:v>Observer</c:v>
                  </c:pt>
                  <c:pt idx="2">
                    <c:v>Dependency Injection</c:v>
                  </c:pt>
                  <c:pt idx="3">
                    <c:v>Strategy</c:v>
                  </c:pt>
                  <c:pt idx="4">
                    <c:v>Repository</c:v>
                  </c:pt>
                </c:lvl>
              </c:multiLvlStrCache>
            </c:multiLvlStrRef>
          </c:cat>
          <c:val>
            <c:numRef>
              <c:f>Sheet1!$C$2:$C$6</c:f>
              <c:numCache>
                <c:formatCode>General</c:formatCode>
                <c:ptCount val="5"/>
                <c:pt idx="0">
                  <c:v>51</c:v>
                </c:pt>
                <c:pt idx="1">
                  <c:v>69</c:v>
                </c:pt>
                <c:pt idx="2">
                  <c:v>81</c:v>
                </c:pt>
                <c:pt idx="3">
                  <c:v>58</c:v>
                </c:pt>
                <c:pt idx="4">
                  <c:v>25</c:v>
                </c:pt>
              </c:numCache>
            </c:numRef>
          </c:val>
        </c:ser>
        <c:ser>
          <c:idx val="2"/>
          <c:order val="2"/>
          <c:tx>
            <c:strRef>
              <c:f>Sheet1!$D$1</c:f>
              <c:strCache>
                <c:ptCount val="1"/>
                <c:pt idx="0">
                  <c:v>JavaScript</c:v>
                </c:pt>
              </c:strCache>
            </c:strRef>
          </c:tx>
          <c:spPr>
            <a:solidFill>
              <a:srgbClr val="E39B2D"/>
            </a:solidFill>
            <a:effectLst/>
          </c:spPr>
          <c:invertIfNegative val="0"/>
          <c:dLbls>
            <c:numFmt formatCode="#,##0" sourceLinked="0"/>
            <c:txPr>
              <a:bodyPr/>
              <a:lstStyle/>
              <a:p>
                <a:pPr>
                  <a:defRPr b="0" i="0" strike="noStrike" sz="9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Factory Method</c:v>
                  </c:pt>
                  <c:pt idx="1">
                    <c:v>Observer</c:v>
                  </c:pt>
                  <c:pt idx="2">
                    <c:v>Dependency Injection</c:v>
                  </c:pt>
                  <c:pt idx="3">
                    <c:v>Strategy</c:v>
                  </c:pt>
                  <c:pt idx="4">
                    <c:v>Repository</c:v>
                  </c:pt>
                </c:lvl>
              </c:multiLvlStrCache>
            </c:multiLvlStrRef>
          </c:cat>
          <c:val>
            <c:numRef>
              <c:f>Sheet1!$D$2:$D$6</c:f>
              <c:numCache>
                <c:formatCode>General</c:formatCode>
                <c:ptCount val="5"/>
                <c:pt idx="0">
                  <c:v>77</c:v>
                </c:pt>
                <c:pt idx="1">
                  <c:v>63</c:v>
                </c:pt>
                <c:pt idx="2">
                  <c:v>57</c:v>
                </c:pt>
                <c:pt idx="3">
                  <c:v>24</c:v>
                </c:pt>
                <c:pt idx="4">
                  <c:v>12</c:v>
                </c:pt>
              </c:numCache>
            </c:numRef>
          </c:val>
        </c:ser>
        <c:ser>
          <c:idx val="3"/>
          <c:order val="3"/>
          <c:tx>
            <c:strRef>
              <c:f>Sheet1!$E$1</c:f>
              <c:strCache>
                <c:ptCount val="1"/>
                <c:pt idx="0">
                  <c:v>C++</c:v>
                </c:pt>
              </c:strCache>
            </c:strRef>
          </c:tx>
          <c:spPr>
            <a:solidFill>
              <a:srgbClr val="1E2B38"/>
            </a:solidFill>
            <a:effectLst/>
          </c:spPr>
          <c:invertIfNegative val="0"/>
          <c:dLbls>
            <c:numFmt formatCode="#,##0" sourceLinked="0"/>
            <c:txPr>
              <a:bodyPr/>
              <a:lstStyle/>
              <a:p>
                <a:pPr>
                  <a:defRPr b="0" i="0" strike="noStrike" sz="900" u="none">
                    <a:solidFill>
                      <a:srgbClr val="1A1F26"/>
                    </a:solidFill>
                    <a:latin typeface="+mn-lt"/>
                  </a:defRPr>
                </a:pPr>
              </a:p>
            </c:txPr>
            <c:showLegendKey val="0"/>
            <c:showVal val="1"/>
            <c:showCatName val="0"/>
            <c:showSerName val="0"/>
            <c:showPercent val="0"/>
            <c:showBubbleSize val="0"/>
            <c:showLeaderLines val="0"/>
          </c:dLbls>
          <c:cat>
            <c:multiLvlStrRef>
              <c:f>Sheet1!$A$2:$A$6</c:f>
              <c:multiLvlStrCache>
                <c:ptCount val="5"/>
                <c:lvl>
                  <c:pt idx="0">
                    <c:v>Factory Method</c:v>
                  </c:pt>
                  <c:pt idx="1">
                    <c:v>Observer</c:v>
                  </c:pt>
                  <c:pt idx="2">
                    <c:v>Dependency Injection</c:v>
                  </c:pt>
                  <c:pt idx="3">
                    <c:v>Strategy</c:v>
                  </c:pt>
                  <c:pt idx="4">
                    <c:v>Repository</c:v>
                  </c:pt>
                </c:lvl>
              </c:multiLvlStrCache>
            </c:multiLvlStrRef>
          </c:cat>
          <c:val>
            <c:numRef>
              <c:f>Sheet1!$E$2:$E$6</c:f>
              <c:numCache>
                <c:formatCode>General</c:formatCode>
                <c:ptCount val="5"/>
                <c:pt idx="0">
                  <c:v>71</c:v>
                </c:pt>
                <c:pt idx="1">
                  <c:v>102</c:v>
                </c:pt>
                <c:pt idx="2">
                  <c:v>122</c:v>
                </c:pt>
                <c:pt idx="3">
                  <c:v>21</c:v>
                </c:pt>
                <c:pt idx="4">
                  <c:v>8</c:v>
                </c:pt>
              </c:numCache>
            </c:numRef>
          </c:val>
        </c:ser>
        <c:dLbls>
          <c:numFmt formatCode="#,##0" sourceLinked="0"/>
          <c:txPr>
            <a:bodyPr/>
            <a:lstStyle/>
            <a:p>
              <a:pPr>
                <a:defRPr b="0" i="0" strike="noStrike" sz="900" u="none">
                  <a:solidFill>
                    <a:srgbClr val="1A1F26"/>
                  </a:solidFill>
                  <a:latin typeface="+mn-lt"/>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2"/>
        <c:crosses val="autoZero"/>
        <c:auto val="1"/>
        <c:lblAlgn val="ctr"/>
        <c:noMultiLvlLbl val="1"/>
      </c:catAx>
      <c:valAx>
        <c:axId val="2094734552"/>
        <c:scaling>
          <c:orientation val="minMax"/>
        </c:scaling>
        <c:delete val="1"/>
        <c:axPos val="l"/>
        <c:majorGridlines>
          <c:spPr>
            <a:ln w="6350" cap="flat">
              <a:solidFill>
                <a:srgbClr val="E3E8ED"/>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B7C"/>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B6B7C"/>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case study: we took a real open-source ASP.NET Core vehicle rental backend, found the design patterns already in it, evolved it with four realistic changes, and re-implemented the key patterns in four languages. The chips at the bottom are the 13 pattern instances in the final code: teal ones were in the original code, amber ones we introduced.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members, each owning one Part 2 change and the pattern it introduces. Parts 1 and 3 were team work on the same application.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study in one slide. The headline: the original code is rich in architectural patterns but has no behavioural GoF patterns; our four changes add one each, and nothing that was there is lost.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pinned to commit dfc61ab8 so all line numbers are reproducible. We analysed only the C# backend; the React UI and the legacy Java backend are out of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Classic layered Web API. Requests pass the middleware chain into thin controllers, which delegate to services. Services use repositories over EF Core, queue e-mail on a background channel, and reach the legacy Java backend through an adapter. The bottom row walks a booking creation end to end; this exact flow is what Changes 3 and 4 later modify.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untouched baseline before changing anything. One test fails purely because of the date we ran it on. We kept it unchanged as a known baseline issue rather than editing the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LLM gave us 21 candidates. A class name, annotation or LLM assertion alone was never enough; we only confirmed a pattern when the collaboration was visible in the code. Only the 9 confirmed instances go into patterns.csv and the counts.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row has file paths in part1_patterns.csv. The catalogue is dominated by enterprise and architectural patterns that the framework encourages. Note there is no State, Strategy, Observer or Factory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confirmed instance has a record with roles mapped to actual classes and files. Two examples here. Command was proposed for the queued delegates but rejected: there is no command abstraction, so Producer–Consumer is the defensible label.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of these — Adapter, Proxy and Strangler Fig — all sit on the same legacy-Java boundary but play different roles: the adapter translates, the proxy forwards a whole API, and the strangler fig is the migration strategy around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Rejections are as important as confirmations. Most were framework features that look like patterns. The interesting link: the four behavioural/creational patterns that the code lacked are exactly the extension points our changes needed.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was developed on its own branch from the baseline, then the four were combined in folder order with one patch per step. The bottom strip shows passed over total tests at each step; the final code passes all 297.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state machine on the right is the whole rule set: start only from SCHEDULED with an available car, complete only from IN_PROGRESS, cancel from either, and terminal states reject everything with 409. States are stateless singletons shared by the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Adding a fourth category means one new rules class and one switch arm; CarTypeService does not change. This change was purely additive: git numstat shows zero deleted 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first change that genuinely refactors existing code. The old calculator is kept as the standard policy, so existing RentalRateCalculator tests still prove the original month/week/day packing. Injecting the clock also removes the baseline's only test failure.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New reactions now cost one observer class and one registration line, with no edit to BookingService. Modify and cancel get notifications for free instead of copying the e-mail block twice more.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matrix is pattern_evaluation.csv condensed: 55 rows, one per instance per version. Instance names are kept when the collaboration continues, as the brief requires.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LOC grows 25 percent while tests grow 63 percent. The failure count drops from 1 to 0 at Change3 because of the injected clock, not because any change accidentally fixed or broke behaviour.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careful not to claim the code is better just because it grew. The benefit is in where change happens: each new requirement touched new classes and the DI block, and the existing collaborations survived intact.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port comes from a real instance: Factory Method from Change2, Observer from Change4, Strategy from Change3 (standard, weekend +20% and seasonal +30% policies with the same selector precedence), DI and Repository from the original code. State from Change1 has no Part 3 port. Factory Method, Observer and DI have full test runners and measurements. Strategy and Repository each have one self-checking program per language; all eight were run on 2026-10-11 and measured with the same timing rule, but PASS there means one example ran correctly, not a test suite.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 is longest for Observer and DI: hand-written to_string for enum class, and templates for DI. JavaScript is shortest for DI because constructors take an explicit token list. Timings are process wall-clock, so they mostly measure runtime start-up, not the pattern. Strategy and Repository rows come from one self-checking example each; their Java, JavaScript and C++ files put several statements on one line, so their LOC in the chart is low and not comparable with Python or with the other patterns. Python's dictionary lookup in Factory Method gives the lowest CC.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participant structure is identical in every port; what differs is how much the language enforces it. Java and C++ catch role violations at compile time, Python and JavaScript rely on convention and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used LLMs as assistants, never as the authority. Every claim was re-run or traced to code, and where we could not confirm something we say so in llm.csv instead of upgrading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evidence-backed conclusions. The strongest one is finding 2: the patterns we rejected in Part 1 for lack of evidence were exactly the ones the new requirements called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member's Part 2 change is traceable to its own folder with requirement, diff, pattern effects, refactoring, metrics and test logs.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Pattern definitions follow GoF for State, Factory Method, Strategy, Observer, Adapter and Proxy, and Fowler for the enterprise patterns.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Happy to show any instance record, diff or test log from the repository.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778240" cy="210312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3" name="Text 0"/>
          <p:cNvSpPr/>
          <p:nvPr>
            <p:ph idx="101" type="body" hasCustomPrompt="1"/>
          </p:nvPr>
        </p:nvSpPr>
        <p:spPr>
          <a:xfrm>
            <a:off x="548640" y="3520440"/>
            <a:ext cx="8778240" cy="54864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rtlCol="0"/>
          <a:lstStyle>
            <a:lvl1pPr indent="0" marL="0">
              <a:buNone/>
              <a:defRPr lang="en-US" sz="8800" b="1" dirty="0">
                <a:solidFill>
                  <a:schemeClr val="accent1"/>
                </a:solidFill>
                <a:latin typeface="Cambria" pitchFamily="34" charset="0"/>
                <a:ea typeface="Cambria" pitchFamily="34" charset="-122"/>
                <a:cs typeface="Cambria" pitchFamily="34" charset="-120"/>
              </a:defRPr>
            </a:lvl1pPr>
          </a:lstStyle>
          <a:p>
            <a:pPr indent="0" marL="0">
              <a:buNone/>
            </a:pP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rtlCol="0"/>
          <a:lstStyle>
            <a:lvl1pPr algn="l" indent="0" marL="0">
              <a:buNone/>
              <a:defRPr lang="en-US" sz="4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rtlCol="0"/>
          <a:lstStyle>
            <a:lvl1pPr algn="l" indent="0" marL="0">
              <a:buNone/>
              <a:defRPr lang="en-US" sz="32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indent="0" marL="0">
              <a:buNone/>
            </a:pPr>
            <a:r>
              <a:rPr lang="en-US" sz="1000" dirty="0">
                <a:solidFill>
                  <a:schemeClr val="accent4"/>
                </a:solidFill>
              </a:rPr>
              <a:t>23CSE455 Design Patterns  ·  Team B6  ·  WanderCar / Fleman vehicle rental</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4.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4.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4.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chart" Target="/ppt/charts/chart3.xml"/><Relationship Id="rId4" Type="http://schemas.openxmlformats.org/officeDocument/2006/relationships/slideLayout" Target="../slideLayouts/slideLayout4.xml"/><Relationship Id="rId5"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4.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778240" cy="21031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Design Pattern Identification and Evolution in an ASP.NET Core Vehicle Rental Application</a:t>
            </a:r>
            <a:endParaRPr lang="en-US" sz="4000" dirty="0"/>
          </a:p>
        </p:txBody>
      </p:sp>
      <p:sp>
        <p:nvSpPr>
          <p:cNvPr id="3" name="Text 0"/>
          <p:cNvSpPr/>
          <p:nvPr>
            <p:ph idx="101" type="body" hasCustomPrompt="1"/>
          </p:nvPr>
        </p:nvSpPr>
        <p:spPr>
          <a:xfrm>
            <a:off x="548640" y="3520440"/>
            <a:ext cx="8778240" cy="548640"/>
          </a:xfrm>
          <a:prstGeom prst="rect">
            <a:avLst/>
          </a:prstGeom>
          <a:noFill/>
          <a:ln/>
        </p:spPr>
        <p:txBody>
          <a:bodyPr wrap="square" lIns="0" tIns="0" rIns="0" bIns="0" rtlCol="0" anchor="t"/>
          <a:lstStyle/>
          <a:p>
            <a:pPr indent="0" marL="0">
              <a:buNone/>
            </a:pPr>
            <a:r>
              <a:rPr lang="en-US" sz="2000" dirty="0">
                <a:solidFill>
                  <a:schemeClr val="accent1"/>
                </a:solidFill>
              </a:rPr>
              <a:t>23CSE455 Design Patterns  ·  Case Study  ·  Team B6</a:t>
            </a:r>
            <a:endParaRPr lang="en-US" sz="2000" dirty="0"/>
          </a:p>
        </p:txBody>
      </p:sp>
      <p:sp>
        <p:nvSpPr>
          <p:cNvPr id="4" name="text_1"/>
          <p:cNvSpPr txBox="1"/>
          <p:nvPr/>
        </p:nvSpPr>
        <p:spPr>
          <a:xfrm>
            <a:off x="548640" y="4206240"/>
            <a:ext cx="9144000" cy="365760"/>
          </a:xfrm>
          <a:prstGeom prst="rect">
            <a:avLst/>
          </a:prstGeom>
          <a:noFill/>
          <a:ln/>
        </p:spPr>
        <p:txBody>
          <a:bodyPr wrap="square" lIns="0" tIns="0" rIns="0" bIns="0" rtlCol="0" anchor="t"/>
          <a:lstStyle/>
          <a:p>
            <a:pPr indent="0" marL="0">
              <a:buNone/>
            </a:pPr>
            <a:r>
              <a:rPr lang="en-US" sz="1600" dirty="0">
                <a:solidFill>
                  <a:schemeClr val="bg2"/>
                </a:solidFill>
              </a:rPr>
              <a:t>Samridhi Singh  ·  Bhavana P H  ·  Neema Vinod  ·  Vani Sugovind S R</a:t>
            </a:r>
            <a:endParaRPr lang="en-US" sz="1600" dirty="0"/>
          </a:p>
        </p:txBody>
      </p:sp>
      <p:sp>
        <p:nvSpPr>
          <p:cNvPr id="5" name="text_2"/>
          <p:cNvSpPr txBox="1"/>
          <p:nvPr/>
        </p:nvSpPr>
        <p:spPr>
          <a:xfrm>
            <a:off x="548640" y="4572000"/>
            <a:ext cx="9144000" cy="365760"/>
          </a:xfrm>
          <a:prstGeom prst="rect">
            <a:avLst/>
          </a:prstGeom>
          <a:noFill/>
          <a:ln/>
        </p:spPr>
        <p:txBody>
          <a:bodyPr wrap="square" lIns="0" tIns="0" rIns="0" bIns="0" rtlCol="0" anchor="t"/>
          <a:lstStyle/>
          <a:p>
            <a:pPr indent="0" marL="0">
              <a:buNone/>
            </a:pPr>
            <a:r>
              <a:rPr lang="en-US" sz="1400" dirty="0">
                <a:solidFill>
                  <a:schemeClr val="bg2"/>
                </a:solidFill>
              </a:rPr>
              <a:t>Amrita School of Computing, Amritapuri  ·  October 2026</a:t>
            </a:r>
            <a:endParaRPr lang="en-US" sz="1400" dirty="0"/>
          </a:p>
        </p:txBody>
      </p:sp>
      <p:sp>
        <p:nvSpPr>
          <p:cNvPr id="6" name="chip_3"/>
          <p:cNvSpPr txBox="1"/>
          <p:nvPr/>
        </p:nvSpPr>
        <p:spPr>
          <a:xfrm>
            <a:off x="548640" y="5577840"/>
            <a:ext cx="103327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7" name="chip_4"/>
          <p:cNvSpPr txBox="1"/>
          <p:nvPr/>
        </p:nvSpPr>
        <p:spPr>
          <a:xfrm>
            <a:off x="1691640" y="5577840"/>
            <a:ext cx="181051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Dependency Injection</a:t>
            </a:r>
            <a:endParaRPr lang="en-US" sz="1100" dirty="0"/>
          </a:p>
        </p:txBody>
      </p:sp>
      <p:sp>
        <p:nvSpPr>
          <p:cNvPr id="8" name="chip_5"/>
          <p:cNvSpPr txBox="1"/>
          <p:nvPr/>
        </p:nvSpPr>
        <p:spPr>
          <a:xfrm>
            <a:off x="3611880" y="5577840"/>
            <a:ext cx="126644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Service Layer</a:t>
            </a:r>
            <a:endParaRPr lang="en-US" sz="1100" dirty="0"/>
          </a:p>
        </p:txBody>
      </p:sp>
      <p:sp>
        <p:nvSpPr>
          <p:cNvPr id="9" name="chip_6"/>
          <p:cNvSpPr txBox="1"/>
          <p:nvPr/>
        </p:nvSpPr>
        <p:spPr>
          <a:xfrm>
            <a:off x="4988052" y="5577840"/>
            <a:ext cx="1499616"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Middleware Chain</a:t>
            </a:r>
            <a:endParaRPr lang="en-US" sz="1100" dirty="0"/>
          </a:p>
        </p:txBody>
      </p:sp>
      <p:sp>
        <p:nvSpPr>
          <p:cNvPr id="10" name="chip_7"/>
          <p:cNvSpPr txBox="1"/>
          <p:nvPr/>
        </p:nvSpPr>
        <p:spPr>
          <a:xfrm>
            <a:off x="6597396" y="5577840"/>
            <a:ext cx="157734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Producer–Consumer</a:t>
            </a:r>
            <a:endParaRPr lang="en-US" sz="1100" dirty="0"/>
          </a:p>
        </p:txBody>
      </p:sp>
      <p:sp>
        <p:nvSpPr>
          <p:cNvPr id="11" name="chip_8"/>
          <p:cNvSpPr txBox="1"/>
          <p:nvPr/>
        </p:nvSpPr>
        <p:spPr>
          <a:xfrm>
            <a:off x="8284464" y="5577840"/>
            <a:ext cx="80010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Adapter</a:t>
            </a:r>
            <a:endParaRPr lang="en-US" sz="1100" dirty="0"/>
          </a:p>
        </p:txBody>
      </p:sp>
      <p:sp>
        <p:nvSpPr>
          <p:cNvPr id="12" name="chip_9"/>
          <p:cNvSpPr txBox="1"/>
          <p:nvPr/>
        </p:nvSpPr>
        <p:spPr>
          <a:xfrm>
            <a:off x="9194292" y="5577840"/>
            <a:ext cx="64465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Proxy</a:t>
            </a:r>
            <a:endParaRPr lang="en-US" sz="1100" dirty="0"/>
          </a:p>
        </p:txBody>
      </p:sp>
      <p:sp>
        <p:nvSpPr>
          <p:cNvPr id="13" name="chip_10"/>
          <p:cNvSpPr txBox="1"/>
          <p:nvPr/>
        </p:nvSpPr>
        <p:spPr>
          <a:xfrm>
            <a:off x="9948672" y="5577840"/>
            <a:ext cx="126644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Strangler Fig</a:t>
            </a:r>
            <a:endParaRPr lang="en-US" sz="1100" dirty="0"/>
          </a:p>
        </p:txBody>
      </p:sp>
      <p:sp>
        <p:nvSpPr>
          <p:cNvPr id="14" name="chip_11"/>
          <p:cNvSpPr txBox="1"/>
          <p:nvPr/>
        </p:nvSpPr>
        <p:spPr>
          <a:xfrm>
            <a:off x="548640" y="5980176"/>
            <a:ext cx="48920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DTO</a:t>
            </a:r>
            <a:endParaRPr lang="en-US" sz="1100" dirty="0"/>
          </a:p>
        </p:txBody>
      </p:sp>
      <p:sp>
        <p:nvSpPr>
          <p:cNvPr id="15" name="chip_12"/>
          <p:cNvSpPr txBox="1"/>
          <p:nvPr/>
        </p:nvSpPr>
        <p:spPr>
          <a:xfrm>
            <a:off x="1147572" y="5980176"/>
            <a:ext cx="644652"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State</a:t>
            </a:r>
            <a:endParaRPr lang="en-US" sz="1100" dirty="0"/>
          </a:p>
        </p:txBody>
      </p:sp>
      <p:sp>
        <p:nvSpPr>
          <p:cNvPr id="16" name="chip_13"/>
          <p:cNvSpPr txBox="1"/>
          <p:nvPr/>
        </p:nvSpPr>
        <p:spPr>
          <a:xfrm>
            <a:off x="1901952" y="5980176"/>
            <a:ext cx="1344168"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Factory Method</a:t>
            </a:r>
            <a:endParaRPr lang="en-US" sz="1100" dirty="0"/>
          </a:p>
        </p:txBody>
      </p:sp>
      <p:sp>
        <p:nvSpPr>
          <p:cNvPr id="17" name="chip_14"/>
          <p:cNvSpPr txBox="1"/>
          <p:nvPr/>
        </p:nvSpPr>
        <p:spPr>
          <a:xfrm>
            <a:off x="3355848" y="5980176"/>
            <a:ext cx="877824"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Strategy</a:t>
            </a:r>
            <a:endParaRPr lang="en-US" sz="1100" dirty="0"/>
          </a:p>
        </p:txBody>
      </p:sp>
      <p:sp>
        <p:nvSpPr>
          <p:cNvPr id="18" name="chip_15"/>
          <p:cNvSpPr txBox="1"/>
          <p:nvPr/>
        </p:nvSpPr>
        <p:spPr>
          <a:xfrm>
            <a:off x="4343400" y="5980176"/>
            <a:ext cx="877824"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Observer</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Team B6 and the case study</a:t>
            </a:r>
            <a:endParaRPr lang="en-US" sz="3200" dirty="0"/>
          </a:p>
        </p:txBody>
      </p:sp>
      <p:sp>
        <p:nvSpPr>
          <p:cNvPr id="3" name="card_16"/>
          <p:cNvSpPr/>
          <p:nvPr/>
        </p:nvSpPr>
        <p:spPr>
          <a:xfrm>
            <a:off x="548640" y="1371600"/>
            <a:ext cx="3200400" cy="2194560"/>
          </a:xfrm>
          <a:prstGeom prst="roundRect">
            <a:avLst>
              <a:gd name="adj" fmla="val 3333"/>
            </a:avLst>
          </a:prstGeom>
          <a:solidFill>
            <a:schemeClr val="bg2"/>
          </a:solidFill>
          <a:ln w="12700">
            <a:solidFill>
              <a:schemeClr val="bg2"/>
            </a:solidFill>
            <a:prstDash val="solid"/>
          </a:ln>
        </p:spPr>
      </p:sp>
      <p:sp>
        <p:nvSpPr>
          <p:cNvPr id="4" name="text_17"/>
          <p:cNvSpPr txBox="1"/>
          <p:nvPr/>
        </p:nvSpPr>
        <p:spPr>
          <a:xfrm>
            <a:off x="822960" y="1627632"/>
            <a:ext cx="2651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Samridhi Singh</a:t>
            </a:r>
            <a:endParaRPr lang="en-US" sz="1800" dirty="0"/>
          </a:p>
        </p:txBody>
      </p:sp>
      <p:sp>
        <p:nvSpPr>
          <p:cNvPr id="5" name="text_18"/>
          <p:cNvSpPr txBox="1"/>
          <p:nvPr/>
        </p:nvSpPr>
        <p:spPr>
          <a:xfrm>
            <a:off x="822960" y="2011680"/>
            <a:ext cx="2651760" cy="274320"/>
          </a:xfrm>
          <a:prstGeom prst="rect">
            <a:avLst/>
          </a:prstGeom>
          <a:noFill/>
          <a:ln/>
        </p:spPr>
        <p:txBody>
          <a:bodyPr wrap="square" lIns="0" tIns="0" rIns="0" bIns="0" rtlCol="0" anchor="t"/>
          <a:lstStyle/>
          <a:p>
            <a:pPr indent="0" marL="0">
              <a:buNone/>
            </a:pPr>
            <a:r>
              <a:rPr lang="en-US" sz="1300" dirty="0">
                <a:solidFill>
                  <a:schemeClr val="accent4"/>
                </a:solidFill>
              </a:rPr>
              <a:t>AM.SC.U4CSE23251</a:t>
            </a:r>
            <a:endParaRPr lang="en-US" sz="1300" dirty="0"/>
          </a:p>
        </p:txBody>
      </p:sp>
      <p:sp>
        <p:nvSpPr>
          <p:cNvPr id="6" name="text_19"/>
          <p:cNvSpPr txBox="1"/>
          <p:nvPr/>
        </p:nvSpPr>
        <p:spPr>
          <a:xfrm>
            <a:off x="822960" y="2395728"/>
            <a:ext cx="2651760" cy="502920"/>
          </a:xfrm>
          <a:prstGeom prst="rect">
            <a:avLst/>
          </a:prstGeom>
          <a:noFill/>
          <a:ln/>
        </p:spPr>
        <p:txBody>
          <a:bodyPr wrap="square" lIns="0" tIns="0" rIns="0" bIns="0" rtlCol="0" anchor="t"/>
          <a:lstStyle/>
          <a:p>
            <a:pPr indent="0" marL="0">
              <a:buNone/>
            </a:pPr>
            <a:r>
              <a:rPr lang="en-US" sz="1400" dirty="0">
                <a:solidFill>
                  <a:schemeClr val="tx1"/>
                </a:solidFill>
              </a:rPr>
              <a:t>Change1 · Fleet-maintenance scheduling</a:t>
            </a:r>
            <a:endParaRPr lang="en-US" sz="1400" dirty="0"/>
          </a:p>
        </p:txBody>
      </p:sp>
      <p:sp>
        <p:nvSpPr>
          <p:cNvPr id="7" name="chip_20"/>
          <p:cNvSpPr txBox="1"/>
          <p:nvPr/>
        </p:nvSpPr>
        <p:spPr>
          <a:xfrm>
            <a:off x="822960" y="301752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State</a:t>
            </a:r>
            <a:endParaRPr lang="en-US" sz="1100" dirty="0"/>
          </a:p>
        </p:txBody>
      </p:sp>
      <p:sp>
        <p:nvSpPr>
          <p:cNvPr id="8" name="card_21"/>
          <p:cNvSpPr/>
          <p:nvPr/>
        </p:nvSpPr>
        <p:spPr>
          <a:xfrm>
            <a:off x="3977640" y="1371600"/>
            <a:ext cx="3200400" cy="2194560"/>
          </a:xfrm>
          <a:prstGeom prst="roundRect">
            <a:avLst>
              <a:gd name="adj" fmla="val 3333"/>
            </a:avLst>
          </a:prstGeom>
          <a:solidFill>
            <a:schemeClr val="bg2"/>
          </a:solidFill>
          <a:ln w="12700">
            <a:solidFill>
              <a:schemeClr val="bg2"/>
            </a:solidFill>
            <a:prstDash val="solid"/>
          </a:ln>
        </p:spPr>
      </p:sp>
      <p:sp>
        <p:nvSpPr>
          <p:cNvPr id="9" name="text_22"/>
          <p:cNvSpPr txBox="1"/>
          <p:nvPr/>
        </p:nvSpPr>
        <p:spPr>
          <a:xfrm>
            <a:off x="4251960" y="1627632"/>
            <a:ext cx="2651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Bhavana P H</a:t>
            </a:r>
            <a:endParaRPr lang="en-US" sz="1800" dirty="0"/>
          </a:p>
        </p:txBody>
      </p:sp>
      <p:sp>
        <p:nvSpPr>
          <p:cNvPr id="10" name="text_23"/>
          <p:cNvSpPr txBox="1"/>
          <p:nvPr/>
        </p:nvSpPr>
        <p:spPr>
          <a:xfrm>
            <a:off x="4251960" y="2011680"/>
            <a:ext cx="2651760" cy="274320"/>
          </a:xfrm>
          <a:prstGeom prst="rect">
            <a:avLst/>
          </a:prstGeom>
          <a:noFill/>
          <a:ln/>
        </p:spPr>
        <p:txBody>
          <a:bodyPr wrap="square" lIns="0" tIns="0" rIns="0" bIns="0" rtlCol="0" anchor="t"/>
          <a:lstStyle/>
          <a:p>
            <a:pPr indent="0" marL="0">
              <a:buNone/>
            </a:pPr>
            <a:r>
              <a:rPr lang="en-US" sz="1300" dirty="0">
                <a:solidFill>
                  <a:schemeClr val="accent4"/>
                </a:solidFill>
              </a:rPr>
              <a:t>AM.SC.U4CSE23211</a:t>
            </a:r>
            <a:endParaRPr lang="en-US" sz="1300" dirty="0"/>
          </a:p>
        </p:txBody>
      </p:sp>
      <p:sp>
        <p:nvSpPr>
          <p:cNvPr id="11" name="text_24"/>
          <p:cNvSpPr txBox="1"/>
          <p:nvPr/>
        </p:nvSpPr>
        <p:spPr>
          <a:xfrm>
            <a:off x="4251960" y="2395728"/>
            <a:ext cx="2651760" cy="502920"/>
          </a:xfrm>
          <a:prstGeom prst="rect">
            <a:avLst/>
          </a:prstGeom>
          <a:noFill/>
          <a:ln/>
        </p:spPr>
        <p:txBody>
          <a:bodyPr wrap="square" lIns="0" tIns="0" rIns="0" bIns="0" rtlCol="0" anchor="t"/>
          <a:lstStyle/>
          <a:p>
            <a:pPr indent="0" marL="0">
              <a:buNone/>
            </a:pPr>
            <a:r>
              <a:rPr lang="en-US" sz="1400" dirty="0">
                <a:solidFill>
                  <a:schemeClr val="tx1"/>
                </a:solidFill>
              </a:rPr>
              <a:t>Change2 · New vehicle categories</a:t>
            </a:r>
            <a:endParaRPr lang="en-US" sz="1400" dirty="0"/>
          </a:p>
        </p:txBody>
      </p:sp>
      <p:sp>
        <p:nvSpPr>
          <p:cNvPr id="12" name="chip_25"/>
          <p:cNvSpPr txBox="1"/>
          <p:nvPr/>
        </p:nvSpPr>
        <p:spPr>
          <a:xfrm>
            <a:off x="4251960" y="301752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Factory Method</a:t>
            </a:r>
            <a:endParaRPr lang="en-US" sz="1100" dirty="0"/>
          </a:p>
        </p:txBody>
      </p:sp>
      <p:sp>
        <p:nvSpPr>
          <p:cNvPr id="13" name="card_26"/>
          <p:cNvSpPr/>
          <p:nvPr/>
        </p:nvSpPr>
        <p:spPr>
          <a:xfrm>
            <a:off x="548640" y="3794760"/>
            <a:ext cx="3200400" cy="2194560"/>
          </a:xfrm>
          <a:prstGeom prst="roundRect">
            <a:avLst>
              <a:gd name="adj" fmla="val 3333"/>
            </a:avLst>
          </a:prstGeom>
          <a:solidFill>
            <a:schemeClr val="bg2"/>
          </a:solidFill>
          <a:ln w="12700">
            <a:solidFill>
              <a:schemeClr val="bg2"/>
            </a:solidFill>
            <a:prstDash val="solid"/>
          </a:ln>
        </p:spPr>
      </p:sp>
      <p:sp>
        <p:nvSpPr>
          <p:cNvPr id="14" name="text_27"/>
          <p:cNvSpPr txBox="1"/>
          <p:nvPr/>
        </p:nvSpPr>
        <p:spPr>
          <a:xfrm>
            <a:off x="822960" y="4050792"/>
            <a:ext cx="2651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Neema Vinod</a:t>
            </a:r>
            <a:endParaRPr lang="en-US" sz="1800" dirty="0"/>
          </a:p>
        </p:txBody>
      </p:sp>
      <p:sp>
        <p:nvSpPr>
          <p:cNvPr id="15" name="text_28"/>
          <p:cNvSpPr txBox="1"/>
          <p:nvPr/>
        </p:nvSpPr>
        <p:spPr>
          <a:xfrm>
            <a:off x="822960" y="4434840"/>
            <a:ext cx="2651760" cy="274320"/>
          </a:xfrm>
          <a:prstGeom prst="rect">
            <a:avLst/>
          </a:prstGeom>
          <a:noFill/>
          <a:ln/>
        </p:spPr>
        <p:txBody>
          <a:bodyPr wrap="square" lIns="0" tIns="0" rIns="0" bIns="0" rtlCol="0" anchor="t"/>
          <a:lstStyle/>
          <a:p>
            <a:pPr indent="0" marL="0">
              <a:buNone/>
            </a:pPr>
            <a:r>
              <a:rPr lang="en-US" sz="1300" dirty="0">
                <a:solidFill>
                  <a:schemeClr val="accent4"/>
                </a:solidFill>
              </a:rPr>
              <a:t>AM.SC.U4CSE23238</a:t>
            </a:r>
            <a:endParaRPr lang="en-US" sz="1300" dirty="0"/>
          </a:p>
        </p:txBody>
      </p:sp>
      <p:sp>
        <p:nvSpPr>
          <p:cNvPr id="16" name="text_29"/>
          <p:cNvSpPr txBox="1"/>
          <p:nvPr/>
        </p:nvSpPr>
        <p:spPr>
          <a:xfrm>
            <a:off x="822960" y="4818888"/>
            <a:ext cx="2651760" cy="502920"/>
          </a:xfrm>
          <a:prstGeom prst="rect">
            <a:avLst/>
          </a:prstGeom>
          <a:noFill/>
          <a:ln/>
        </p:spPr>
        <p:txBody>
          <a:bodyPr wrap="square" lIns="0" tIns="0" rIns="0" bIns="0" rtlCol="0" anchor="t"/>
          <a:lstStyle/>
          <a:p>
            <a:pPr indent="0" marL="0">
              <a:buNone/>
            </a:pPr>
            <a:r>
              <a:rPr lang="en-US" sz="1400" dirty="0">
                <a:solidFill>
                  <a:schemeClr val="tx1"/>
                </a:solidFill>
              </a:rPr>
              <a:t>Change3 · Interchangeable pricing</a:t>
            </a:r>
            <a:endParaRPr lang="en-US" sz="1400" dirty="0"/>
          </a:p>
        </p:txBody>
      </p:sp>
      <p:sp>
        <p:nvSpPr>
          <p:cNvPr id="17" name="chip_30"/>
          <p:cNvSpPr txBox="1"/>
          <p:nvPr/>
        </p:nvSpPr>
        <p:spPr>
          <a:xfrm>
            <a:off x="822960" y="544068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Strategy</a:t>
            </a:r>
            <a:endParaRPr lang="en-US" sz="1100" dirty="0"/>
          </a:p>
        </p:txBody>
      </p:sp>
      <p:sp>
        <p:nvSpPr>
          <p:cNvPr id="18" name="card_31"/>
          <p:cNvSpPr/>
          <p:nvPr/>
        </p:nvSpPr>
        <p:spPr>
          <a:xfrm>
            <a:off x="3977640" y="3794760"/>
            <a:ext cx="3200400" cy="2194560"/>
          </a:xfrm>
          <a:prstGeom prst="roundRect">
            <a:avLst>
              <a:gd name="adj" fmla="val 3333"/>
            </a:avLst>
          </a:prstGeom>
          <a:solidFill>
            <a:schemeClr val="bg2"/>
          </a:solidFill>
          <a:ln w="12700">
            <a:solidFill>
              <a:schemeClr val="bg2"/>
            </a:solidFill>
            <a:prstDash val="solid"/>
          </a:ln>
        </p:spPr>
      </p:sp>
      <p:sp>
        <p:nvSpPr>
          <p:cNvPr id="19" name="text_32"/>
          <p:cNvSpPr txBox="1"/>
          <p:nvPr/>
        </p:nvSpPr>
        <p:spPr>
          <a:xfrm>
            <a:off x="4251960" y="4050792"/>
            <a:ext cx="2651760" cy="365760"/>
          </a:xfrm>
          <a:prstGeom prst="rect">
            <a:avLst/>
          </a:prstGeom>
          <a:noFill/>
          <a:ln/>
        </p:spPr>
        <p:txBody>
          <a:bodyPr wrap="square" lIns="0" tIns="0" rIns="0" bIns="0" rtlCol="0" anchor="t"/>
          <a:lstStyle/>
          <a:p>
            <a:pPr indent="0" marL="0">
              <a:buNone/>
            </a:pPr>
            <a:r>
              <a:rPr lang="en-US" sz="1800" b="1" dirty="0">
                <a:solidFill>
                  <a:schemeClr val="tx2"/>
                </a:solidFill>
                <a:latin typeface="Cambria" pitchFamily="34" charset="0"/>
                <a:ea typeface="Cambria" pitchFamily="34" charset="-122"/>
                <a:cs typeface="Cambria" pitchFamily="34" charset="-120"/>
              </a:rPr>
              <a:t>Vani Sugovind S R</a:t>
            </a:r>
            <a:endParaRPr lang="en-US" sz="1800" dirty="0"/>
          </a:p>
        </p:txBody>
      </p:sp>
      <p:sp>
        <p:nvSpPr>
          <p:cNvPr id="20" name="text_33"/>
          <p:cNvSpPr txBox="1"/>
          <p:nvPr/>
        </p:nvSpPr>
        <p:spPr>
          <a:xfrm>
            <a:off x="4251960" y="4434840"/>
            <a:ext cx="2651760" cy="274320"/>
          </a:xfrm>
          <a:prstGeom prst="rect">
            <a:avLst/>
          </a:prstGeom>
          <a:noFill/>
          <a:ln/>
        </p:spPr>
        <p:txBody>
          <a:bodyPr wrap="square" lIns="0" tIns="0" rIns="0" bIns="0" rtlCol="0" anchor="t"/>
          <a:lstStyle/>
          <a:p>
            <a:pPr indent="0" marL="0">
              <a:buNone/>
            </a:pPr>
            <a:r>
              <a:rPr lang="en-US" sz="1300" dirty="0">
                <a:solidFill>
                  <a:schemeClr val="accent4"/>
                </a:solidFill>
              </a:rPr>
              <a:t>AM.SC.U4CSE23266</a:t>
            </a:r>
            <a:endParaRPr lang="en-US" sz="1300" dirty="0"/>
          </a:p>
        </p:txBody>
      </p:sp>
      <p:sp>
        <p:nvSpPr>
          <p:cNvPr id="21" name="text_34"/>
          <p:cNvSpPr txBox="1"/>
          <p:nvPr/>
        </p:nvSpPr>
        <p:spPr>
          <a:xfrm>
            <a:off x="4251960" y="4818888"/>
            <a:ext cx="2651760" cy="502920"/>
          </a:xfrm>
          <a:prstGeom prst="rect">
            <a:avLst/>
          </a:prstGeom>
          <a:noFill/>
          <a:ln/>
        </p:spPr>
        <p:txBody>
          <a:bodyPr wrap="square" lIns="0" tIns="0" rIns="0" bIns="0" rtlCol="0" anchor="t"/>
          <a:lstStyle/>
          <a:p>
            <a:pPr indent="0" marL="0">
              <a:buNone/>
            </a:pPr>
            <a:r>
              <a:rPr lang="en-US" sz="1400" dirty="0">
                <a:solidFill>
                  <a:schemeClr val="tx1"/>
                </a:solidFill>
              </a:rPr>
              <a:t>Change4 · Booking notifications</a:t>
            </a:r>
            <a:endParaRPr lang="en-US" sz="1400" dirty="0"/>
          </a:p>
        </p:txBody>
      </p:sp>
      <p:sp>
        <p:nvSpPr>
          <p:cNvPr id="22" name="chip_35"/>
          <p:cNvSpPr txBox="1"/>
          <p:nvPr/>
        </p:nvSpPr>
        <p:spPr>
          <a:xfrm>
            <a:off x="4251960" y="544068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Observer</a:t>
            </a:r>
            <a:endParaRPr lang="en-US" sz="1100" dirty="0"/>
          </a:p>
        </p:txBody>
      </p:sp>
      <p:sp>
        <p:nvSpPr>
          <p:cNvPr id="23" name="card_36"/>
          <p:cNvSpPr/>
          <p:nvPr/>
        </p:nvSpPr>
        <p:spPr>
          <a:xfrm>
            <a:off x="7543800" y="1371600"/>
            <a:ext cx="4096512" cy="4617720"/>
          </a:xfrm>
          <a:prstGeom prst="roundRect">
            <a:avLst>
              <a:gd name="adj" fmla="val 1786"/>
            </a:avLst>
          </a:prstGeom>
          <a:solidFill>
            <a:schemeClr val="tx2"/>
          </a:solidFill>
          <a:ln w="12700">
            <a:solidFill>
              <a:schemeClr val="tx2"/>
            </a:solidFill>
            <a:prstDash val="solid"/>
          </a:ln>
        </p:spPr>
      </p:sp>
      <p:sp>
        <p:nvSpPr>
          <p:cNvPr id="24" name="text_37"/>
          <p:cNvSpPr txBox="1"/>
          <p:nvPr/>
        </p:nvSpPr>
        <p:spPr>
          <a:xfrm>
            <a:off x="7863840" y="1645920"/>
            <a:ext cx="3474720" cy="365760"/>
          </a:xfrm>
          <a:prstGeom prst="rect">
            <a:avLst/>
          </a:prstGeom>
          <a:noFill/>
          <a:ln/>
        </p:spPr>
        <p:txBody>
          <a:bodyPr wrap="square" lIns="0" tIns="0" rIns="0" bIns="0" rtlCol="0" anchor="t"/>
          <a:lstStyle/>
          <a:p>
            <a:pPr indent="0" marL="0">
              <a:buNone/>
            </a:pPr>
            <a:r>
              <a:rPr lang="en-US" sz="1800" b="1" dirty="0">
                <a:solidFill>
                  <a:schemeClr val="accent1"/>
                </a:solidFill>
                <a:latin typeface="Cambria" pitchFamily="34" charset="0"/>
                <a:ea typeface="Cambria" pitchFamily="34" charset="-122"/>
                <a:cs typeface="Cambria" pitchFamily="34" charset="-120"/>
              </a:rPr>
              <a:t>Assigned case study</a:t>
            </a:r>
            <a:endParaRPr lang="en-US" sz="1800" dirty="0"/>
          </a:p>
        </p:txBody>
      </p:sp>
      <p:sp>
        <p:nvSpPr>
          <p:cNvPr id="25" name="text_38"/>
          <p:cNvSpPr txBox="1"/>
          <p:nvPr/>
        </p:nvSpPr>
        <p:spPr>
          <a:xfrm>
            <a:off x="7863840" y="2194560"/>
            <a:ext cx="3474720" cy="228600"/>
          </a:xfrm>
          <a:prstGeom prst="rect">
            <a:avLst/>
          </a:prstGeom>
          <a:noFill/>
          <a:ln/>
        </p:spPr>
        <p:txBody>
          <a:bodyPr wrap="square" lIns="0" tIns="0" rIns="0" bIns="0" rtlCol="0" anchor="t"/>
          <a:lstStyle/>
          <a:p>
            <a:pPr indent="0" marL="0">
              <a:buNone/>
            </a:pPr>
            <a:r>
              <a:rPr lang="en-US" sz="1000" b="1" spc="100" kern="0" dirty="0">
                <a:solidFill>
                  <a:schemeClr val="bg2"/>
                </a:solidFill>
              </a:rPr>
              <a:t>DOMAIN</a:t>
            </a:r>
            <a:endParaRPr lang="en-US" sz="1000" dirty="0"/>
          </a:p>
        </p:txBody>
      </p:sp>
      <p:sp>
        <p:nvSpPr>
          <p:cNvPr id="26" name="text_39"/>
          <p:cNvSpPr txBox="1"/>
          <p:nvPr/>
        </p:nvSpPr>
        <p:spPr>
          <a:xfrm>
            <a:off x="7863840" y="2423160"/>
            <a:ext cx="3520440" cy="457200"/>
          </a:xfrm>
          <a:prstGeom prst="rect">
            <a:avLst/>
          </a:prstGeom>
          <a:noFill/>
          <a:ln/>
        </p:spPr>
        <p:txBody>
          <a:bodyPr wrap="square" lIns="0" tIns="0" rIns="0" bIns="0" rtlCol="0" anchor="t"/>
          <a:lstStyle/>
          <a:p>
            <a:pPr indent="0" marL="0">
              <a:buNone/>
            </a:pPr>
            <a:r>
              <a:rPr lang="en-US" sz="1400" dirty="0">
                <a:solidFill>
                  <a:schemeClr val="bg1"/>
                </a:solidFill>
              </a:rPr>
              <a:t>Vehicle rental and fleet management</a:t>
            </a:r>
            <a:endParaRPr lang="en-US" sz="1400" dirty="0"/>
          </a:p>
        </p:txBody>
      </p:sp>
      <p:sp>
        <p:nvSpPr>
          <p:cNvPr id="27" name="text_40"/>
          <p:cNvSpPr txBox="1"/>
          <p:nvPr/>
        </p:nvSpPr>
        <p:spPr>
          <a:xfrm>
            <a:off x="7863840" y="2926080"/>
            <a:ext cx="3474720" cy="228600"/>
          </a:xfrm>
          <a:prstGeom prst="rect">
            <a:avLst/>
          </a:prstGeom>
          <a:noFill/>
          <a:ln/>
        </p:spPr>
        <p:txBody>
          <a:bodyPr wrap="square" lIns="0" tIns="0" rIns="0" bIns="0" rtlCol="0" anchor="t"/>
          <a:lstStyle/>
          <a:p>
            <a:pPr indent="0" marL="0">
              <a:buNone/>
            </a:pPr>
            <a:r>
              <a:rPr lang="en-US" sz="1000" b="1" spc="100" kern="0" dirty="0">
                <a:solidFill>
                  <a:schemeClr val="bg2"/>
                </a:solidFill>
              </a:rPr>
              <a:t>FRAMEWORK</a:t>
            </a:r>
            <a:endParaRPr lang="en-US" sz="1000" dirty="0"/>
          </a:p>
        </p:txBody>
      </p:sp>
      <p:sp>
        <p:nvSpPr>
          <p:cNvPr id="28" name="text_41"/>
          <p:cNvSpPr txBox="1"/>
          <p:nvPr/>
        </p:nvSpPr>
        <p:spPr>
          <a:xfrm>
            <a:off x="7863840" y="3154680"/>
            <a:ext cx="3520440" cy="457200"/>
          </a:xfrm>
          <a:prstGeom prst="rect">
            <a:avLst/>
          </a:prstGeom>
          <a:noFill/>
          <a:ln/>
        </p:spPr>
        <p:txBody>
          <a:bodyPr wrap="square" lIns="0" tIns="0" rIns="0" bIns="0" rtlCol="0" anchor="t"/>
          <a:lstStyle/>
          <a:p>
            <a:pPr indent="0" marL="0">
              <a:buNone/>
            </a:pPr>
            <a:r>
              <a:rPr lang="en-US" sz="1400" dirty="0">
                <a:solidFill>
                  <a:schemeClr val="bg1"/>
                </a:solidFill>
              </a:rPr>
              <a:t>ASP.NET Core 8 Web API, EF Core 8, MySQL</a:t>
            </a:r>
            <a:endParaRPr lang="en-US" sz="1400" dirty="0"/>
          </a:p>
        </p:txBody>
      </p:sp>
      <p:sp>
        <p:nvSpPr>
          <p:cNvPr id="29" name="text_42"/>
          <p:cNvSpPr txBox="1"/>
          <p:nvPr/>
        </p:nvSpPr>
        <p:spPr>
          <a:xfrm>
            <a:off x="7863840" y="3657600"/>
            <a:ext cx="3474720" cy="228600"/>
          </a:xfrm>
          <a:prstGeom prst="rect">
            <a:avLst/>
          </a:prstGeom>
          <a:noFill/>
          <a:ln/>
        </p:spPr>
        <p:txBody>
          <a:bodyPr wrap="square" lIns="0" tIns="0" rIns="0" bIns="0" rtlCol="0" anchor="t"/>
          <a:lstStyle/>
          <a:p>
            <a:pPr indent="0" marL="0">
              <a:buNone/>
            </a:pPr>
            <a:r>
              <a:rPr lang="en-US" sz="1000" b="1" spc="100" kern="0" dirty="0">
                <a:solidFill>
                  <a:schemeClr val="bg2"/>
                </a:solidFill>
              </a:rPr>
              <a:t>APPLICATION</a:t>
            </a:r>
            <a:endParaRPr lang="en-US" sz="1000" dirty="0"/>
          </a:p>
        </p:txBody>
      </p:sp>
      <p:sp>
        <p:nvSpPr>
          <p:cNvPr id="30" name="text_43"/>
          <p:cNvSpPr txBox="1"/>
          <p:nvPr/>
        </p:nvSpPr>
        <p:spPr>
          <a:xfrm>
            <a:off x="7863840" y="3886200"/>
            <a:ext cx="3520440" cy="457200"/>
          </a:xfrm>
          <a:prstGeom prst="rect">
            <a:avLst/>
          </a:prstGeom>
          <a:noFill/>
          <a:ln/>
        </p:spPr>
        <p:txBody>
          <a:bodyPr wrap="square" lIns="0" tIns="0" rIns="0" bIns="0" rtlCol="0" anchor="t"/>
          <a:lstStyle/>
          <a:p>
            <a:pPr indent="0" marL="0">
              <a:buNone/>
            </a:pPr>
            <a:r>
              <a:rPr lang="en-US" sz="1400" dirty="0">
                <a:solidFill>
                  <a:schemeClr val="bg1"/>
                </a:solidFill>
              </a:rPr>
              <a:t>WanderCar / Fleman — open-source FleetManagment repository on GitHub</a:t>
            </a:r>
            <a:endParaRPr lang="en-US" sz="1400" dirty="0"/>
          </a:p>
        </p:txBody>
      </p:sp>
      <p:sp>
        <p:nvSpPr>
          <p:cNvPr id="31" name="text_44"/>
          <p:cNvSpPr txBox="1"/>
          <p:nvPr/>
        </p:nvSpPr>
        <p:spPr>
          <a:xfrm>
            <a:off x="7863840" y="4389120"/>
            <a:ext cx="3474720" cy="228600"/>
          </a:xfrm>
          <a:prstGeom prst="rect">
            <a:avLst/>
          </a:prstGeom>
          <a:noFill/>
          <a:ln/>
        </p:spPr>
        <p:txBody>
          <a:bodyPr wrap="square" lIns="0" tIns="0" rIns="0" bIns="0" rtlCol="0" anchor="t"/>
          <a:lstStyle/>
          <a:p>
            <a:pPr indent="0" marL="0">
              <a:buNone/>
            </a:pPr>
            <a:r>
              <a:rPr lang="en-US" sz="1000" b="1" spc="100" kern="0" dirty="0">
                <a:solidFill>
                  <a:schemeClr val="bg2"/>
                </a:solidFill>
              </a:rPr>
              <a:t>OUR SCOPE</a:t>
            </a:r>
            <a:endParaRPr lang="en-US" sz="1000" dirty="0"/>
          </a:p>
        </p:txBody>
      </p:sp>
      <p:sp>
        <p:nvSpPr>
          <p:cNvPr id="32" name="text_45"/>
          <p:cNvSpPr txBox="1"/>
          <p:nvPr/>
        </p:nvSpPr>
        <p:spPr>
          <a:xfrm>
            <a:off x="7863840" y="4617720"/>
            <a:ext cx="3520440" cy="457200"/>
          </a:xfrm>
          <a:prstGeom prst="rect">
            <a:avLst/>
          </a:prstGeom>
          <a:noFill/>
          <a:ln/>
        </p:spPr>
        <p:txBody>
          <a:bodyPr wrap="square" lIns="0" tIns="0" rIns="0" bIns="0" rtlCol="0" anchor="t"/>
          <a:lstStyle/>
          <a:p>
            <a:pPr indent="0" marL="0">
              <a:buNone/>
            </a:pPr>
            <a:r>
              <a:rPr lang="en-US" sz="1400" dirty="0">
                <a:solidFill>
                  <a:schemeClr val="bg1"/>
                </a:solidFill>
              </a:rPr>
              <a:t>The .NET backend (FlemanApi) and its NUnit test project</a:t>
            </a:r>
            <a:endParaRPr lang="en-US" sz="1400" dirty="0"/>
          </a:p>
        </p:txBody>
      </p:sp>
      <p:sp>
        <p:nvSpPr>
          <p:cNvPr id="33" name="text_46"/>
          <p:cNvSpPr txBox="1"/>
          <p:nvPr/>
        </p:nvSpPr>
        <p:spPr>
          <a:xfrm>
            <a:off x="7863840" y="5120640"/>
            <a:ext cx="3474720" cy="228600"/>
          </a:xfrm>
          <a:prstGeom prst="rect">
            <a:avLst/>
          </a:prstGeom>
          <a:noFill/>
          <a:ln/>
        </p:spPr>
        <p:txBody>
          <a:bodyPr wrap="square" lIns="0" tIns="0" rIns="0" bIns="0" rtlCol="0" anchor="t"/>
          <a:lstStyle/>
          <a:p>
            <a:pPr indent="0" marL="0">
              <a:buNone/>
            </a:pPr>
            <a:r>
              <a:rPr lang="en-US" sz="1000" b="1" spc="100" kern="0" dirty="0">
                <a:solidFill>
                  <a:schemeClr val="bg2"/>
                </a:solidFill>
              </a:rPr>
              <a:t>SUBMISSION</a:t>
            </a:r>
            <a:endParaRPr lang="en-US" sz="1000" dirty="0"/>
          </a:p>
        </p:txBody>
      </p:sp>
      <p:sp>
        <p:nvSpPr>
          <p:cNvPr id="34" name="text_47"/>
          <p:cNvSpPr txBox="1"/>
          <p:nvPr/>
        </p:nvSpPr>
        <p:spPr>
          <a:xfrm>
            <a:off x="7863840" y="5349240"/>
            <a:ext cx="3520440" cy="457200"/>
          </a:xfrm>
          <a:prstGeom prst="rect">
            <a:avLst/>
          </a:prstGeom>
          <a:noFill/>
          <a:ln/>
        </p:spPr>
        <p:txBody>
          <a:bodyPr wrap="square" lIns="0" tIns="0" rIns="0" bIns="0" rtlCol="0" anchor="t"/>
          <a:lstStyle/>
          <a:p>
            <a:pPr indent="0" marL="0">
              <a:buNone/>
            </a:pPr>
            <a:r>
              <a:rPr lang="en-US" sz="1400" dirty="0">
                <a:solidFill>
                  <a:schemeClr val="bg1"/>
                </a:solidFill>
              </a:rPr>
              <a:t>23CSE455_DP_CaseStudy / B6</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case study at a glance</a:t>
            </a:r>
            <a:endParaRPr lang="en-US" sz="3200" dirty="0"/>
          </a:p>
        </p:txBody>
      </p:sp>
      <p:sp>
        <p:nvSpPr>
          <p:cNvPr id="3" name="card_48"/>
          <p:cNvSpPr/>
          <p:nvPr/>
        </p:nvSpPr>
        <p:spPr>
          <a:xfrm>
            <a:off x="548640" y="1371600"/>
            <a:ext cx="2606040" cy="1828800"/>
          </a:xfrm>
          <a:prstGeom prst="roundRect">
            <a:avLst>
              <a:gd name="adj" fmla="val 4000"/>
            </a:avLst>
          </a:prstGeom>
          <a:solidFill>
            <a:schemeClr val="bg2"/>
          </a:solidFill>
          <a:ln w="12700">
            <a:solidFill>
              <a:schemeClr val="bg2"/>
            </a:solidFill>
            <a:prstDash val="solid"/>
          </a:ln>
        </p:spPr>
      </p:sp>
      <p:sp>
        <p:nvSpPr>
          <p:cNvPr id="4" name="text_49"/>
          <p:cNvSpPr txBox="1"/>
          <p:nvPr/>
        </p:nvSpPr>
        <p:spPr>
          <a:xfrm>
            <a:off x="777240" y="1554480"/>
            <a:ext cx="2148840" cy="950976"/>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9 → 13</a:t>
            </a:r>
            <a:endParaRPr lang="en-US" sz="3400" dirty="0"/>
          </a:p>
        </p:txBody>
      </p:sp>
      <p:sp>
        <p:nvSpPr>
          <p:cNvPr id="5" name="text_50"/>
          <p:cNvSpPr txBox="1"/>
          <p:nvPr/>
        </p:nvSpPr>
        <p:spPr>
          <a:xfrm>
            <a:off x="777240" y="2551176"/>
            <a:ext cx="2148840" cy="557784"/>
          </a:xfrm>
          <a:prstGeom prst="rect">
            <a:avLst/>
          </a:prstGeom>
          <a:noFill/>
          <a:ln/>
        </p:spPr>
        <p:txBody>
          <a:bodyPr wrap="square" lIns="0" tIns="0" rIns="0" bIns="0" rtlCol="0" anchor="t"/>
          <a:lstStyle/>
          <a:p>
            <a:pPr indent="0" marL="0">
              <a:buNone/>
            </a:pPr>
            <a:r>
              <a:rPr lang="en-US" sz="1300" dirty="0">
                <a:solidFill>
                  <a:schemeClr val="accent4"/>
                </a:solidFill>
              </a:rPr>
              <a:t>pattern instances, original code to final code</a:t>
            </a:r>
            <a:endParaRPr lang="en-US" sz="1300" dirty="0"/>
          </a:p>
        </p:txBody>
      </p:sp>
      <p:sp>
        <p:nvSpPr>
          <p:cNvPr id="6" name="card_51"/>
          <p:cNvSpPr/>
          <p:nvPr/>
        </p:nvSpPr>
        <p:spPr>
          <a:xfrm>
            <a:off x="3392424" y="1371600"/>
            <a:ext cx="2606040" cy="1828800"/>
          </a:xfrm>
          <a:prstGeom prst="roundRect">
            <a:avLst>
              <a:gd name="adj" fmla="val 4000"/>
            </a:avLst>
          </a:prstGeom>
          <a:solidFill>
            <a:schemeClr val="bg2"/>
          </a:solidFill>
          <a:ln w="12700">
            <a:solidFill>
              <a:schemeClr val="bg2"/>
            </a:solidFill>
            <a:prstDash val="solid"/>
          </a:ln>
        </p:spPr>
      </p:sp>
      <p:sp>
        <p:nvSpPr>
          <p:cNvPr id="7" name="text_52"/>
          <p:cNvSpPr txBox="1"/>
          <p:nvPr/>
        </p:nvSpPr>
        <p:spPr>
          <a:xfrm>
            <a:off x="3621024" y="1554480"/>
            <a:ext cx="2148840" cy="950976"/>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4</a:t>
            </a:r>
            <a:endParaRPr lang="en-US" sz="3400" dirty="0"/>
          </a:p>
        </p:txBody>
      </p:sp>
      <p:sp>
        <p:nvSpPr>
          <p:cNvPr id="8" name="text_53"/>
          <p:cNvSpPr txBox="1"/>
          <p:nvPr/>
        </p:nvSpPr>
        <p:spPr>
          <a:xfrm>
            <a:off x="3621024" y="2551176"/>
            <a:ext cx="2148840" cy="557784"/>
          </a:xfrm>
          <a:prstGeom prst="rect">
            <a:avLst/>
          </a:prstGeom>
          <a:noFill/>
          <a:ln/>
        </p:spPr>
        <p:txBody>
          <a:bodyPr wrap="square" lIns="0" tIns="0" rIns="0" bIns="0" rtlCol="0" anchor="t"/>
          <a:lstStyle/>
          <a:p>
            <a:pPr indent="0" marL="0">
              <a:buNone/>
            </a:pPr>
            <a:r>
              <a:rPr lang="en-US" sz="1300" dirty="0">
                <a:solidFill>
                  <a:schemeClr val="accent4"/>
                </a:solidFill>
              </a:rPr>
              <a:t>realistic changes, each adding one GoF pattern</a:t>
            </a:r>
            <a:endParaRPr lang="en-US" sz="1300" dirty="0"/>
          </a:p>
        </p:txBody>
      </p:sp>
      <p:sp>
        <p:nvSpPr>
          <p:cNvPr id="9" name="card_54"/>
          <p:cNvSpPr/>
          <p:nvPr/>
        </p:nvSpPr>
        <p:spPr>
          <a:xfrm>
            <a:off x="6236208" y="1371600"/>
            <a:ext cx="2606040" cy="1828800"/>
          </a:xfrm>
          <a:prstGeom prst="roundRect">
            <a:avLst>
              <a:gd name="adj" fmla="val 4000"/>
            </a:avLst>
          </a:prstGeom>
          <a:solidFill>
            <a:schemeClr val="bg2"/>
          </a:solidFill>
          <a:ln w="12700">
            <a:solidFill>
              <a:schemeClr val="bg2"/>
            </a:solidFill>
            <a:prstDash val="solid"/>
          </a:ln>
        </p:spPr>
      </p:sp>
      <p:sp>
        <p:nvSpPr>
          <p:cNvPr id="10" name="text_55"/>
          <p:cNvSpPr txBox="1"/>
          <p:nvPr/>
        </p:nvSpPr>
        <p:spPr>
          <a:xfrm>
            <a:off x="6464808" y="1554480"/>
            <a:ext cx="2148840" cy="950976"/>
          </a:xfrm>
          <a:prstGeom prst="rect">
            <a:avLst/>
          </a:prstGeom>
          <a:noFill/>
          <a:ln/>
        </p:spPr>
        <p:txBody>
          <a:bodyPr wrap="square" lIns="0" tIns="0" rIns="0" bIns="0" rtlCol="0" anchor="b"/>
          <a:lstStyle/>
          <a:p>
            <a:pPr indent="0" marL="0">
              <a:buNone/>
            </a:pPr>
            <a:r>
              <a:rPr lang="en-US" sz="3400" b="1" dirty="0">
                <a:solidFill>
                  <a:schemeClr val="tx2"/>
                </a:solidFill>
                <a:latin typeface="Cambria" pitchFamily="34" charset="0"/>
                <a:ea typeface="Cambria" pitchFamily="34" charset="-122"/>
                <a:cs typeface="Cambria" pitchFamily="34" charset="-120"/>
              </a:rPr>
              <a:t>183 → 297</a:t>
            </a:r>
            <a:endParaRPr lang="en-US" sz="3400" dirty="0"/>
          </a:p>
        </p:txBody>
      </p:sp>
      <p:sp>
        <p:nvSpPr>
          <p:cNvPr id="11" name="text_56"/>
          <p:cNvSpPr txBox="1"/>
          <p:nvPr/>
        </p:nvSpPr>
        <p:spPr>
          <a:xfrm>
            <a:off x="6464808" y="2551176"/>
            <a:ext cx="2148840" cy="557784"/>
          </a:xfrm>
          <a:prstGeom prst="rect">
            <a:avLst/>
          </a:prstGeom>
          <a:noFill/>
          <a:ln/>
        </p:spPr>
        <p:txBody>
          <a:bodyPr wrap="square" lIns="0" tIns="0" rIns="0" bIns="0" rtlCol="0" anchor="t"/>
          <a:lstStyle/>
          <a:p>
            <a:pPr indent="0" marL="0">
              <a:buNone/>
            </a:pPr>
            <a:r>
              <a:rPr lang="en-US" sz="1300" dirty="0">
                <a:solidFill>
                  <a:schemeClr val="accent4"/>
                </a:solidFill>
              </a:rPr>
              <a:t>tests; the final code passes all 297</a:t>
            </a:r>
            <a:endParaRPr lang="en-US" sz="1300" dirty="0"/>
          </a:p>
        </p:txBody>
      </p:sp>
      <p:sp>
        <p:nvSpPr>
          <p:cNvPr id="12" name="card_57"/>
          <p:cNvSpPr/>
          <p:nvPr/>
        </p:nvSpPr>
        <p:spPr>
          <a:xfrm>
            <a:off x="9079992" y="1371600"/>
            <a:ext cx="2606040" cy="1828800"/>
          </a:xfrm>
          <a:prstGeom prst="roundRect">
            <a:avLst>
              <a:gd name="adj" fmla="val 4000"/>
            </a:avLst>
          </a:prstGeom>
          <a:solidFill>
            <a:schemeClr val="bg2"/>
          </a:solidFill>
          <a:ln w="12700">
            <a:solidFill>
              <a:schemeClr val="bg2"/>
            </a:solidFill>
            <a:prstDash val="solid"/>
          </a:ln>
        </p:spPr>
      </p:sp>
      <p:sp>
        <p:nvSpPr>
          <p:cNvPr id="13" name="text_58"/>
          <p:cNvSpPr txBox="1"/>
          <p:nvPr/>
        </p:nvSpPr>
        <p:spPr>
          <a:xfrm>
            <a:off x="9308592" y="1554480"/>
            <a:ext cx="2148840" cy="950976"/>
          </a:xfrm>
          <a:prstGeom prst="rect">
            <a:avLst/>
          </a:prstGeom>
          <a:noFill/>
          <a:ln/>
        </p:spPr>
        <p:txBody>
          <a:bodyPr wrap="square" lIns="0" tIns="0" rIns="0" bIns="0" rtlCol="0" anchor="b"/>
          <a:lstStyle/>
          <a:p>
            <a:pPr indent="0" marL="0">
              <a:buNone/>
            </a:pPr>
            <a:r>
              <a:rPr lang="en-US" sz="3400" b="1" dirty="0">
                <a:solidFill>
                  <a:schemeClr val="accent2"/>
                </a:solidFill>
                <a:latin typeface="Cambria" pitchFamily="34" charset="0"/>
                <a:ea typeface="Cambria" pitchFamily="34" charset="-122"/>
                <a:cs typeface="Cambria" pitchFamily="34" charset="-120"/>
              </a:rPr>
              <a:t>4 × 5</a:t>
            </a:r>
            <a:endParaRPr lang="en-US" sz="3400" dirty="0"/>
          </a:p>
        </p:txBody>
      </p:sp>
      <p:sp>
        <p:nvSpPr>
          <p:cNvPr id="14" name="text_59"/>
          <p:cNvSpPr txBox="1"/>
          <p:nvPr/>
        </p:nvSpPr>
        <p:spPr>
          <a:xfrm>
            <a:off x="9308592" y="2551176"/>
            <a:ext cx="2148840" cy="557784"/>
          </a:xfrm>
          <a:prstGeom prst="rect">
            <a:avLst/>
          </a:prstGeom>
          <a:noFill/>
          <a:ln/>
        </p:spPr>
        <p:txBody>
          <a:bodyPr wrap="square" lIns="0" tIns="0" rIns="0" bIns="0" rtlCol="0" anchor="t"/>
          <a:lstStyle/>
          <a:p>
            <a:pPr indent="0" marL="0">
              <a:buNone/>
            </a:pPr>
            <a:r>
              <a:rPr lang="en-US" sz="1300" dirty="0">
                <a:solidFill>
                  <a:schemeClr val="accent4"/>
                </a:solidFill>
              </a:rPr>
              <a:t>languages × patterns re-implemented in Part 3</a:t>
            </a:r>
            <a:endParaRPr lang="en-US" sz="1300" dirty="0"/>
          </a:p>
        </p:txBody>
      </p:sp>
      <p:sp>
        <p:nvSpPr>
          <p:cNvPr id="15" name="card_60"/>
          <p:cNvSpPr/>
          <p:nvPr/>
        </p:nvSpPr>
        <p:spPr>
          <a:xfrm>
            <a:off x="548640" y="3520440"/>
            <a:ext cx="3538728" cy="2514600"/>
          </a:xfrm>
          <a:prstGeom prst="roundRect">
            <a:avLst>
              <a:gd name="adj" fmla="val 2909"/>
            </a:avLst>
          </a:prstGeom>
          <a:solidFill>
            <a:schemeClr val="bg2"/>
          </a:solidFill>
          <a:ln w="12700">
            <a:solidFill>
              <a:schemeClr val="bg2"/>
            </a:solidFill>
            <a:prstDash val="solid"/>
          </a:ln>
        </p:spPr>
      </p:sp>
      <p:sp>
        <p:nvSpPr>
          <p:cNvPr id="16" name="num_61"/>
          <p:cNvSpPr txBox="1"/>
          <p:nvPr/>
        </p:nvSpPr>
        <p:spPr>
          <a:xfrm>
            <a:off x="822960" y="37490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1</a:t>
            </a:r>
            <a:endParaRPr lang="en-US" sz="1700" dirty="0"/>
          </a:p>
        </p:txBody>
      </p:sp>
      <p:sp>
        <p:nvSpPr>
          <p:cNvPr id="17" name="text_62"/>
          <p:cNvSpPr txBox="1"/>
          <p:nvPr/>
        </p:nvSpPr>
        <p:spPr>
          <a:xfrm>
            <a:off x="1463040" y="3776472"/>
            <a:ext cx="2468880" cy="45720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Part 1 · Discovery</a:t>
            </a:r>
            <a:endParaRPr lang="en-US" sz="1700" dirty="0"/>
          </a:p>
        </p:txBody>
      </p:sp>
      <p:sp>
        <p:nvSpPr>
          <p:cNvPr id="18" name="text_63"/>
          <p:cNvSpPr txBox="1"/>
          <p:nvPr/>
        </p:nvSpPr>
        <p:spPr>
          <a:xfrm>
            <a:off x="822960" y="4434840"/>
            <a:ext cx="3017520" cy="1463040"/>
          </a:xfrm>
          <a:prstGeom prst="rect">
            <a:avLst/>
          </a:prstGeom>
          <a:noFill/>
          <a:ln/>
        </p:spPr>
        <p:txBody>
          <a:bodyPr wrap="square" lIns="0" tIns="0" rIns="0" bIns="0" rtlCol="0" anchor="t"/>
          <a:lstStyle/>
          <a:p>
            <a:pPr indent="0" marL="0">
              <a:buNone/>
            </a:pPr>
            <a:r>
              <a:rPr lang="en-US" sz="1400" dirty="0">
                <a:solidFill>
                  <a:schemeClr val="tx1"/>
                </a:solidFill>
              </a:rPr>
              <a:t>LLM-assisted scan of the original code, every candidate checked against source: 9 confirmed, 3 uncertain, 9 rejected.</a:t>
            </a:r>
            <a:endParaRPr lang="en-US" sz="1400" dirty="0"/>
          </a:p>
        </p:txBody>
      </p:sp>
      <p:sp>
        <p:nvSpPr>
          <p:cNvPr id="19" name="card_64"/>
          <p:cNvSpPr/>
          <p:nvPr/>
        </p:nvSpPr>
        <p:spPr>
          <a:xfrm>
            <a:off x="4325112" y="3520440"/>
            <a:ext cx="3538728" cy="2514600"/>
          </a:xfrm>
          <a:prstGeom prst="roundRect">
            <a:avLst>
              <a:gd name="adj" fmla="val 2909"/>
            </a:avLst>
          </a:prstGeom>
          <a:solidFill>
            <a:schemeClr val="bg2"/>
          </a:solidFill>
          <a:ln w="12700">
            <a:solidFill>
              <a:schemeClr val="bg2"/>
            </a:solidFill>
            <a:prstDash val="solid"/>
          </a:ln>
        </p:spPr>
      </p:sp>
      <p:sp>
        <p:nvSpPr>
          <p:cNvPr id="20" name="num_65"/>
          <p:cNvSpPr txBox="1"/>
          <p:nvPr/>
        </p:nvSpPr>
        <p:spPr>
          <a:xfrm>
            <a:off x="4599432" y="37490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2</a:t>
            </a:r>
            <a:endParaRPr lang="en-US" sz="1700" dirty="0"/>
          </a:p>
        </p:txBody>
      </p:sp>
      <p:sp>
        <p:nvSpPr>
          <p:cNvPr id="21" name="text_66"/>
          <p:cNvSpPr txBox="1"/>
          <p:nvPr/>
        </p:nvSpPr>
        <p:spPr>
          <a:xfrm>
            <a:off x="5239512" y="3776472"/>
            <a:ext cx="2468880" cy="45720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Part 2 · Evolution</a:t>
            </a:r>
            <a:endParaRPr lang="en-US" sz="1700" dirty="0"/>
          </a:p>
        </p:txBody>
      </p:sp>
      <p:sp>
        <p:nvSpPr>
          <p:cNvPr id="22" name="text_67"/>
          <p:cNvSpPr txBox="1"/>
          <p:nvPr/>
        </p:nvSpPr>
        <p:spPr>
          <a:xfrm>
            <a:off x="4599432" y="4434840"/>
            <a:ext cx="3017520" cy="1463040"/>
          </a:xfrm>
          <a:prstGeom prst="rect">
            <a:avLst/>
          </a:prstGeom>
          <a:noFill/>
          <a:ln/>
        </p:spPr>
        <p:txBody>
          <a:bodyPr wrap="square" lIns="0" tIns="0" rIns="0" bIns="0" rtlCol="0" anchor="t"/>
          <a:lstStyle/>
          <a:p>
            <a:pPr indent="0" marL="0">
              <a:buNone/>
            </a:pPr>
            <a:r>
              <a:rPr lang="en-US" sz="1400" dirty="0">
                <a:solidFill>
                  <a:schemeClr val="tx1"/>
                </a:solidFill>
              </a:rPr>
              <a:t>State, Factory Method, Strategy and Observer introduced by four changes; two real refactorings; counts and UML updated per version.</a:t>
            </a:r>
            <a:endParaRPr lang="en-US" sz="1400" dirty="0"/>
          </a:p>
        </p:txBody>
      </p:sp>
      <p:sp>
        <p:nvSpPr>
          <p:cNvPr id="23" name="card_68"/>
          <p:cNvSpPr/>
          <p:nvPr/>
        </p:nvSpPr>
        <p:spPr>
          <a:xfrm>
            <a:off x="8101584" y="3520440"/>
            <a:ext cx="3538728" cy="2514600"/>
          </a:xfrm>
          <a:prstGeom prst="roundRect">
            <a:avLst>
              <a:gd name="adj" fmla="val 2909"/>
            </a:avLst>
          </a:prstGeom>
          <a:solidFill>
            <a:schemeClr val="bg2"/>
          </a:solidFill>
          <a:ln w="12700">
            <a:solidFill>
              <a:schemeClr val="bg2"/>
            </a:solidFill>
            <a:prstDash val="solid"/>
          </a:ln>
        </p:spPr>
      </p:sp>
      <p:sp>
        <p:nvSpPr>
          <p:cNvPr id="24" name="num_69"/>
          <p:cNvSpPr txBox="1"/>
          <p:nvPr/>
        </p:nvSpPr>
        <p:spPr>
          <a:xfrm>
            <a:off x="8375904" y="3749040"/>
            <a:ext cx="502920" cy="50292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700" b="1" dirty="0">
                <a:solidFill>
                  <a:schemeClr val="tx1"/>
                </a:solidFill>
                <a:latin typeface="Cambria" pitchFamily="34" charset="0"/>
                <a:ea typeface="Cambria" pitchFamily="34" charset="-122"/>
                <a:cs typeface="Cambria" pitchFamily="34" charset="-120"/>
              </a:rPr>
              <a:t>3</a:t>
            </a:r>
            <a:endParaRPr lang="en-US" sz="1700" dirty="0"/>
          </a:p>
        </p:txBody>
      </p:sp>
      <p:sp>
        <p:nvSpPr>
          <p:cNvPr id="25" name="text_70"/>
          <p:cNvSpPr txBox="1"/>
          <p:nvPr/>
        </p:nvSpPr>
        <p:spPr>
          <a:xfrm>
            <a:off x="9015984" y="3776472"/>
            <a:ext cx="2468880" cy="457200"/>
          </a:xfrm>
          <a:prstGeom prst="rect">
            <a:avLst/>
          </a:prstGeom>
          <a:noFill/>
          <a:ln/>
        </p:spPr>
        <p:txBody>
          <a:bodyPr wrap="square" lIns="0" tIns="0" rIns="0" bIns="0" rtlCol="0" anchor="ctr"/>
          <a:lstStyle/>
          <a:p>
            <a:pPr indent="0" marL="0">
              <a:buNone/>
            </a:pPr>
            <a:r>
              <a:rPr lang="en-US" sz="1700" b="1" dirty="0">
                <a:solidFill>
                  <a:schemeClr val="tx2"/>
                </a:solidFill>
                <a:latin typeface="Cambria" pitchFamily="34" charset="0"/>
                <a:ea typeface="Cambria" pitchFamily="34" charset="-122"/>
                <a:cs typeface="Cambria" pitchFamily="34" charset="-120"/>
              </a:rPr>
              <a:t>Part 3 · Cross-language</a:t>
            </a:r>
            <a:endParaRPr lang="en-US" sz="1700" dirty="0"/>
          </a:p>
        </p:txBody>
      </p:sp>
      <p:sp>
        <p:nvSpPr>
          <p:cNvPr id="26" name="text_71"/>
          <p:cNvSpPr txBox="1"/>
          <p:nvPr/>
        </p:nvSpPr>
        <p:spPr>
          <a:xfrm>
            <a:off x="8375904" y="4434840"/>
            <a:ext cx="3017520" cy="1463040"/>
          </a:xfrm>
          <a:prstGeom prst="rect">
            <a:avLst/>
          </a:prstGeom>
          <a:noFill/>
          <a:ln/>
        </p:spPr>
        <p:txBody>
          <a:bodyPr wrap="square" lIns="0" tIns="0" rIns="0" bIns="0" rtlCol="0" anchor="t"/>
          <a:lstStyle/>
          <a:p>
            <a:pPr indent="0" marL="0">
              <a:buNone/>
            </a:pPr>
            <a:r>
              <a:rPr lang="en-US" sz="1400" dirty="0">
                <a:solidFill>
                  <a:schemeClr val="tx1"/>
                </a:solidFill>
              </a:rPr>
              <a:t>Same problem, same tests, in Java, Python, JavaScript and C++; LOC, cyclomatic complexity and run time compared.</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lIns="0" tIns="0" rIns="0" bIns="0" rtlCol="0" anchor="b"/>
          <a:lstStyle/>
          <a:p>
            <a:pPr indent="0" marL="0">
              <a:buNone/>
            </a:pPr>
            <a:r>
              <a:rPr lang="en-US" sz="8800" b="1" dirty="0">
                <a:solidFill>
                  <a:schemeClr val="accent1"/>
                </a:solidFill>
                <a:latin typeface="Cambria" pitchFamily="34" charset="0"/>
                <a:ea typeface="Cambria" pitchFamily="34" charset="-122"/>
                <a:cs typeface="Cambria" pitchFamily="34" charset="-120"/>
              </a:rPr>
              <a:t>01</a:t>
            </a: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Application and architecture</a:t>
            </a: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lIns="0" tIns="0" rIns="0" bIns="0" rtlCol="0" anchor="t"/>
          <a:lstStyle/>
          <a:p>
            <a:pPr indent="0" marL="0">
              <a:buNone/>
            </a:pPr>
            <a:r>
              <a:rPr lang="en-US" sz="1800" dirty="0">
                <a:solidFill>
                  <a:schemeClr val="bg2"/>
                </a:solidFill>
              </a:rPr>
              <a:t>WanderCar / Fleman — the .NET backend of an open-source vehicle rental system</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Application, source and scope</a:t>
            </a:r>
            <a:endParaRPr lang="en-US" sz="3200" dirty="0"/>
          </a:p>
        </p:txBody>
      </p:sp>
      <p:graphicFrame>
        <p:nvGraphicFramePr>
          <p:cNvPr id="6" name="table_72"/>
          <p:cNvGraphicFramePr>
            <a:graphicFrameLocks noGrp="1"/>
          </p:cNvGraphicFramePr>
          <p:nvPr>
            <p:extLst>
              <p:ext uri="{D42A27DB-BD31-4B8C-83A1-F6EECF244321}">
                <p14:modId xmlns:p14="http://schemas.microsoft.com/office/powerpoint/2010/main" val="1579011935"/>
              </p:ext>
            </p:extLst>
          </p:nvPr>
        </p:nvGraphicFramePr>
        <p:xfrm>
          <a:off x="548640" y="1371600"/>
          <a:ext cx="6675120" cy="914400"/>
        </p:xfrm>
        <a:graphic>
          <a:graphicData uri="http://schemas.openxmlformats.org/drawingml/2006/table">
            <a:tbl>
              <a:tblPr/>
              <a:tblGrid>
                <a:gridCol w="1554480"/>
                <a:gridCol w="5120640"/>
              </a:tblGrid>
              <a:tr h="566928">
                <a:tc>
                  <a:txBody>
                    <a:bodyPr/>
                    <a:lstStyle/>
                    <a:p>
                      <a:pPr indent="0" marL="0">
                        <a:buNone/>
                      </a:pPr>
                      <a:r>
                        <a:rPr lang="en-US" sz="1200" b="1" dirty="0">
                          <a:solidFill>
                            <a:schemeClr val="bg1"/>
                          </a:solidFill>
                        </a:rPr>
                        <a:t>Item</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Value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566928">
                <a:tc>
                  <a:txBody>
                    <a:bodyPr/>
                    <a:lstStyle/>
                    <a:p>
                      <a:pPr indent="0" marL="0">
                        <a:buNone/>
                      </a:pPr>
                      <a:r>
                        <a:rPr lang="en-US" sz="1300" dirty="0">
                          <a:solidFill>
                            <a:schemeClr val="tx1"/>
                          </a:solidFill>
                        </a:rPr>
                        <a:t>Source</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github.com/Naveen-verma-7697/FleetManagment, branch main</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Baseline commit</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dfc61ab8 (2026-08-24) “Clean up comments in IAvailabilityRepository”</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566928">
                <a:tc>
                  <a:txBody>
                    <a:bodyPr/>
                    <a:lstStyle/>
                    <a:p>
                      <a:pPr indent="0" marL="0">
                        <a:buNone/>
                      </a:pPr>
                      <a:r>
                        <a:rPr lang="en-US" sz="1300" dirty="0">
                          <a:solidFill>
                            <a:schemeClr val="tx1"/>
                          </a:solidFill>
                        </a:rPr>
                        <a:t>Analysed</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WanderCar_DotNet/src/FlemanApi and FlemanApi.Tests</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Stack</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ASP.NET Core 8, EF Core 8 + Pomelo MySQL, AutoMapper, FluentValidation, MailKit, QuestPDF</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566928">
                <a:tc>
                  <a:txBody>
                    <a:bodyPr/>
                    <a:lstStyle/>
                    <a:p>
                      <a:pPr indent="0" marL="0">
                        <a:buNone/>
                      </a:pPr>
                      <a:r>
                        <a:rPr lang="en-US" sz="1300" dirty="0">
                          <a:solidFill>
                            <a:schemeClr val="tx1"/>
                          </a:solidFill>
                        </a:rPr>
                        <a:t>Tests</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300" dirty="0">
                          <a:solidFill>
                            <a:schemeClr val="tx1"/>
                          </a:solidFill>
                        </a:rPr>
                        <a:t>NUnit 3.14, Moq 4.20, FluentAssertions 6.12, EF Core InMemory 8.0.2</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566928">
                <a:tc>
                  <a:txBody>
                    <a:bodyPr/>
                    <a:lstStyle/>
                    <a:p>
                      <a:pPr indent="0" marL="0">
                        <a:buNone/>
                      </a:pPr>
                      <a:r>
                        <a:rPr lang="en-US" sz="1300" dirty="0">
                          <a:solidFill>
                            <a:schemeClr val="tx1"/>
                          </a:solidFill>
                        </a:rPr>
                        <a:t>Environment</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300" dirty="0">
                          <a:solidFill>
                            <a:schemeClr val="tx1"/>
                          </a:solidFill>
                        </a:rPr>
                        <a:t>Windows 11 Pro, .NET SDK 8.0.425 / runtime 8.0.31, PlantUML 1.2024.8</a:t>
                      </a:r>
                      <a:endParaRPr lang="en-US" sz="13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bl>
          </a:graphicData>
        </a:graphic>
      </p:graphicFrame>
      <p:sp>
        <p:nvSpPr>
          <p:cNvPr id="4" name="card_73"/>
          <p:cNvSpPr/>
          <p:nvPr/>
        </p:nvSpPr>
        <p:spPr>
          <a:xfrm>
            <a:off x="7543800" y="1371600"/>
            <a:ext cx="4096512" cy="4617720"/>
          </a:xfrm>
          <a:prstGeom prst="roundRect">
            <a:avLst>
              <a:gd name="adj" fmla="val 1786"/>
            </a:avLst>
          </a:prstGeom>
          <a:solidFill>
            <a:schemeClr val="bg2"/>
          </a:solidFill>
          <a:ln w="12700">
            <a:solidFill>
              <a:schemeClr val="bg2"/>
            </a:solidFill>
            <a:prstDash val="solid"/>
          </a:ln>
        </p:spPr>
      </p:sp>
      <p:sp>
        <p:nvSpPr>
          <p:cNvPr id="5" name="text_74"/>
          <p:cNvSpPr txBox="1"/>
          <p:nvPr/>
        </p:nvSpPr>
        <p:spPr>
          <a:xfrm>
            <a:off x="7818120" y="1600200"/>
            <a:ext cx="356616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Inspected</a:t>
            </a:r>
            <a:endParaRPr lang="en-US" sz="1700" dirty="0"/>
          </a:p>
        </p:txBody>
      </p:sp>
      <p:sp>
        <p:nvSpPr>
          <p:cNvPr id="6" name="chip_75"/>
          <p:cNvSpPr txBox="1"/>
          <p:nvPr/>
        </p:nvSpPr>
        <p:spPr>
          <a:xfrm>
            <a:off x="7818120" y="2011680"/>
            <a:ext cx="112928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Controllers</a:t>
            </a:r>
            <a:endParaRPr lang="en-US" sz="1100" dirty="0"/>
          </a:p>
        </p:txBody>
      </p:sp>
      <p:sp>
        <p:nvSpPr>
          <p:cNvPr id="7" name="chip_76"/>
          <p:cNvSpPr txBox="1"/>
          <p:nvPr/>
        </p:nvSpPr>
        <p:spPr>
          <a:xfrm>
            <a:off x="9038844" y="2011680"/>
            <a:ext cx="81838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Service</a:t>
            </a:r>
            <a:endParaRPr lang="en-US" sz="1100" dirty="0"/>
          </a:p>
        </p:txBody>
      </p:sp>
      <p:sp>
        <p:nvSpPr>
          <p:cNvPr id="8" name="chip_77"/>
          <p:cNvSpPr txBox="1"/>
          <p:nvPr/>
        </p:nvSpPr>
        <p:spPr>
          <a:xfrm>
            <a:off x="9948672" y="2011680"/>
            <a:ext cx="105156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9" name="chip_78"/>
          <p:cNvSpPr txBox="1"/>
          <p:nvPr/>
        </p:nvSpPr>
        <p:spPr>
          <a:xfrm>
            <a:off x="7818120" y="2404872"/>
            <a:ext cx="585216"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Data</a:t>
            </a:r>
            <a:endParaRPr lang="en-US" sz="1100" dirty="0"/>
          </a:p>
        </p:txBody>
      </p:sp>
      <p:sp>
        <p:nvSpPr>
          <p:cNvPr id="10" name="chip_79"/>
          <p:cNvSpPr txBox="1"/>
          <p:nvPr/>
        </p:nvSpPr>
        <p:spPr>
          <a:xfrm>
            <a:off x="8494776" y="2404872"/>
            <a:ext cx="74066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Models</a:t>
            </a:r>
            <a:endParaRPr lang="en-US" sz="1100" dirty="0"/>
          </a:p>
        </p:txBody>
      </p:sp>
      <p:sp>
        <p:nvSpPr>
          <p:cNvPr id="11" name="chip_80"/>
          <p:cNvSpPr txBox="1"/>
          <p:nvPr/>
        </p:nvSpPr>
        <p:spPr>
          <a:xfrm>
            <a:off x="9326880" y="2404872"/>
            <a:ext cx="50749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DTO</a:t>
            </a:r>
            <a:endParaRPr lang="en-US" sz="1100" dirty="0"/>
          </a:p>
        </p:txBody>
      </p:sp>
      <p:sp>
        <p:nvSpPr>
          <p:cNvPr id="12" name="chip_81"/>
          <p:cNvSpPr txBox="1"/>
          <p:nvPr/>
        </p:nvSpPr>
        <p:spPr>
          <a:xfrm>
            <a:off x="9925812" y="2404872"/>
            <a:ext cx="105156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Middleware</a:t>
            </a:r>
            <a:endParaRPr lang="en-US" sz="1100" dirty="0"/>
          </a:p>
        </p:txBody>
      </p:sp>
      <p:sp>
        <p:nvSpPr>
          <p:cNvPr id="13" name="chip_82"/>
          <p:cNvSpPr txBox="1"/>
          <p:nvPr/>
        </p:nvSpPr>
        <p:spPr>
          <a:xfrm>
            <a:off x="7818120" y="2798064"/>
            <a:ext cx="89611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Security</a:t>
            </a:r>
            <a:endParaRPr lang="en-US" sz="1100" dirty="0"/>
          </a:p>
        </p:txBody>
      </p:sp>
      <p:sp>
        <p:nvSpPr>
          <p:cNvPr id="14" name="chip_83"/>
          <p:cNvSpPr txBox="1"/>
          <p:nvPr/>
        </p:nvSpPr>
        <p:spPr>
          <a:xfrm>
            <a:off x="8805672" y="2798064"/>
            <a:ext cx="585216"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Util</a:t>
            </a:r>
            <a:endParaRPr lang="en-US" sz="1100" dirty="0"/>
          </a:p>
        </p:txBody>
      </p:sp>
      <p:sp>
        <p:nvSpPr>
          <p:cNvPr id="15" name="chip_84"/>
          <p:cNvSpPr txBox="1"/>
          <p:nvPr/>
        </p:nvSpPr>
        <p:spPr>
          <a:xfrm>
            <a:off x="9482328" y="2798064"/>
            <a:ext cx="105156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Validators</a:t>
            </a:r>
            <a:endParaRPr lang="en-US" sz="1100" dirty="0"/>
          </a:p>
        </p:txBody>
      </p:sp>
      <p:sp>
        <p:nvSpPr>
          <p:cNvPr id="16" name="chip_85"/>
          <p:cNvSpPr txBox="1"/>
          <p:nvPr/>
        </p:nvSpPr>
        <p:spPr>
          <a:xfrm>
            <a:off x="7818120" y="3191256"/>
            <a:ext cx="105156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AutoMapper</a:t>
            </a:r>
            <a:endParaRPr lang="en-US" sz="1100" dirty="0"/>
          </a:p>
        </p:txBody>
      </p:sp>
      <p:sp>
        <p:nvSpPr>
          <p:cNvPr id="17" name="chip_86"/>
          <p:cNvSpPr txBox="1"/>
          <p:nvPr/>
        </p:nvSpPr>
        <p:spPr>
          <a:xfrm>
            <a:off x="8961120" y="3191256"/>
            <a:ext cx="105156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Program.cs</a:t>
            </a:r>
            <a:endParaRPr lang="en-US" sz="1100" dirty="0"/>
          </a:p>
        </p:txBody>
      </p:sp>
      <p:sp>
        <p:nvSpPr>
          <p:cNvPr id="18" name="text_87"/>
          <p:cNvSpPr txBox="1"/>
          <p:nvPr/>
        </p:nvSpPr>
        <p:spPr>
          <a:xfrm>
            <a:off x="7818120" y="3657600"/>
            <a:ext cx="3611880" cy="777240"/>
          </a:xfrm>
          <a:prstGeom prst="rect">
            <a:avLst/>
          </a:prstGeom>
          <a:noFill/>
          <a:ln/>
        </p:spPr>
        <p:txBody>
          <a:bodyPr wrap="square" lIns="0" tIns="0" rIns="0" bIns="0" rtlCol="0" anchor="t"/>
          <a:lstStyle/>
          <a:p>
            <a:pPr indent="0" marL="0">
              <a:buNone/>
            </a:pPr>
            <a:r>
              <a:rPr lang="en-US" sz="1300" dirty="0">
                <a:solidFill>
                  <a:schemeClr val="tx1"/>
                </a:solidFill>
              </a:rPr>
              <a:t>All eight functional areas of the brief: vehicles, customers, booking, pricing, billing, maintenance, notification, authentication.</a:t>
            </a:r>
            <a:endParaRPr lang="en-US" sz="1300" dirty="0"/>
          </a:p>
        </p:txBody>
      </p:sp>
      <p:sp>
        <p:nvSpPr>
          <p:cNvPr id="19" name="text_88"/>
          <p:cNvSpPr txBox="1"/>
          <p:nvPr/>
        </p:nvSpPr>
        <p:spPr>
          <a:xfrm>
            <a:off x="7818120" y="4526280"/>
            <a:ext cx="3566160" cy="320040"/>
          </a:xfrm>
          <a:prstGeom prst="rect">
            <a:avLst/>
          </a:prstGeom>
          <a:noFill/>
          <a:ln/>
        </p:spPr>
        <p:txBody>
          <a:bodyPr wrap="square" lIns="0" tIns="0" rIns="0" bIns="0" rtlCol="0" anchor="t"/>
          <a:lstStyle/>
          <a:p>
            <a:pPr indent="0" marL="0">
              <a:buNone/>
            </a:pPr>
            <a:r>
              <a:rPr lang="en-US" sz="1700" b="1" dirty="0">
                <a:solidFill>
                  <a:schemeClr val="tx2"/>
                </a:solidFill>
                <a:latin typeface="Cambria" pitchFamily="34" charset="0"/>
                <a:ea typeface="Cambria" pitchFamily="34" charset="-122"/>
                <a:cs typeface="Cambria" pitchFamily="34" charset="-120"/>
              </a:rPr>
              <a:t>Excluded</a:t>
            </a:r>
            <a:endParaRPr lang="en-US" sz="1700" dirty="0"/>
          </a:p>
        </p:txBody>
      </p:sp>
      <p:sp>
        <p:nvSpPr>
          <p:cNvPr id="20" name="text_89"/>
          <p:cNvSpPr txBox="1"/>
          <p:nvPr/>
        </p:nvSpPr>
        <p:spPr>
          <a:xfrm>
            <a:off x="7818120" y="4892040"/>
            <a:ext cx="3611880" cy="1005840"/>
          </a:xfrm>
          <a:prstGeom prst="rect">
            <a:avLst/>
          </a:prstGeom>
          <a:noFill/>
          <a:ln/>
        </p:spPr>
        <p:txBody>
          <a:bodyPr wrap="square" lIns="0" tIns="0" rIns="0" bIns="0" rtlCol="0" anchor="t"/>
          <a:lstStyle/>
          <a:p>
            <a:pPr indent="0" marL="0">
              <a:buNone/>
            </a:pPr>
            <a:r>
              <a:rPr lang="en-US" sz="1300" dirty="0">
                <a:solidFill>
                  <a:schemeClr val="tx1"/>
                </a:solidFill>
              </a:rPr>
              <a:t>React frontend and the Java backend — not part of the .NET application; the Java service is reached only through an HTTP client.</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Layered architecture and a request flow</a:t>
            </a:r>
            <a:endParaRPr lang="en-US" sz="3200" dirty="0"/>
          </a:p>
        </p:txBody>
      </p:sp>
      <p:sp>
        <p:nvSpPr>
          <p:cNvPr id="3" name="box_90"/>
          <p:cNvSpPr txBox="1"/>
          <p:nvPr/>
        </p:nvSpPr>
        <p:spPr>
          <a:xfrm>
            <a:off x="548640" y="2331720"/>
            <a:ext cx="1691640" cy="914400"/>
          </a:xfrm>
          <a:prstGeom prst="roundRect">
            <a:avLst>
              <a:gd name="adj" fmla="val 8000"/>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Client</a:t>
            </a:r>
            <a:endParaRPr lang="en-US" sz="1400" dirty="0"/>
          </a:p>
          <a:p>
            <a:pPr algn="ctr" indent="0" marL="0">
              <a:buNone/>
            </a:pPr>
            <a:r>
              <a:rPr lang="en-US" sz="1100" dirty="0">
                <a:solidFill>
                  <a:schemeClr val="accent4"/>
                </a:solidFill>
              </a:rPr>
              <a:t>React UI / Swagger</a:t>
            </a:r>
            <a:endParaRPr lang="en-US" sz="1400" dirty="0"/>
          </a:p>
        </p:txBody>
      </p:sp>
      <p:sp>
        <p:nvSpPr>
          <p:cNvPr id="4" name="box_91"/>
          <p:cNvSpPr txBox="1"/>
          <p:nvPr/>
        </p:nvSpPr>
        <p:spPr>
          <a:xfrm>
            <a:off x="2560320" y="2331720"/>
            <a:ext cx="1691640" cy="914400"/>
          </a:xfrm>
          <a:prstGeom prst="roundRect">
            <a:avLst>
              <a:gd name="adj" fmla="val 8000"/>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Middleware</a:t>
            </a:r>
            <a:endParaRPr lang="en-US" sz="1400" dirty="0"/>
          </a:p>
          <a:p>
            <a:pPr algn="ctr" indent="0" marL="0">
              <a:buNone/>
            </a:pPr>
            <a:r>
              <a:rPr lang="en-US" sz="1100" dirty="0">
                <a:solidFill>
                  <a:schemeClr val="accent4"/>
                </a:solidFill>
              </a:rPr>
              <a:t>Exception handling, request logging</a:t>
            </a:r>
            <a:endParaRPr lang="en-US" sz="1400" dirty="0"/>
          </a:p>
        </p:txBody>
      </p:sp>
      <p:sp>
        <p:nvSpPr>
          <p:cNvPr id="5" name="arrow_92"/>
          <p:cNvSpPr/>
          <p:nvPr/>
        </p:nvSpPr>
        <p:spPr>
          <a:xfrm>
            <a:off x="2240280" y="2788920"/>
            <a:ext cx="320040" cy="914"/>
          </a:xfrm>
          <a:prstGeom prst="line">
            <a:avLst/>
          </a:prstGeom>
          <a:noFill/>
          <a:ln w="19050">
            <a:solidFill>
              <a:schemeClr val="accent4"/>
            </a:solidFill>
            <a:prstDash val="solid"/>
            <a:tailEnd type="triangle"/>
          </a:ln>
        </p:spPr>
      </p:sp>
      <p:sp>
        <p:nvSpPr>
          <p:cNvPr id="6" name="box_93"/>
          <p:cNvSpPr txBox="1"/>
          <p:nvPr/>
        </p:nvSpPr>
        <p:spPr>
          <a:xfrm>
            <a:off x="4572000" y="2331720"/>
            <a:ext cx="1691640" cy="914400"/>
          </a:xfrm>
          <a:prstGeom prst="roundRect">
            <a:avLst>
              <a:gd name="adj" fmla="val 8000"/>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Controllers</a:t>
            </a:r>
            <a:endParaRPr lang="en-US" sz="1400" dirty="0"/>
          </a:p>
          <a:p>
            <a:pPr algn="ctr" indent="0" marL="0">
              <a:buNone/>
            </a:pPr>
            <a:r>
              <a:rPr lang="en-US" sz="1100" dirty="0">
                <a:solidFill>
                  <a:schemeClr val="accent4"/>
                </a:solidFill>
              </a:rPr>
              <a:t>13 REST controllers</a:t>
            </a:r>
            <a:endParaRPr lang="en-US" sz="1400" dirty="0"/>
          </a:p>
        </p:txBody>
      </p:sp>
      <p:sp>
        <p:nvSpPr>
          <p:cNvPr id="7" name="arrow_94"/>
          <p:cNvSpPr/>
          <p:nvPr/>
        </p:nvSpPr>
        <p:spPr>
          <a:xfrm>
            <a:off x="4251960" y="2788920"/>
            <a:ext cx="320040" cy="914"/>
          </a:xfrm>
          <a:prstGeom prst="line">
            <a:avLst/>
          </a:prstGeom>
          <a:noFill/>
          <a:ln w="19050">
            <a:solidFill>
              <a:schemeClr val="accent4"/>
            </a:solidFill>
            <a:prstDash val="solid"/>
            <a:tailEnd type="triangle"/>
          </a:ln>
        </p:spPr>
      </p:sp>
      <p:sp>
        <p:nvSpPr>
          <p:cNvPr id="8" name="box_95"/>
          <p:cNvSpPr txBox="1"/>
          <p:nvPr/>
        </p:nvSpPr>
        <p:spPr>
          <a:xfrm>
            <a:off x="6583680" y="2331720"/>
            <a:ext cx="1691640" cy="914400"/>
          </a:xfrm>
          <a:prstGeom prst="roundRect">
            <a:avLst>
              <a:gd name="adj" fmla="val 8000"/>
            </a:avLst>
          </a:prstGeom>
          <a:solidFill>
            <a:schemeClr val="tx2"/>
          </a:solidFill>
          <a:ln w="9525">
            <a:solidFill>
              <a:schemeClr val="accent4"/>
            </a:solidFill>
          </a:ln>
        </p:spPr>
        <p:txBody>
          <a:bodyPr wrap="square" lIns="50800" tIns="50800" rIns="50800" bIns="50800" rtlCol="0" anchor="ctr"/>
          <a:lstStyle/>
          <a:p>
            <a:pPr algn="ctr" indent="0" marL="0">
              <a:buNone/>
            </a:pPr>
            <a:r>
              <a:rPr lang="en-US" sz="1400" b="1" dirty="0">
                <a:solidFill>
                  <a:schemeClr val="bg1"/>
                </a:solidFill>
              </a:rPr>
              <a:t>Services</a:t>
            </a:r>
            <a:endParaRPr lang="en-US" sz="1400" dirty="0"/>
          </a:p>
          <a:p>
            <a:pPr algn="ctr" indent="0" marL="0">
              <a:buNone/>
            </a:pPr>
            <a:r>
              <a:rPr lang="en-US" sz="1100" dirty="0">
                <a:solidFill>
                  <a:schemeClr val="bg1"/>
                </a:solidFill>
              </a:rPr>
              <a:t>Business workflows</a:t>
            </a:r>
            <a:endParaRPr lang="en-US" sz="1400" dirty="0"/>
          </a:p>
        </p:txBody>
      </p:sp>
      <p:sp>
        <p:nvSpPr>
          <p:cNvPr id="9" name="arrow_96"/>
          <p:cNvSpPr/>
          <p:nvPr/>
        </p:nvSpPr>
        <p:spPr>
          <a:xfrm>
            <a:off x="6263640" y="2788920"/>
            <a:ext cx="320040" cy="914"/>
          </a:xfrm>
          <a:prstGeom prst="line">
            <a:avLst/>
          </a:prstGeom>
          <a:noFill/>
          <a:ln w="19050">
            <a:solidFill>
              <a:schemeClr val="accent4"/>
            </a:solidFill>
            <a:prstDash val="solid"/>
            <a:tailEnd type="triangle"/>
          </a:ln>
        </p:spPr>
      </p:sp>
      <p:sp>
        <p:nvSpPr>
          <p:cNvPr id="10" name="box_97"/>
          <p:cNvSpPr txBox="1"/>
          <p:nvPr/>
        </p:nvSpPr>
        <p:spPr>
          <a:xfrm>
            <a:off x="8641080" y="1298448"/>
            <a:ext cx="1554480" cy="603504"/>
          </a:xfrm>
          <a:prstGeom prst="roundRect">
            <a:avLst>
              <a:gd name="adj" fmla="val 12121"/>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Repositories</a:t>
            </a:r>
            <a:endParaRPr lang="en-US" sz="1400" dirty="0"/>
          </a:p>
          <a:p>
            <a:pPr algn="ctr" indent="0" marL="0">
              <a:buNone/>
            </a:pPr>
            <a:r>
              <a:rPr lang="en-US" sz="1100" dirty="0">
                <a:solidFill>
                  <a:schemeClr val="accent4"/>
                </a:solidFill>
              </a:rPr>
              <a:t>Generic + Availability</a:t>
            </a:r>
            <a:endParaRPr lang="en-US" sz="1400" dirty="0"/>
          </a:p>
        </p:txBody>
      </p:sp>
      <p:sp>
        <p:nvSpPr>
          <p:cNvPr id="11" name="arrow_98"/>
          <p:cNvSpPr/>
          <p:nvPr/>
        </p:nvSpPr>
        <p:spPr>
          <a:xfrm flipV="1">
            <a:off x="8275320" y="1600200"/>
            <a:ext cx="365760" cy="1188720"/>
          </a:xfrm>
          <a:prstGeom prst="line">
            <a:avLst/>
          </a:prstGeom>
          <a:noFill/>
          <a:ln w="19050">
            <a:solidFill>
              <a:schemeClr val="accent4"/>
            </a:solidFill>
            <a:prstDash val="solid"/>
            <a:tailEnd type="triangle"/>
          </a:ln>
        </p:spPr>
      </p:sp>
      <p:sp>
        <p:nvSpPr>
          <p:cNvPr id="12" name="box_99"/>
          <p:cNvSpPr txBox="1"/>
          <p:nvPr/>
        </p:nvSpPr>
        <p:spPr>
          <a:xfrm>
            <a:off x="10469880" y="1298448"/>
            <a:ext cx="1170432" cy="603504"/>
          </a:xfrm>
          <a:prstGeom prst="roundRect">
            <a:avLst>
              <a:gd name="adj" fmla="val 12121"/>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MySQL 8</a:t>
            </a:r>
            <a:endParaRPr lang="en-US" sz="1400" dirty="0"/>
          </a:p>
          <a:p>
            <a:pPr algn="ctr" indent="0" marL="0">
              <a:buNone/>
            </a:pPr>
            <a:r>
              <a:rPr lang="en-US" sz="1100" dirty="0">
                <a:solidFill>
                  <a:schemeClr val="accent4"/>
                </a:solidFill>
              </a:rPr>
              <a:t>EF Core</a:t>
            </a:r>
            <a:endParaRPr lang="en-US" sz="1400" dirty="0"/>
          </a:p>
        </p:txBody>
      </p:sp>
      <p:sp>
        <p:nvSpPr>
          <p:cNvPr id="13" name="arrow_100"/>
          <p:cNvSpPr/>
          <p:nvPr/>
        </p:nvSpPr>
        <p:spPr>
          <a:xfrm>
            <a:off x="10195560" y="1600200"/>
            <a:ext cx="274320" cy="914"/>
          </a:xfrm>
          <a:prstGeom prst="line">
            <a:avLst/>
          </a:prstGeom>
          <a:noFill/>
          <a:ln w="19050">
            <a:solidFill>
              <a:schemeClr val="accent4"/>
            </a:solidFill>
            <a:prstDash val="solid"/>
            <a:tailEnd type="triangle"/>
          </a:ln>
        </p:spPr>
      </p:sp>
      <p:sp>
        <p:nvSpPr>
          <p:cNvPr id="14" name="box_101"/>
          <p:cNvSpPr txBox="1"/>
          <p:nvPr/>
        </p:nvSpPr>
        <p:spPr>
          <a:xfrm>
            <a:off x="8641080" y="2075688"/>
            <a:ext cx="1554480" cy="603504"/>
          </a:xfrm>
          <a:prstGeom prst="roundRect">
            <a:avLst>
              <a:gd name="adj" fmla="val 12121"/>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Security</a:t>
            </a:r>
            <a:endParaRPr lang="en-US" sz="1400" dirty="0"/>
          </a:p>
          <a:p>
            <a:pPr algn="ctr" indent="0" marL="0">
              <a:buNone/>
            </a:pPr>
            <a:r>
              <a:rPr lang="en-US" sz="1100" dirty="0">
                <a:solidFill>
                  <a:schemeClr val="accent4"/>
                </a:solidFill>
              </a:rPr>
              <a:t>JWT, Google OAuth</a:t>
            </a:r>
            <a:endParaRPr lang="en-US" sz="1400" dirty="0"/>
          </a:p>
        </p:txBody>
      </p:sp>
      <p:sp>
        <p:nvSpPr>
          <p:cNvPr id="15" name="arrow_102"/>
          <p:cNvSpPr/>
          <p:nvPr/>
        </p:nvSpPr>
        <p:spPr>
          <a:xfrm flipV="1">
            <a:off x="8275320" y="2377440"/>
            <a:ext cx="365760" cy="411480"/>
          </a:xfrm>
          <a:prstGeom prst="line">
            <a:avLst/>
          </a:prstGeom>
          <a:noFill/>
          <a:ln w="19050">
            <a:solidFill>
              <a:schemeClr val="accent4"/>
            </a:solidFill>
            <a:prstDash val="solid"/>
            <a:tailEnd type="triangle"/>
          </a:ln>
        </p:spPr>
      </p:sp>
      <p:sp>
        <p:nvSpPr>
          <p:cNvPr id="16" name="box_103"/>
          <p:cNvSpPr txBox="1"/>
          <p:nvPr/>
        </p:nvSpPr>
        <p:spPr>
          <a:xfrm>
            <a:off x="8641080" y="2852928"/>
            <a:ext cx="1554480" cy="603504"/>
          </a:xfrm>
          <a:prstGeom prst="roundRect">
            <a:avLst>
              <a:gd name="adj" fmla="val 12121"/>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Email queue</a:t>
            </a:r>
            <a:endParaRPr lang="en-US" sz="1400" dirty="0"/>
          </a:p>
          <a:p>
            <a:pPr algn="ctr" indent="0" marL="0">
              <a:buNone/>
            </a:pPr>
            <a:r>
              <a:rPr lang="en-US" sz="1100" dirty="0">
                <a:solidFill>
                  <a:schemeClr val="accent4"/>
                </a:solidFill>
              </a:rPr>
              <a:t>Bounded channel</a:t>
            </a:r>
            <a:endParaRPr lang="en-US" sz="1400" dirty="0"/>
          </a:p>
        </p:txBody>
      </p:sp>
      <p:sp>
        <p:nvSpPr>
          <p:cNvPr id="17" name="arrow_104"/>
          <p:cNvSpPr/>
          <p:nvPr/>
        </p:nvSpPr>
        <p:spPr>
          <a:xfrm>
            <a:off x="8275320" y="2788920"/>
            <a:ext cx="365760" cy="365760"/>
          </a:xfrm>
          <a:prstGeom prst="line">
            <a:avLst/>
          </a:prstGeom>
          <a:noFill/>
          <a:ln w="19050">
            <a:solidFill>
              <a:schemeClr val="accent4"/>
            </a:solidFill>
            <a:prstDash val="solid"/>
            <a:tailEnd type="triangle"/>
          </a:ln>
        </p:spPr>
      </p:sp>
      <p:sp>
        <p:nvSpPr>
          <p:cNvPr id="18" name="box_105"/>
          <p:cNvSpPr txBox="1"/>
          <p:nvPr/>
        </p:nvSpPr>
        <p:spPr>
          <a:xfrm>
            <a:off x="10469880" y="2852928"/>
            <a:ext cx="1170432" cy="603504"/>
          </a:xfrm>
          <a:prstGeom prst="roundRect">
            <a:avLst>
              <a:gd name="adj" fmla="val 12121"/>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MailKit SMTP</a:t>
            </a:r>
            <a:endParaRPr lang="en-US" sz="1400" dirty="0"/>
          </a:p>
          <a:p>
            <a:pPr algn="ctr" indent="0" marL="0">
              <a:buNone/>
            </a:pPr>
            <a:r>
              <a:rPr lang="en-US" sz="1100" dirty="0">
                <a:solidFill>
                  <a:schemeClr val="accent4"/>
                </a:solidFill>
              </a:rPr>
              <a:t>hosted service</a:t>
            </a:r>
            <a:endParaRPr lang="en-US" sz="1400" dirty="0"/>
          </a:p>
        </p:txBody>
      </p:sp>
      <p:sp>
        <p:nvSpPr>
          <p:cNvPr id="19" name="arrow_106"/>
          <p:cNvSpPr/>
          <p:nvPr/>
        </p:nvSpPr>
        <p:spPr>
          <a:xfrm>
            <a:off x="10195560" y="3154680"/>
            <a:ext cx="274320" cy="914"/>
          </a:xfrm>
          <a:prstGeom prst="line">
            <a:avLst/>
          </a:prstGeom>
          <a:noFill/>
          <a:ln w="19050">
            <a:solidFill>
              <a:schemeClr val="accent4"/>
            </a:solidFill>
            <a:prstDash val="solid"/>
            <a:tailEnd type="triangle"/>
          </a:ln>
        </p:spPr>
      </p:sp>
      <p:sp>
        <p:nvSpPr>
          <p:cNvPr id="20" name="box_107"/>
          <p:cNvSpPr txBox="1"/>
          <p:nvPr/>
        </p:nvSpPr>
        <p:spPr>
          <a:xfrm>
            <a:off x="8641080" y="3630168"/>
            <a:ext cx="1554480" cy="603504"/>
          </a:xfrm>
          <a:prstGeom prst="roundRect">
            <a:avLst>
              <a:gd name="adj" fmla="val 12121"/>
            </a:avLst>
          </a:prstGeom>
          <a:solidFill>
            <a:schemeClr val="bg2"/>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Java client</a:t>
            </a:r>
            <a:endParaRPr lang="en-US" sz="1400" dirty="0"/>
          </a:p>
          <a:p>
            <a:pPr algn="ctr" indent="0" marL="0">
              <a:buNone/>
            </a:pPr>
            <a:r>
              <a:rPr lang="en-US" sz="1100" dirty="0">
                <a:solidFill>
                  <a:schemeClr val="accent4"/>
                </a:solidFill>
              </a:rPr>
              <a:t>HTTP + JSON</a:t>
            </a:r>
            <a:endParaRPr lang="en-US" sz="1400" dirty="0"/>
          </a:p>
        </p:txBody>
      </p:sp>
      <p:sp>
        <p:nvSpPr>
          <p:cNvPr id="21" name="arrow_108"/>
          <p:cNvSpPr/>
          <p:nvPr/>
        </p:nvSpPr>
        <p:spPr>
          <a:xfrm>
            <a:off x="8275320" y="2788920"/>
            <a:ext cx="365760" cy="1143000"/>
          </a:xfrm>
          <a:prstGeom prst="line">
            <a:avLst/>
          </a:prstGeom>
          <a:noFill/>
          <a:ln w="19050">
            <a:solidFill>
              <a:schemeClr val="accent4"/>
            </a:solidFill>
            <a:prstDash val="solid"/>
            <a:tailEnd type="triangle"/>
          </a:ln>
        </p:spPr>
      </p:sp>
      <p:sp>
        <p:nvSpPr>
          <p:cNvPr id="22" name="box_109"/>
          <p:cNvSpPr txBox="1"/>
          <p:nvPr/>
        </p:nvSpPr>
        <p:spPr>
          <a:xfrm>
            <a:off x="10469880" y="3630168"/>
            <a:ext cx="1170432" cy="603504"/>
          </a:xfrm>
          <a:prstGeom prst="roundRect">
            <a:avLst>
              <a:gd name="adj" fmla="val 12121"/>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Legacy Java</a:t>
            </a:r>
            <a:endParaRPr lang="en-US" sz="1400" dirty="0"/>
          </a:p>
          <a:p>
            <a:pPr algn="ctr" indent="0" marL="0">
              <a:buNone/>
            </a:pPr>
            <a:r>
              <a:rPr lang="en-US" sz="1100" dirty="0">
                <a:solidFill>
                  <a:schemeClr val="accent4"/>
                </a:solidFill>
              </a:rPr>
              <a:t>backend</a:t>
            </a:r>
            <a:endParaRPr lang="en-US" sz="1400" dirty="0"/>
          </a:p>
        </p:txBody>
      </p:sp>
      <p:sp>
        <p:nvSpPr>
          <p:cNvPr id="23" name="arrow_110"/>
          <p:cNvSpPr/>
          <p:nvPr/>
        </p:nvSpPr>
        <p:spPr>
          <a:xfrm>
            <a:off x="10195560" y="3931920"/>
            <a:ext cx="274320" cy="914"/>
          </a:xfrm>
          <a:prstGeom prst="line">
            <a:avLst/>
          </a:prstGeom>
          <a:noFill/>
          <a:ln w="19050">
            <a:solidFill>
              <a:schemeClr val="accent4"/>
            </a:solidFill>
            <a:prstDash val="solid"/>
            <a:tailEnd type="triangle"/>
          </a:ln>
        </p:spPr>
      </p:sp>
      <p:sp>
        <p:nvSpPr>
          <p:cNvPr id="24" name="card_111"/>
          <p:cNvSpPr/>
          <p:nvPr/>
        </p:nvSpPr>
        <p:spPr>
          <a:xfrm>
            <a:off x="548640" y="4343400"/>
            <a:ext cx="11094415" cy="1737360"/>
          </a:xfrm>
          <a:prstGeom prst="roundRect">
            <a:avLst>
              <a:gd name="adj" fmla="val 4211"/>
            </a:avLst>
          </a:prstGeom>
          <a:solidFill>
            <a:schemeClr val="bg2"/>
          </a:solidFill>
          <a:ln w="12700">
            <a:solidFill>
              <a:schemeClr val="bg2"/>
            </a:solidFill>
            <a:prstDash val="solid"/>
          </a:ln>
        </p:spPr>
      </p:sp>
      <p:sp>
        <p:nvSpPr>
          <p:cNvPr id="25" name="text_112"/>
          <p:cNvSpPr txBox="1"/>
          <p:nvPr/>
        </p:nvSpPr>
        <p:spPr>
          <a:xfrm>
            <a:off x="822960" y="4480560"/>
            <a:ext cx="7315200" cy="320040"/>
          </a:xfrm>
          <a:prstGeom prst="rect">
            <a:avLst/>
          </a:prstGeom>
          <a:noFill/>
          <a:ln/>
        </p:spPr>
        <p:txBody>
          <a:bodyPr wrap="square" lIns="0" tIns="0" rIns="0" bIns="0" rtlCol="0" anchor="t"/>
          <a:lstStyle/>
          <a:p>
            <a:pPr indent="0" marL="0">
              <a:buNone/>
            </a:pPr>
            <a:r>
              <a:rPr lang="en-US" sz="1500" b="1" dirty="0">
                <a:solidFill>
                  <a:schemeClr val="tx2"/>
                </a:solidFill>
              </a:rPr>
              <a:t>Example flow — create a booking (original code)</a:t>
            </a:r>
            <a:endParaRPr lang="en-US" sz="1500" dirty="0"/>
          </a:p>
        </p:txBody>
      </p:sp>
      <p:sp>
        <p:nvSpPr>
          <p:cNvPr id="26" name="num_113"/>
          <p:cNvSpPr txBox="1"/>
          <p:nvPr/>
        </p:nvSpPr>
        <p:spPr>
          <a:xfrm>
            <a:off x="822960" y="4919472"/>
            <a:ext cx="347472" cy="34747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1</a:t>
            </a:r>
            <a:endParaRPr lang="en-US" sz="1100" dirty="0"/>
          </a:p>
        </p:txBody>
      </p:sp>
      <p:sp>
        <p:nvSpPr>
          <p:cNvPr id="27" name="text_114"/>
          <p:cNvSpPr txBox="1"/>
          <p:nvPr/>
        </p:nvSpPr>
        <p:spPr>
          <a:xfrm>
            <a:off x="1261872" y="4892040"/>
            <a:ext cx="1645920" cy="1097280"/>
          </a:xfrm>
          <a:prstGeom prst="rect">
            <a:avLst/>
          </a:prstGeom>
          <a:noFill/>
          <a:ln/>
        </p:spPr>
        <p:txBody>
          <a:bodyPr wrap="square" lIns="0" tIns="0" rIns="0" bIns="0" rtlCol="0" anchor="t"/>
          <a:lstStyle/>
          <a:p>
            <a:pPr indent="0" marL="0">
              <a:buNone/>
            </a:pPr>
            <a:r>
              <a:rPr lang="en-US" sz="1200" dirty="0">
                <a:solidFill>
                  <a:schemeClr val="tx1"/>
                </a:solidFill>
              </a:rPr>
              <a:t>POST /api/bookings passes the logging and exception middleware</a:t>
            </a:r>
            <a:endParaRPr lang="en-US" sz="1200" dirty="0"/>
          </a:p>
        </p:txBody>
      </p:sp>
      <p:sp>
        <p:nvSpPr>
          <p:cNvPr id="28" name="num_115"/>
          <p:cNvSpPr txBox="1"/>
          <p:nvPr/>
        </p:nvSpPr>
        <p:spPr>
          <a:xfrm>
            <a:off x="2999232" y="4919472"/>
            <a:ext cx="347472" cy="34747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2</a:t>
            </a:r>
            <a:endParaRPr lang="en-US" sz="1100" dirty="0"/>
          </a:p>
        </p:txBody>
      </p:sp>
      <p:sp>
        <p:nvSpPr>
          <p:cNvPr id="29" name="text_116"/>
          <p:cNvSpPr txBox="1"/>
          <p:nvPr/>
        </p:nvSpPr>
        <p:spPr>
          <a:xfrm>
            <a:off x="3438144" y="4892040"/>
            <a:ext cx="1645920" cy="1097280"/>
          </a:xfrm>
          <a:prstGeom prst="rect">
            <a:avLst/>
          </a:prstGeom>
          <a:noFill/>
          <a:ln/>
        </p:spPr>
        <p:txBody>
          <a:bodyPr wrap="square" lIns="0" tIns="0" rIns="0" bIns="0" rtlCol="0" anchor="t"/>
          <a:lstStyle/>
          <a:p>
            <a:pPr indent="0" marL="0">
              <a:buNone/>
            </a:pPr>
            <a:r>
              <a:rPr lang="en-US" sz="1200" dirty="0">
                <a:solidFill>
                  <a:schemeClr val="tx1"/>
                </a:solidFill>
              </a:rPr>
              <a:t>BookingController calls IBookingService</a:t>
            </a:r>
            <a:endParaRPr lang="en-US" sz="1200" dirty="0"/>
          </a:p>
        </p:txBody>
      </p:sp>
      <p:sp>
        <p:nvSpPr>
          <p:cNvPr id="30" name="num_117"/>
          <p:cNvSpPr txBox="1"/>
          <p:nvPr/>
        </p:nvSpPr>
        <p:spPr>
          <a:xfrm>
            <a:off x="5175504" y="4919472"/>
            <a:ext cx="347472" cy="34747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3</a:t>
            </a:r>
            <a:endParaRPr lang="en-US" sz="1100" dirty="0"/>
          </a:p>
        </p:txBody>
      </p:sp>
      <p:sp>
        <p:nvSpPr>
          <p:cNvPr id="31" name="text_118"/>
          <p:cNvSpPr txBox="1"/>
          <p:nvPr/>
        </p:nvSpPr>
        <p:spPr>
          <a:xfrm>
            <a:off x="5614416" y="4892040"/>
            <a:ext cx="1645920" cy="1097280"/>
          </a:xfrm>
          <a:prstGeom prst="rect">
            <a:avLst/>
          </a:prstGeom>
          <a:noFill/>
          <a:ln/>
        </p:spPr>
        <p:txBody>
          <a:bodyPr wrap="square" lIns="0" tIns="0" rIns="0" bIns="0" rtlCol="0" anchor="t"/>
          <a:lstStyle/>
          <a:p>
            <a:pPr indent="0" marL="0">
              <a:buNone/>
            </a:pPr>
            <a:r>
              <a:rPr lang="en-US" sz="1200" dirty="0">
                <a:solidFill>
                  <a:schemeClr val="tx1"/>
                </a:solidFill>
              </a:rPr>
              <a:t>BookingService validates, checks capacity and prices with RentalRateCalculator</a:t>
            </a:r>
            <a:endParaRPr lang="en-US" sz="1200" dirty="0"/>
          </a:p>
        </p:txBody>
      </p:sp>
      <p:sp>
        <p:nvSpPr>
          <p:cNvPr id="32" name="num_119"/>
          <p:cNvSpPr txBox="1"/>
          <p:nvPr/>
        </p:nvSpPr>
        <p:spPr>
          <a:xfrm>
            <a:off x="7351776" y="4919472"/>
            <a:ext cx="347472" cy="34747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4</a:t>
            </a:r>
            <a:endParaRPr lang="en-US" sz="1100" dirty="0"/>
          </a:p>
        </p:txBody>
      </p:sp>
      <p:sp>
        <p:nvSpPr>
          <p:cNvPr id="33" name="text_120"/>
          <p:cNvSpPr txBox="1"/>
          <p:nvPr/>
        </p:nvSpPr>
        <p:spPr>
          <a:xfrm>
            <a:off x="7790688" y="4892040"/>
            <a:ext cx="1645920" cy="1097280"/>
          </a:xfrm>
          <a:prstGeom prst="rect">
            <a:avLst/>
          </a:prstGeom>
          <a:noFill/>
          <a:ln/>
        </p:spPr>
        <p:txBody>
          <a:bodyPr wrap="square" lIns="0" tIns="0" rIns="0" bIns="0" rtlCol="0" anchor="t"/>
          <a:lstStyle/>
          <a:p>
            <a:pPr indent="0" marL="0">
              <a:buNone/>
            </a:pPr>
            <a:r>
              <a:rPr lang="en-US" sz="1200" dirty="0">
                <a:solidFill>
                  <a:schemeClr val="tx1"/>
                </a:solidFill>
              </a:rPr>
              <a:t>GenericRepository saves through FlemanDbContext to MySQL</a:t>
            </a:r>
            <a:endParaRPr lang="en-US" sz="1200" dirty="0"/>
          </a:p>
        </p:txBody>
      </p:sp>
      <p:sp>
        <p:nvSpPr>
          <p:cNvPr id="34" name="num_121"/>
          <p:cNvSpPr txBox="1"/>
          <p:nvPr/>
        </p:nvSpPr>
        <p:spPr>
          <a:xfrm>
            <a:off x="9528048" y="4919472"/>
            <a:ext cx="347472" cy="347472"/>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latin typeface="Cambria" pitchFamily="34" charset="0"/>
                <a:ea typeface="Cambria" pitchFamily="34" charset="-122"/>
                <a:cs typeface="Cambria" pitchFamily="34" charset="-120"/>
              </a:rPr>
              <a:t>5</a:t>
            </a:r>
            <a:endParaRPr lang="en-US" sz="1100" dirty="0"/>
          </a:p>
        </p:txBody>
      </p:sp>
      <p:sp>
        <p:nvSpPr>
          <p:cNvPr id="35" name="text_122"/>
          <p:cNvSpPr txBox="1"/>
          <p:nvPr/>
        </p:nvSpPr>
        <p:spPr>
          <a:xfrm>
            <a:off x="9966960" y="4892040"/>
            <a:ext cx="1645920" cy="1097280"/>
          </a:xfrm>
          <a:prstGeom prst="rect">
            <a:avLst/>
          </a:prstGeom>
          <a:noFill/>
          <a:ln/>
        </p:spPr>
        <p:txBody>
          <a:bodyPr wrap="square" lIns="0" tIns="0" rIns="0" bIns="0" rtlCol="0" anchor="t"/>
          <a:lstStyle/>
          <a:p>
            <a:pPr indent="0" marL="0">
              <a:buNone/>
            </a:pPr>
            <a:r>
              <a:rPr lang="en-US" sz="1200" dirty="0">
                <a:solidFill>
                  <a:schemeClr val="tx1"/>
                </a:solidFill>
              </a:rPr>
              <a:t>Confirmation e-mail is queued; a hosted service sends it via MailKit</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Baseline build and test run</a:t>
            </a:r>
            <a:endParaRPr lang="en-US" sz="3200" dirty="0"/>
          </a:p>
        </p:txBody>
      </p:sp>
      <p:sp>
        <p:nvSpPr>
          <p:cNvPr id="3" name="card_123"/>
          <p:cNvSpPr/>
          <p:nvPr/>
        </p:nvSpPr>
        <p:spPr>
          <a:xfrm>
            <a:off x="548640" y="1371600"/>
            <a:ext cx="2377440" cy="1737360"/>
          </a:xfrm>
          <a:prstGeom prst="roundRect">
            <a:avLst>
              <a:gd name="adj" fmla="val 4211"/>
            </a:avLst>
          </a:prstGeom>
          <a:solidFill>
            <a:schemeClr val="bg2"/>
          </a:solidFill>
          <a:ln w="12700">
            <a:solidFill>
              <a:schemeClr val="bg2"/>
            </a:solidFill>
            <a:prstDash val="solid"/>
          </a:ln>
        </p:spPr>
      </p:sp>
      <p:sp>
        <p:nvSpPr>
          <p:cNvPr id="4" name="text_124"/>
          <p:cNvSpPr txBox="1"/>
          <p:nvPr/>
        </p:nvSpPr>
        <p:spPr>
          <a:xfrm>
            <a:off x="777240" y="1554480"/>
            <a:ext cx="1920240" cy="903427"/>
          </a:xfrm>
          <a:prstGeom prst="rect">
            <a:avLst/>
          </a:prstGeom>
          <a:noFill/>
          <a:ln/>
        </p:spPr>
        <p:txBody>
          <a:bodyPr wrap="square" lIns="0" tIns="0" rIns="0" bIns="0" rtlCol="0" anchor="b"/>
          <a:lstStyle/>
          <a:p>
            <a:pPr indent="0" marL="0">
              <a:buNone/>
            </a:pPr>
            <a:r>
              <a:rPr lang="en-US" sz="4000" b="1" dirty="0">
                <a:solidFill>
                  <a:schemeClr val="tx2"/>
                </a:solidFill>
                <a:latin typeface="Cambria" pitchFamily="34" charset="0"/>
                <a:ea typeface="Cambria" pitchFamily="34" charset="-122"/>
                <a:cs typeface="Cambria" pitchFamily="34" charset="-120"/>
              </a:rPr>
              <a:t>183</a:t>
            </a:r>
            <a:endParaRPr lang="en-US" sz="4000" dirty="0"/>
          </a:p>
        </p:txBody>
      </p:sp>
      <p:sp>
        <p:nvSpPr>
          <p:cNvPr id="5" name="text_125"/>
          <p:cNvSpPr txBox="1"/>
          <p:nvPr/>
        </p:nvSpPr>
        <p:spPr>
          <a:xfrm>
            <a:off x="777240" y="2503627"/>
            <a:ext cx="1920240" cy="513893"/>
          </a:xfrm>
          <a:prstGeom prst="rect">
            <a:avLst/>
          </a:prstGeom>
          <a:noFill/>
          <a:ln/>
        </p:spPr>
        <p:txBody>
          <a:bodyPr wrap="square" lIns="0" tIns="0" rIns="0" bIns="0" rtlCol="0" anchor="t"/>
          <a:lstStyle/>
          <a:p>
            <a:pPr indent="0" marL="0">
              <a:buNone/>
            </a:pPr>
            <a:r>
              <a:rPr lang="en-US" sz="1300" dirty="0">
                <a:solidFill>
                  <a:schemeClr val="accent4"/>
                </a:solidFill>
              </a:rPr>
              <a:t>tests in the original code</a:t>
            </a:r>
            <a:endParaRPr lang="en-US" sz="1300" dirty="0"/>
          </a:p>
        </p:txBody>
      </p:sp>
      <p:sp>
        <p:nvSpPr>
          <p:cNvPr id="6" name="card_126"/>
          <p:cNvSpPr/>
          <p:nvPr/>
        </p:nvSpPr>
        <p:spPr>
          <a:xfrm>
            <a:off x="3154680" y="1371600"/>
            <a:ext cx="2377440" cy="1737360"/>
          </a:xfrm>
          <a:prstGeom prst="roundRect">
            <a:avLst>
              <a:gd name="adj" fmla="val 4211"/>
            </a:avLst>
          </a:prstGeom>
          <a:solidFill>
            <a:schemeClr val="bg2"/>
          </a:solidFill>
          <a:ln w="12700">
            <a:solidFill>
              <a:schemeClr val="bg2"/>
            </a:solidFill>
            <a:prstDash val="solid"/>
          </a:ln>
        </p:spPr>
      </p:sp>
      <p:sp>
        <p:nvSpPr>
          <p:cNvPr id="7" name="text_127"/>
          <p:cNvSpPr txBox="1"/>
          <p:nvPr/>
        </p:nvSpPr>
        <p:spPr>
          <a:xfrm>
            <a:off x="3383280" y="1554480"/>
            <a:ext cx="1920240" cy="903427"/>
          </a:xfrm>
          <a:prstGeom prst="rect">
            <a:avLst/>
          </a:prstGeom>
          <a:noFill/>
          <a:ln/>
        </p:spPr>
        <p:txBody>
          <a:bodyPr wrap="square" lIns="0" tIns="0" rIns="0" bIns="0" rtlCol="0" anchor="b"/>
          <a:lstStyle/>
          <a:p>
            <a:pPr indent="0" marL="0">
              <a:buNone/>
            </a:pPr>
            <a:r>
              <a:rPr lang="en-US" sz="4000" b="1" dirty="0">
                <a:solidFill>
                  <a:schemeClr val="accent2"/>
                </a:solidFill>
                <a:latin typeface="Cambria" pitchFamily="34" charset="0"/>
                <a:ea typeface="Cambria" pitchFamily="34" charset="-122"/>
                <a:cs typeface="Cambria" pitchFamily="34" charset="-120"/>
              </a:rPr>
              <a:t>182</a:t>
            </a:r>
            <a:endParaRPr lang="en-US" sz="4000" dirty="0"/>
          </a:p>
        </p:txBody>
      </p:sp>
      <p:sp>
        <p:nvSpPr>
          <p:cNvPr id="8" name="text_128"/>
          <p:cNvSpPr txBox="1"/>
          <p:nvPr/>
        </p:nvSpPr>
        <p:spPr>
          <a:xfrm>
            <a:off x="3383280" y="2503627"/>
            <a:ext cx="1920240" cy="513893"/>
          </a:xfrm>
          <a:prstGeom prst="rect">
            <a:avLst/>
          </a:prstGeom>
          <a:noFill/>
          <a:ln/>
        </p:spPr>
        <p:txBody>
          <a:bodyPr wrap="square" lIns="0" tIns="0" rIns="0" bIns="0" rtlCol="0" anchor="t"/>
          <a:lstStyle/>
          <a:p>
            <a:pPr indent="0" marL="0">
              <a:buNone/>
            </a:pPr>
            <a:r>
              <a:rPr lang="en-US" sz="1300" dirty="0">
                <a:solidFill>
                  <a:schemeClr val="accent4"/>
                </a:solidFill>
              </a:rPr>
              <a:t>passed</a:t>
            </a:r>
            <a:endParaRPr lang="en-US" sz="1300" dirty="0"/>
          </a:p>
        </p:txBody>
      </p:sp>
      <p:sp>
        <p:nvSpPr>
          <p:cNvPr id="9" name="card_129"/>
          <p:cNvSpPr/>
          <p:nvPr/>
        </p:nvSpPr>
        <p:spPr>
          <a:xfrm>
            <a:off x="5760720" y="1371600"/>
            <a:ext cx="2377440" cy="1737360"/>
          </a:xfrm>
          <a:prstGeom prst="roundRect">
            <a:avLst>
              <a:gd name="adj" fmla="val 4211"/>
            </a:avLst>
          </a:prstGeom>
          <a:solidFill>
            <a:schemeClr val="bg2"/>
          </a:solidFill>
          <a:ln w="12700">
            <a:solidFill>
              <a:schemeClr val="bg2"/>
            </a:solidFill>
            <a:prstDash val="solid"/>
          </a:ln>
        </p:spPr>
      </p:sp>
      <p:sp>
        <p:nvSpPr>
          <p:cNvPr id="10" name="text_130"/>
          <p:cNvSpPr txBox="1"/>
          <p:nvPr/>
        </p:nvSpPr>
        <p:spPr>
          <a:xfrm>
            <a:off x="5989320" y="1554480"/>
            <a:ext cx="1920240" cy="903427"/>
          </a:xfrm>
          <a:prstGeom prst="rect">
            <a:avLst/>
          </a:prstGeom>
          <a:noFill/>
          <a:ln/>
        </p:spPr>
        <p:txBody>
          <a:bodyPr wrap="square" lIns="0" tIns="0" rIns="0" bIns="0" rtlCol="0" anchor="b"/>
          <a:lstStyle/>
          <a:p>
            <a:pPr indent="0" marL="0">
              <a:buNone/>
            </a:pPr>
            <a:r>
              <a:rPr lang="en-US" sz="4000" b="1" dirty="0">
                <a:solidFill>
                  <a:schemeClr val="accent3"/>
                </a:solidFill>
                <a:latin typeface="Cambria" pitchFamily="34" charset="0"/>
                <a:ea typeface="Cambria" pitchFamily="34" charset="-122"/>
                <a:cs typeface="Cambria" pitchFamily="34" charset="-120"/>
              </a:rPr>
              <a:t>1</a:t>
            </a:r>
            <a:endParaRPr lang="en-US" sz="4000" dirty="0"/>
          </a:p>
        </p:txBody>
      </p:sp>
      <p:sp>
        <p:nvSpPr>
          <p:cNvPr id="11" name="text_131"/>
          <p:cNvSpPr txBox="1"/>
          <p:nvPr/>
        </p:nvSpPr>
        <p:spPr>
          <a:xfrm>
            <a:off x="5989320" y="2503627"/>
            <a:ext cx="1920240" cy="513893"/>
          </a:xfrm>
          <a:prstGeom prst="rect">
            <a:avLst/>
          </a:prstGeom>
          <a:noFill/>
          <a:ln/>
        </p:spPr>
        <p:txBody>
          <a:bodyPr wrap="square" lIns="0" tIns="0" rIns="0" bIns="0" rtlCol="0" anchor="t"/>
          <a:lstStyle/>
          <a:p>
            <a:pPr indent="0" marL="0">
              <a:buNone/>
            </a:pPr>
            <a:r>
              <a:rPr lang="en-US" sz="1300" dirty="0">
                <a:solidFill>
                  <a:schemeClr val="accent4"/>
                </a:solidFill>
              </a:rPr>
              <a:t>failed — date-dependent, not a bug we introduced</a:t>
            </a:r>
            <a:endParaRPr lang="en-US" sz="1300" dirty="0"/>
          </a:p>
        </p:txBody>
      </p:sp>
      <p:sp>
        <p:nvSpPr>
          <p:cNvPr id="12" name="card_132"/>
          <p:cNvSpPr/>
          <p:nvPr/>
        </p:nvSpPr>
        <p:spPr>
          <a:xfrm>
            <a:off x="8366760" y="1371600"/>
            <a:ext cx="3273552" cy="1737360"/>
          </a:xfrm>
          <a:prstGeom prst="roundRect">
            <a:avLst>
              <a:gd name="adj" fmla="val 4211"/>
            </a:avLst>
          </a:prstGeom>
          <a:solidFill>
            <a:schemeClr val="tx2"/>
          </a:solidFill>
          <a:ln w="12700">
            <a:solidFill>
              <a:schemeClr val="tx2"/>
            </a:solidFill>
            <a:prstDash val="solid"/>
          </a:ln>
        </p:spPr>
      </p:sp>
      <p:sp>
        <p:nvSpPr>
          <p:cNvPr id="13" name="text_133"/>
          <p:cNvSpPr txBox="1"/>
          <p:nvPr/>
        </p:nvSpPr>
        <p:spPr>
          <a:xfrm>
            <a:off x="8641080" y="1554480"/>
            <a:ext cx="2743200" cy="274320"/>
          </a:xfrm>
          <a:prstGeom prst="rect">
            <a:avLst/>
          </a:prstGeom>
          <a:noFill/>
          <a:ln/>
        </p:spPr>
        <p:txBody>
          <a:bodyPr wrap="square" lIns="0" tIns="0" rIns="0" bIns="0" rtlCol="0" anchor="t"/>
          <a:lstStyle/>
          <a:p>
            <a:pPr indent="0" marL="0">
              <a:buNone/>
            </a:pPr>
            <a:r>
              <a:rPr lang="en-US" sz="1300" dirty="0">
                <a:solidFill>
                  <a:schemeClr val="bg2"/>
                </a:solidFill>
              </a:rPr>
              <a:t>Build</a:t>
            </a:r>
            <a:endParaRPr lang="en-US" sz="1300" dirty="0"/>
          </a:p>
        </p:txBody>
      </p:sp>
      <p:sp>
        <p:nvSpPr>
          <p:cNvPr id="14" name="text_134"/>
          <p:cNvSpPr txBox="1"/>
          <p:nvPr/>
        </p:nvSpPr>
        <p:spPr>
          <a:xfrm>
            <a:off x="8641080" y="1874520"/>
            <a:ext cx="2743200" cy="1005840"/>
          </a:xfrm>
          <a:prstGeom prst="rect">
            <a:avLst/>
          </a:prstGeom>
          <a:noFill/>
          <a:ln/>
        </p:spPr>
        <p:txBody>
          <a:bodyPr wrap="square" lIns="0" tIns="0" rIns="0" bIns="0" rtlCol="0" anchor="t"/>
          <a:lstStyle/>
          <a:p>
            <a:pPr indent="0" marL="0">
              <a:buNone/>
            </a:pPr>
            <a:r>
              <a:rPr lang="en-US" sz="2400" b="1" dirty="0">
                <a:solidFill>
                  <a:schemeClr val="bg1"/>
                </a:solidFill>
                <a:latin typeface="Cambria" pitchFamily="34" charset="0"/>
                <a:ea typeface="Cambria" pitchFamily="34" charset="-122"/>
                <a:cs typeface="Cambria" pitchFamily="34" charset="-120"/>
              </a:rPr>
              <a:t>0 warnings</a:t>
            </a:r>
            <a:endParaRPr lang="en-US" sz="2400" dirty="0"/>
          </a:p>
          <a:p>
            <a:pPr indent="0" marL="0">
              <a:buNone/>
            </a:pPr>
            <a:r>
              <a:rPr lang="en-US" sz="2400" b="1" dirty="0">
                <a:solidFill>
                  <a:schemeClr val="bg1"/>
                </a:solidFill>
                <a:latin typeface="Cambria" pitchFamily="34" charset="0"/>
                <a:ea typeface="Cambria" pitchFamily="34" charset="-122"/>
                <a:cs typeface="Cambria" pitchFamily="34" charset="-120"/>
              </a:rPr>
              <a:t>0 errors</a:t>
            </a:r>
            <a:endParaRPr lang="en-US" sz="2400" dirty="0"/>
          </a:p>
        </p:txBody>
      </p:sp>
      <p:sp>
        <p:nvSpPr>
          <p:cNvPr id="15" name="card_135"/>
          <p:cNvSpPr/>
          <p:nvPr/>
        </p:nvSpPr>
        <p:spPr>
          <a:xfrm>
            <a:off x="548640" y="3383280"/>
            <a:ext cx="6675120" cy="2651760"/>
          </a:xfrm>
          <a:prstGeom prst="roundRect">
            <a:avLst>
              <a:gd name="adj" fmla="val 2759"/>
            </a:avLst>
          </a:prstGeom>
          <a:solidFill>
            <a:schemeClr val="bg2"/>
          </a:solidFill>
          <a:ln w="12700">
            <a:solidFill>
              <a:schemeClr val="bg2"/>
            </a:solidFill>
            <a:prstDash val="solid"/>
          </a:ln>
        </p:spPr>
      </p:sp>
      <p:sp>
        <p:nvSpPr>
          <p:cNvPr id="16" name="text_136"/>
          <p:cNvSpPr txBox="1"/>
          <p:nvPr/>
        </p:nvSpPr>
        <p:spPr>
          <a:xfrm>
            <a:off x="822960" y="3566160"/>
            <a:ext cx="6126480" cy="320040"/>
          </a:xfrm>
          <a:prstGeom prst="rect">
            <a:avLst/>
          </a:prstGeom>
          <a:noFill/>
          <a:ln/>
        </p:spPr>
        <p:txBody>
          <a:bodyPr wrap="square" lIns="0" tIns="0" rIns="0" bIns="0" rtlCol="0" anchor="t"/>
          <a:lstStyle/>
          <a:p>
            <a:pPr indent="0" marL="0">
              <a:buNone/>
            </a:pPr>
            <a:r>
              <a:rPr lang="en-US" sz="1600" b="1" dirty="0">
                <a:solidFill>
                  <a:schemeClr val="tx2"/>
                </a:solidFill>
              </a:rPr>
              <a:t>Why one test fails</a:t>
            </a:r>
            <a:endParaRPr lang="en-US" sz="1600" dirty="0"/>
          </a:p>
        </p:txBody>
      </p:sp>
      <p:sp>
        <p:nvSpPr>
          <p:cNvPr id="17" name="text_137"/>
          <p:cNvSpPr txBox="1"/>
          <p:nvPr/>
        </p:nvSpPr>
        <p:spPr>
          <a:xfrm>
            <a:off x="822960" y="3977640"/>
            <a:ext cx="6126480" cy="1920240"/>
          </a:xfrm>
          <a:prstGeom prst="rect">
            <a:avLst/>
          </a:prstGeom>
          <a:noFill/>
          <a:ln/>
        </p:spPr>
        <p:txBody>
          <a:bodyPr wrap="square" lIns="0" tIns="0" rIns="0" bIns="0" rtlCol="0" anchor="t"/>
          <a:lstStyle/>
          <a:p>
            <a:pPr indent="0" marL="0">
              <a:spcAft>
                <a:spcPts val="600"/>
              </a:spcAft>
              <a:buNone/>
            </a:pPr>
            <a:r>
              <a:rPr lang="en-US" sz="1300" b="1" dirty="0">
                <a:solidFill>
                  <a:schemeClr val="tx1"/>
                </a:solidFill>
              </a:rPr>
              <a:t>StaffServiceTests.ProcessReturnAsync_CreatesInvoiceHeaderAndDetails</a:t>
            </a:r>
            <a:endParaRPr lang="en-US" sz="1400" dirty="0"/>
          </a:p>
          <a:p>
            <a:pPr indent="0" marL="0">
              <a:spcAft>
                <a:spcPts val="600"/>
              </a:spcAft>
              <a:buNone/>
            </a:pPr>
            <a:r>
              <a:rPr lang="en-US" sz="1400" dirty="0">
                <a:solidFill>
                  <a:schemeClr val="tx1"/>
                </a:solidFill>
              </a:rPr>
              <a:t>The fixture hands the car over on 2026-08-01, but StaffService bills up to DateTime.Now. Expected 40.0 (4 days), got 690.0 on the day we ran it.</a:t>
            </a:r>
            <a:endParaRPr lang="en-US" sz="1400" dirty="0"/>
          </a:p>
          <a:p>
            <a:pPr indent="0" marL="0">
              <a:spcAft>
                <a:spcPts val="600"/>
              </a:spcAft>
              <a:buNone/>
            </a:pPr>
            <a:r>
              <a:rPr lang="en-US" sz="1400" b="1" dirty="0">
                <a:solidFill>
                  <a:schemeClr val="accent3"/>
                </a:solidFill>
              </a:rPr>
              <a:t>This hidden clock dependency is a code smell we record here and fix in Change3.</a:t>
            </a:r>
            <a:endParaRPr lang="en-US" sz="1400" dirty="0"/>
          </a:p>
        </p:txBody>
      </p:sp>
      <p:sp>
        <p:nvSpPr>
          <p:cNvPr id="18" name="card_138"/>
          <p:cNvSpPr/>
          <p:nvPr/>
        </p:nvSpPr>
        <p:spPr>
          <a:xfrm>
            <a:off x="7452360" y="3383280"/>
            <a:ext cx="4187952" cy="2651760"/>
          </a:xfrm>
          <a:prstGeom prst="roundRect">
            <a:avLst>
              <a:gd name="adj" fmla="val 2759"/>
            </a:avLst>
          </a:prstGeom>
          <a:solidFill>
            <a:schemeClr val="bg2"/>
          </a:solidFill>
          <a:ln w="12700">
            <a:solidFill>
              <a:schemeClr val="bg2"/>
            </a:solidFill>
            <a:prstDash val="solid"/>
          </a:ln>
        </p:spPr>
      </p:sp>
      <p:sp>
        <p:nvSpPr>
          <p:cNvPr id="19" name="text_139"/>
          <p:cNvSpPr txBox="1"/>
          <p:nvPr/>
        </p:nvSpPr>
        <p:spPr>
          <a:xfrm>
            <a:off x="7726680" y="3566160"/>
            <a:ext cx="3657600" cy="320040"/>
          </a:xfrm>
          <a:prstGeom prst="rect">
            <a:avLst/>
          </a:prstGeom>
          <a:noFill/>
          <a:ln/>
        </p:spPr>
        <p:txBody>
          <a:bodyPr wrap="square" lIns="0" tIns="0" rIns="0" bIns="0" rtlCol="0" anchor="t"/>
          <a:lstStyle/>
          <a:p>
            <a:pPr indent="0" marL="0">
              <a:buNone/>
            </a:pPr>
            <a:r>
              <a:rPr lang="en-US" sz="1600" b="1" dirty="0">
                <a:solidFill>
                  <a:schemeClr val="tx2"/>
                </a:solidFill>
              </a:rPr>
              <a:t>Reproduce</a:t>
            </a:r>
            <a:endParaRPr lang="en-US" sz="1600" dirty="0"/>
          </a:p>
        </p:txBody>
      </p:sp>
      <p:sp>
        <p:nvSpPr>
          <p:cNvPr id="20" name="text_140"/>
          <p:cNvSpPr txBox="1"/>
          <p:nvPr/>
        </p:nvSpPr>
        <p:spPr>
          <a:xfrm>
            <a:off x="7726680" y="3977640"/>
            <a:ext cx="3703320" cy="914400"/>
          </a:xfrm>
          <a:prstGeom prst="rect">
            <a:avLst/>
          </a:prstGeom>
          <a:noFill/>
          <a:ln/>
        </p:spPr>
        <p:txBody>
          <a:bodyPr wrap="square" lIns="0" tIns="0" rIns="0" bIns="0" rtlCol="0" anchor="t"/>
          <a:lstStyle/>
          <a:p>
            <a:pPr indent="0" marL="0">
              <a:buNone/>
            </a:pPr>
            <a:r>
              <a:rPr lang="en-US" sz="1200" dirty="0">
                <a:solidFill>
                  <a:schemeClr val="tx2"/>
                </a:solidFill>
                <a:latin typeface="Courier New" pitchFamily="34" charset="0"/>
                <a:ea typeface="Courier New" pitchFamily="34" charset="-122"/>
                <a:cs typeface="Courier New" pitchFamily="34" charset="-120"/>
              </a:rPr>
              <a:t>cd B6\data\code\WanderCar_DotNet</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dotnet test src\FlemanApi.Tests\</a:t>
            </a:r>
            <a:endParaRPr lang="en-US" sz="1200" dirty="0"/>
          </a:p>
          <a:p>
            <a:pPr indent="0" marL="0">
              <a:buNone/>
            </a:pPr>
            <a:r>
              <a:rPr lang="en-US" sz="1200" dirty="0">
                <a:solidFill>
                  <a:schemeClr val="tx2"/>
                </a:solidFill>
                <a:latin typeface="Courier New" pitchFamily="34" charset="0"/>
                <a:ea typeface="Courier New" pitchFamily="34" charset="-122"/>
                <a:cs typeface="Courier New" pitchFamily="34" charset="-120"/>
              </a:rPr>
              <a:t>  FlemanApi.Tests.csproj</a:t>
            </a:r>
            <a:endParaRPr lang="en-US" sz="1200" dirty="0"/>
          </a:p>
        </p:txBody>
      </p:sp>
      <p:sp>
        <p:nvSpPr>
          <p:cNvPr id="21" name="text_141"/>
          <p:cNvSpPr txBox="1"/>
          <p:nvPr/>
        </p:nvSpPr>
        <p:spPr>
          <a:xfrm>
            <a:off x="7726680" y="4983480"/>
            <a:ext cx="3703320" cy="914400"/>
          </a:xfrm>
          <a:prstGeom prst="rect">
            <a:avLst/>
          </a:prstGeom>
          <a:noFill/>
          <a:ln/>
        </p:spPr>
        <p:txBody>
          <a:bodyPr wrap="square" lIns="0" tIns="0" rIns="0" bIns="0" rtlCol="0" anchor="t"/>
          <a:lstStyle/>
          <a:p>
            <a:pPr indent="0" marL="0">
              <a:buNone/>
            </a:pPr>
            <a:r>
              <a:rPr lang="en-US" sz="1200" dirty="0">
                <a:solidFill>
                  <a:schemeClr val="accent4"/>
                </a:solidFill>
              </a:rPr>
              <a:t>Build the test project, not DotnetBackend.slnx — .slnx needs SDK 9.0.200+ and fails on SDK 8 with MSB4068.</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lIns="0" tIns="0" rIns="0" bIns="0" rtlCol="0" anchor="b"/>
          <a:lstStyle/>
          <a:p>
            <a:pPr indent="0" marL="0">
              <a:buNone/>
            </a:pPr>
            <a:r>
              <a:rPr lang="en-US" sz="8800" b="1" dirty="0">
                <a:solidFill>
                  <a:schemeClr val="accent1"/>
                </a:solidFill>
                <a:latin typeface="Cambria" pitchFamily="34" charset="0"/>
                <a:ea typeface="Cambria" pitchFamily="34" charset="-122"/>
                <a:cs typeface="Cambria" pitchFamily="34" charset="-120"/>
              </a:rPr>
              <a:t>02</a:t>
            </a: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Part 1 · Pattern discovery</a:t>
            </a: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lIns="0" tIns="0" rIns="0" bIns="0" rtlCol="0" anchor="t"/>
          <a:lstStyle/>
          <a:p>
            <a:pPr indent="0" marL="0">
              <a:buNone/>
            </a:pPr>
            <a:r>
              <a:rPr lang="en-US" sz="1800" dirty="0">
                <a:solidFill>
                  <a:schemeClr val="bg2"/>
                </a:solidFill>
              </a:rPr>
              <a:t>Which patterns does the original code really contain — with source evidence for every claim</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Discovery method: LLM proposes, source decides</a:t>
            </a:r>
            <a:endParaRPr lang="en-US" sz="3200" dirty="0"/>
          </a:p>
        </p:txBody>
      </p:sp>
      <p:sp>
        <p:nvSpPr>
          <p:cNvPr id="3" name="card_142"/>
          <p:cNvSpPr/>
          <p:nvPr/>
        </p:nvSpPr>
        <p:spPr>
          <a:xfrm>
            <a:off x="548640" y="1371600"/>
            <a:ext cx="2606040" cy="2148840"/>
          </a:xfrm>
          <a:prstGeom prst="roundRect">
            <a:avLst>
              <a:gd name="adj" fmla="val 3404"/>
            </a:avLst>
          </a:prstGeom>
          <a:solidFill>
            <a:schemeClr val="bg2"/>
          </a:solidFill>
          <a:ln w="12700">
            <a:solidFill>
              <a:schemeClr val="bg2"/>
            </a:solidFill>
            <a:prstDash val="solid"/>
          </a:ln>
        </p:spPr>
      </p:sp>
      <p:sp>
        <p:nvSpPr>
          <p:cNvPr id="4" name="num_143"/>
          <p:cNvSpPr txBox="1"/>
          <p:nvPr/>
        </p:nvSpPr>
        <p:spPr>
          <a:xfrm>
            <a:off x="777240" y="1572768"/>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1</a:t>
            </a:r>
            <a:endParaRPr lang="en-US" sz="1500" dirty="0"/>
          </a:p>
        </p:txBody>
      </p:sp>
      <p:sp>
        <p:nvSpPr>
          <p:cNvPr id="5" name="text_144"/>
          <p:cNvSpPr txBox="1"/>
          <p:nvPr/>
        </p:nvSpPr>
        <p:spPr>
          <a:xfrm>
            <a:off x="1371600" y="1591056"/>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Fix the scope</a:t>
            </a:r>
            <a:endParaRPr lang="en-US" sz="1600" dirty="0"/>
          </a:p>
        </p:txBody>
      </p:sp>
      <p:sp>
        <p:nvSpPr>
          <p:cNvPr id="6" name="text_145"/>
          <p:cNvSpPr txBox="1"/>
          <p:nvPr/>
        </p:nvSpPr>
        <p:spPr>
          <a:xfrm>
            <a:off x="777240" y="2194560"/>
            <a:ext cx="2194560" cy="1234440"/>
          </a:xfrm>
          <a:prstGeom prst="rect">
            <a:avLst/>
          </a:prstGeom>
          <a:noFill/>
          <a:ln/>
        </p:spPr>
        <p:txBody>
          <a:bodyPr wrap="square" lIns="0" tIns="0" rIns="0" bIns="0" rtlCol="0" anchor="t"/>
          <a:lstStyle/>
          <a:p>
            <a:pPr indent="0" marL="0">
              <a:buNone/>
            </a:pPr>
            <a:r>
              <a:rPr lang="en-US" sz="1300" dirty="0">
                <a:solidFill>
                  <a:schemeClr val="tx1"/>
                </a:solidFill>
              </a:rPr>
              <a:t>Baseline commit dfc61ab8; file list in inspected_modules.txt</a:t>
            </a:r>
            <a:endParaRPr lang="en-US" sz="1300" dirty="0"/>
          </a:p>
        </p:txBody>
      </p:sp>
      <p:sp>
        <p:nvSpPr>
          <p:cNvPr id="7" name="arrow_146"/>
          <p:cNvSpPr/>
          <p:nvPr/>
        </p:nvSpPr>
        <p:spPr>
          <a:xfrm>
            <a:off x="3182112" y="2441448"/>
            <a:ext cx="182880" cy="914"/>
          </a:xfrm>
          <a:prstGeom prst="line">
            <a:avLst/>
          </a:prstGeom>
          <a:noFill/>
          <a:ln w="19050">
            <a:solidFill>
              <a:schemeClr val="accent1"/>
            </a:solidFill>
            <a:prstDash val="solid"/>
            <a:tailEnd type="triangle"/>
          </a:ln>
        </p:spPr>
      </p:sp>
      <p:sp>
        <p:nvSpPr>
          <p:cNvPr id="8" name="card_147"/>
          <p:cNvSpPr/>
          <p:nvPr/>
        </p:nvSpPr>
        <p:spPr>
          <a:xfrm>
            <a:off x="3392424" y="1371600"/>
            <a:ext cx="2606040" cy="2148840"/>
          </a:xfrm>
          <a:prstGeom prst="roundRect">
            <a:avLst>
              <a:gd name="adj" fmla="val 3404"/>
            </a:avLst>
          </a:prstGeom>
          <a:solidFill>
            <a:schemeClr val="bg2"/>
          </a:solidFill>
          <a:ln w="12700">
            <a:solidFill>
              <a:schemeClr val="bg2"/>
            </a:solidFill>
            <a:prstDash val="solid"/>
          </a:ln>
        </p:spPr>
      </p:sp>
      <p:sp>
        <p:nvSpPr>
          <p:cNvPr id="9" name="num_148"/>
          <p:cNvSpPr txBox="1"/>
          <p:nvPr/>
        </p:nvSpPr>
        <p:spPr>
          <a:xfrm>
            <a:off x="3621024" y="1572768"/>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2</a:t>
            </a:r>
            <a:endParaRPr lang="en-US" sz="1500" dirty="0"/>
          </a:p>
        </p:txBody>
      </p:sp>
      <p:sp>
        <p:nvSpPr>
          <p:cNvPr id="10" name="text_149"/>
          <p:cNvSpPr txBox="1"/>
          <p:nvPr/>
        </p:nvSpPr>
        <p:spPr>
          <a:xfrm>
            <a:off x="4215384" y="1591056"/>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LLM scan</a:t>
            </a:r>
            <a:endParaRPr lang="en-US" sz="1600" dirty="0"/>
          </a:p>
        </p:txBody>
      </p:sp>
      <p:sp>
        <p:nvSpPr>
          <p:cNvPr id="11" name="text_150"/>
          <p:cNvSpPr txBox="1"/>
          <p:nvPr/>
        </p:nvSpPr>
        <p:spPr>
          <a:xfrm>
            <a:off x="3621024" y="2194560"/>
            <a:ext cx="2194560" cy="1234440"/>
          </a:xfrm>
          <a:prstGeom prst="rect">
            <a:avLst/>
          </a:prstGeom>
          <a:noFill/>
          <a:ln/>
        </p:spPr>
        <p:txBody>
          <a:bodyPr wrap="square" lIns="0" tIns="0" rIns="0" bIns="0" rtlCol="0" anchor="t"/>
          <a:lstStyle/>
          <a:p>
            <a:pPr indent="0" marL="0">
              <a:buNone/>
            </a:pPr>
            <a:r>
              <a:rPr lang="en-US" sz="1300" dirty="0">
                <a:solidFill>
                  <a:schemeClr val="tx1"/>
                </a:solidFill>
              </a:rPr>
              <a:t>GPT-5.6 Luna on the extracted source context (2026-10-08); exact prompt saved</a:t>
            </a:r>
            <a:endParaRPr lang="en-US" sz="1300" dirty="0"/>
          </a:p>
        </p:txBody>
      </p:sp>
      <p:sp>
        <p:nvSpPr>
          <p:cNvPr id="12" name="arrow_151"/>
          <p:cNvSpPr/>
          <p:nvPr/>
        </p:nvSpPr>
        <p:spPr>
          <a:xfrm>
            <a:off x="6025896" y="2441448"/>
            <a:ext cx="182880" cy="914"/>
          </a:xfrm>
          <a:prstGeom prst="line">
            <a:avLst/>
          </a:prstGeom>
          <a:noFill/>
          <a:ln w="19050">
            <a:solidFill>
              <a:schemeClr val="accent1"/>
            </a:solidFill>
            <a:prstDash val="solid"/>
            <a:tailEnd type="triangle"/>
          </a:ln>
        </p:spPr>
      </p:sp>
      <p:sp>
        <p:nvSpPr>
          <p:cNvPr id="13" name="card_152"/>
          <p:cNvSpPr/>
          <p:nvPr/>
        </p:nvSpPr>
        <p:spPr>
          <a:xfrm>
            <a:off x="6236208" y="1371600"/>
            <a:ext cx="2606040" cy="2148840"/>
          </a:xfrm>
          <a:prstGeom prst="roundRect">
            <a:avLst>
              <a:gd name="adj" fmla="val 3404"/>
            </a:avLst>
          </a:prstGeom>
          <a:solidFill>
            <a:schemeClr val="bg2"/>
          </a:solidFill>
          <a:ln w="12700">
            <a:solidFill>
              <a:schemeClr val="bg2"/>
            </a:solidFill>
            <a:prstDash val="solid"/>
          </a:ln>
        </p:spPr>
      </p:sp>
      <p:sp>
        <p:nvSpPr>
          <p:cNvPr id="14" name="num_153"/>
          <p:cNvSpPr txBox="1"/>
          <p:nvPr/>
        </p:nvSpPr>
        <p:spPr>
          <a:xfrm>
            <a:off x="6464808" y="1572768"/>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3</a:t>
            </a:r>
            <a:endParaRPr lang="en-US" sz="1500" dirty="0"/>
          </a:p>
        </p:txBody>
      </p:sp>
      <p:sp>
        <p:nvSpPr>
          <p:cNvPr id="15" name="text_154"/>
          <p:cNvSpPr txBox="1"/>
          <p:nvPr/>
        </p:nvSpPr>
        <p:spPr>
          <a:xfrm>
            <a:off x="7059168" y="1591056"/>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Check in code</a:t>
            </a:r>
            <a:endParaRPr lang="en-US" sz="1600" dirty="0"/>
          </a:p>
        </p:txBody>
      </p:sp>
      <p:sp>
        <p:nvSpPr>
          <p:cNvPr id="16" name="text_155"/>
          <p:cNvSpPr txBox="1"/>
          <p:nvPr/>
        </p:nvSpPr>
        <p:spPr>
          <a:xfrm>
            <a:off x="6464808" y="2194560"/>
            <a:ext cx="2194560" cy="1234440"/>
          </a:xfrm>
          <a:prstGeom prst="rect">
            <a:avLst/>
          </a:prstGeom>
          <a:noFill/>
          <a:ln/>
        </p:spPr>
        <p:txBody>
          <a:bodyPr wrap="square" lIns="0" tIns="0" rIns="0" bIns="0" rtlCol="0" anchor="t"/>
          <a:lstStyle/>
          <a:p>
            <a:pPr indent="0" marL="0">
              <a:buNone/>
            </a:pPr>
            <a:r>
              <a:rPr lang="en-US" sz="1300" dirty="0">
                <a:solidFill>
                  <a:schemeClr val="tx1"/>
                </a:solidFill>
              </a:rPr>
              <a:t>Roles, interfaces, calls and delegation traced in the real files</a:t>
            </a:r>
            <a:endParaRPr lang="en-US" sz="1300" dirty="0"/>
          </a:p>
        </p:txBody>
      </p:sp>
      <p:sp>
        <p:nvSpPr>
          <p:cNvPr id="17" name="arrow_156"/>
          <p:cNvSpPr/>
          <p:nvPr/>
        </p:nvSpPr>
        <p:spPr>
          <a:xfrm>
            <a:off x="8869680" y="2441448"/>
            <a:ext cx="182880" cy="914"/>
          </a:xfrm>
          <a:prstGeom prst="line">
            <a:avLst/>
          </a:prstGeom>
          <a:noFill/>
          <a:ln w="19050">
            <a:solidFill>
              <a:schemeClr val="accent1"/>
            </a:solidFill>
            <a:prstDash val="solid"/>
            <a:tailEnd type="triangle"/>
          </a:ln>
        </p:spPr>
      </p:sp>
      <p:sp>
        <p:nvSpPr>
          <p:cNvPr id="18" name="card_157"/>
          <p:cNvSpPr/>
          <p:nvPr/>
        </p:nvSpPr>
        <p:spPr>
          <a:xfrm>
            <a:off x="9079992" y="1371600"/>
            <a:ext cx="2606040" cy="2148840"/>
          </a:xfrm>
          <a:prstGeom prst="roundRect">
            <a:avLst>
              <a:gd name="adj" fmla="val 3404"/>
            </a:avLst>
          </a:prstGeom>
          <a:solidFill>
            <a:schemeClr val="bg2"/>
          </a:solidFill>
          <a:ln w="12700">
            <a:solidFill>
              <a:schemeClr val="bg2"/>
            </a:solidFill>
            <a:prstDash val="solid"/>
          </a:ln>
        </p:spPr>
      </p:sp>
      <p:sp>
        <p:nvSpPr>
          <p:cNvPr id="19" name="num_158"/>
          <p:cNvSpPr txBox="1"/>
          <p:nvPr/>
        </p:nvSpPr>
        <p:spPr>
          <a:xfrm>
            <a:off x="9308592" y="1572768"/>
            <a:ext cx="457200" cy="457200"/>
          </a:xfrm>
          <a:prstGeom prst="ellipse">
            <a:avLst/>
          </a:prstGeom>
          <a:solidFill>
            <a:schemeClr val="tx2"/>
          </a:solidFill>
          <a:ln>
            <a:solidFill>
              <a:schemeClr val="tx2"/>
            </a:solidFill>
          </a:ln>
        </p:spPr>
        <p:txBody>
          <a:bodyPr wrap="square" lIns="0" tIns="0" rIns="0" bIns="0" rtlCol="0" anchor="ctr"/>
          <a:lstStyle/>
          <a:p>
            <a:pPr algn="ctr" indent="0" marL="0">
              <a:buNone/>
            </a:pPr>
            <a:r>
              <a:rPr lang="en-US" sz="1500" b="1" dirty="0">
                <a:solidFill>
                  <a:schemeClr val="bg1"/>
                </a:solidFill>
                <a:latin typeface="Cambria" pitchFamily="34" charset="0"/>
                <a:ea typeface="Cambria" pitchFamily="34" charset="-122"/>
                <a:cs typeface="Cambria" pitchFamily="34" charset="-120"/>
              </a:rPr>
              <a:t>4</a:t>
            </a:r>
            <a:endParaRPr lang="en-US" sz="1500" dirty="0"/>
          </a:p>
        </p:txBody>
      </p:sp>
      <p:sp>
        <p:nvSpPr>
          <p:cNvPr id="20" name="text_159"/>
          <p:cNvSpPr txBox="1"/>
          <p:nvPr/>
        </p:nvSpPr>
        <p:spPr>
          <a:xfrm>
            <a:off x="9902952" y="1591056"/>
            <a:ext cx="1691640" cy="411480"/>
          </a:xfrm>
          <a:prstGeom prst="rect">
            <a:avLst/>
          </a:prstGeom>
          <a:noFill/>
          <a:ln/>
        </p:spPr>
        <p:txBody>
          <a:bodyPr wrap="square" lIns="0" tIns="0" rIns="0" bIns="0" rtlCol="0" anchor="ctr"/>
          <a:lstStyle/>
          <a:p>
            <a:pPr indent="0" marL="0">
              <a:buNone/>
            </a:pPr>
            <a:r>
              <a:rPr lang="en-US" sz="1600" b="1" dirty="0">
                <a:solidFill>
                  <a:schemeClr val="tx2"/>
                </a:solidFill>
              </a:rPr>
              <a:t>Classify</a:t>
            </a:r>
            <a:endParaRPr lang="en-US" sz="1600" dirty="0"/>
          </a:p>
        </p:txBody>
      </p:sp>
      <p:sp>
        <p:nvSpPr>
          <p:cNvPr id="21" name="text_160"/>
          <p:cNvSpPr txBox="1"/>
          <p:nvPr/>
        </p:nvSpPr>
        <p:spPr>
          <a:xfrm>
            <a:off x="9308592" y="2194560"/>
            <a:ext cx="2194560" cy="1234440"/>
          </a:xfrm>
          <a:prstGeom prst="rect">
            <a:avLst/>
          </a:prstGeom>
          <a:noFill/>
          <a:ln/>
        </p:spPr>
        <p:txBody>
          <a:bodyPr wrap="square" lIns="0" tIns="0" rIns="0" bIns="0" rtlCol="0" anchor="t"/>
          <a:lstStyle/>
          <a:p>
            <a:pPr indent="0" marL="0">
              <a:buNone/>
            </a:pPr>
            <a:r>
              <a:rPr lang="en-US" sz="1300" dirty="0">
                <a:solidFill>
                  <a:schemeClr val="tx1"/>
                </a:solidFill>
              </a:rPr>
              <a:t>Confirmed, uncertain or rejected — each with a written reason</a:t>
            </a:r>
            <a:endParaRPr lang="en-US" sz="1300" dirty="0"/>
          </a:p>
        </p:txBody>
      </p:sp>
      <p:sp>
        <p:nvSpPr>
          <p:cNvPr id="22" name="card_161"/>
          <p:cNvSpPr/>
          <p:nvPr/>
        </p:nvSpPr>
        <p:spPr>
          <a:xfrm>
            <a:off x="548640" y="3840480"/>
            <a:ext cx="3566160" cy="2194560"/>
          </a:xfrm>
          <a:prstGeom prst="roundRect">
            <a:avLst>
              <a:gd name="adj" fmla="val 3333"/>
            </a:avLst>
          </a:prstGeom>
          <a:solidFill>
            <a:schemeClr val="accent2"/>
          </a:solidFill>
          <a:ln w="12700">
            <a:solidFill>
              <a:schemeClr val="accent2"/>
            </a:solidFill>
            <a:prstDash val="solid"/>
          </a:ln>
        </p:spPr>
      </p:sp>
      <p:sp>
        <p:nvSpPr>
          <p:cNvPr id="23" name="text_162"/>
          <p:cNvSpPr txBox="1"/>
          <p:nvPr/>
        </p:nvSpPr>
        <p:spPr>
          <a:xfrm>
            <a:off x="777240" y="4023360"/>
            <a:ext cx="3108960" cy="1141171"/>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9</a:t>
            </a:r>
            <a:endParaRPr lang="en-US" sz="4000" dirty="0"/>
          </a:p>
        </p:txBody>
      </p:sp>
      <p:sp>
        <p:nvSpPr>
          <p:cNvPr id="24" name="text_163"/>
          <p:cNvSpPr txBox="1"/>
          <p:nvPr/>
        </p:nvSpPr>
        <p:spPr>
          <a:xfrm>
            <a:off x="777240" y="5210251"/>
            <a:ext cx="3108960" cy="733349"/>
          </a:xfrm>
          <a:prstGeom prst="rect">
            <a:avLst/>
          </a:prstGeom>
          <a:noFill/>
          <a:ln/>
        </p:spPr>
        <p:txBody>
          <a:bodyPr wrap="square" lIns="0" tIns="0" rIns="0" bIns="0" rtlCol="0" anchor="t"/>
          <a:lstStyle/>
          <a:p>
            <a:pPr indent="0" marL="0">
              <a:buNone/>
            </a:pPr>
            <a:r>
              <a:rPr lang="en-US" sz="1300" dirty="0">
                <a:solidFill>
                  <a:schemeClr val="bg1"/>
                </a:solidFill>
              </a:rPr>
              <a:t>confirmed — one instance per pattern type</a:t>
            </a:r>
            <a:endParaRPr lang="en-US" sz="1300" dirty="0"/>
          </a:p>
        </p:txBody>
      </p:sp>
      <p:sp>
        <p:nvSpPr>
          <p:cNvPr id="25" name="card_164"/>
          <p:cNvSpPr/>
          <p:nvPr/>
        </p:nvSpPr>
        <p:spPr>
          <a:xfrm>
            <a:off x="4315968" y="3840480"/>
            <a:ext cx="3566160" cy="2194560"/>
          </a:xfrm>
          <a:prstGeom prst="roundRect">
            <a:avLst>
              <a:gd name="adj" fmla="val 3333"/>
            </a:avLst>
          </a:prstGeom>
          <a:solidFill>
            <a:schemeClr val="accent1"/>
          </a:solidFill>
          <a:ln w="12700">
            <a:solidFill>
              <a:schemeClr val="accent1"/>
            </a:solidFill>
            <a:prstDash val="solid"/>
          </a:ln>
        </p:spPr>
      </p:sp>
      <p:sp>
        <p:nvSpPr>
          <p:cNvPr id="26" name="text_165"/>
          <p:cNvSpPr txBox="1"/>
          <p:nvPr/>
        </p:nvSpPr>
        <p:spPr>
          <a:xfrm>
            <a:off x="4544568" y="4023360"/>
            <a:ext cx="3108960" cy="1141171"/>
          </a:xfrm>
          <a:prstGeom prst="rect">
            <a:avLst/>
          </a:prstGeom>
          <a:noFill/>
          <a:ln/>
        </p:spPr>
        <p:txBody>
          <a:bodyPr wrap="square" lIns="0" tIns="0" rIns="0" bIns="0" rtlCol="0" anchor="b"/>
          <a:lstStyle/>
          <a:p>
            <a:pPr indent="0" marL="0">
              <a:buNone/>
            </a:pPr>
            <a:r>
              <a:rPr lang="en-US" sz="4000" b="1" dirty="0">
                <a:solidFill>
                  <a:schemeClr val="tx1"/>
                </a:solidFill>
                <a:latin typeface="Cambria" pitchFamily="34" charset="0"/>
                <a:ea typeface="Cambria" pitchFamily="34" charset="-122"/>
                <a:cs typeface="Cambria" pitchFamily="34" charset="-120"/>
              </a:rPr>
              <a:t>3</a:t>
            </a:r>
            <a:endParaRPr lang="en-US" sz="4000" dirty="0"/>
          </a:p>
        </p:txBody>
      </p:sp>
      <p:sp>
        <p:nvSpPr>
          <p:cNvPr id="27" name="text_166"/>
          <p:cNvSpPr txBox="1"/>
          <p:nvPr/>
        </p:nvSpPr>
        <p:spPr>
          <a:xfrm>
            <a:off x="4544568" y="5210251"/>
            <a:ext cx="3108960" cy="733349"/>
          </a:xfrm>
          <a:prstGeom prst="rect">
            <a:avLst/>
          </a:prstGeom>
          <a:noFill/>
          <a:ln/>
        </p:spPr>
        <p:txBody>
          <a:bodyPr wrap="square" lIns="0" tIns="0" rIns="0" bIns="0" rtlCol="0" anchor="t"/>
          <a:lstStyle/>
          <a:p>
            <a:pPr indent="0" marL="0">
              <a:buNone/>
            </a:pPr>
            <a:r>
              <a:rPr lang="en-US" sz="1300" dirty="0">
                <a:solidFill>
                  <a:schemeClr val="tx1"/>
                </a:solidFill>
              </a:rPr>
              <a:t>uncertain — structure present, intent not provable</a:t>
            </a:r>
            <a:endParaRPr lang="en-US" sz="1300" dirty="0"/>
          </a:p>
        </p:txBody>
      </p:sp>
      <p:sp>
        <p:nvSpPr>
          <p:cNvPr id="28" name="card_167"/>
          <p:cNvSpPr/>
          <p:nvPr/>
        </p:nvSpPr>
        <p:spPr>
          <a:xfrm>
            <a:off x="8083296" y="3840480"/>
            <a:ext cx="3557016" cy="2194560"/>
          </a:xfrm>
          <a:prstGeom prst="roundRect">
            <a:avLst>
              <a:gd name="adj" fmla="val 3333"/>
            </a:avLst>
          </a:prstGeom>
          <a:solidFill>
            <a:schemeClr val="accent3"/>
          </a:solidFill>
          <a:ln w="12700">
            <a:solidFill>
              <a:schemeClr val="accent3"/>
            </a:solidFill>
            <a:prstDash val="solid"/>
          </a:ln>
        </p:spPr>
      </p:sp>
      <p:sp>
        <p:nvSpPr>
          <p:cNvPr id="29" name="text_168"/>
          <p:cNvSpPr txBox="1"/>
          <p:nvPr/>
        </p:nvSpPr>
        <p:spPr>
          <a:xfrm>
            <a:off x="8311896" y="4023360"/>
            <a:ext cx="3099816" cy="1141171"/>
          </a:xfrm>
          <a:prstGeom prst="rect">
            <a:avLst/>
          </a:prstGeom>
          <a:noFill/>
          <a:ln/>
        </p:spPr>
        <p:txBody>
          <a:bodyPr wrap="square" lIns="0" tIns="0" rIns="0" bIns="0" rtlCol="0" anchor="b"/>
          <a:lstStyle/>
          <a:p>
            <a:pPr indent="0" marL="0">
              <a:buNone/>
            </a:pPr>
            <a:r>
              <a:rPr lang="en-US" sz="4000" b="1" dirty="0">
                <a:solidFill>
                  <a:schemeClr val="bg1"/>
                </a:solidFill>
                <a:latin typeface="Cambria" pitchFamily="34" charset="0"/>
                <a:ea typeface="Cambria" pitchFamily="34" charset="-122"/>
                <a:cs typeface="Cambria" pitchFamily="34" charset="-120"/>
              </a:rPr>
              <a:t>9</a:t>
            </a:r>
            <a:endParaRPr lang="en-US" sz="4000" dirty="0"/>
          </a:p>
        </p:txBody>
      </p:sp>
      <p:sp>
        <p:nvSpPr>
          <p:cNvPr id="30" name="text_169"/>
          <p:cNvSpPr txBox="1"/>
          <p:nvPr/>
        </p:nvSpPr>
        <p:spPr>
          <a:xfrm>
            <a:off x="8311896" y="5210251"/>
            <a:ext cx="3099816" cy="733349"/>
          </a:xfrm>
          <a:prstGeom prst="rect">
            <a:avLst/>
          </a:prstGeom>
          <a:noFill/>
          <a:ln/>
        </p:spPr>
        <p:txBody>
          <a:bodyPr wrap="square" lIns="0" tIns="0" rIns="0" bIns="0" rtlCol="0" anchor="t"/>
          <a:lstStyle/>
          <a:p>
            <a:pPr indent="0" marL="0">
              <a:buNone/>
            </a:pPr>
            <a:r>
              <a:rPr lang="en-US" sz="1300" dirty="0">
                <a:solidFill>
                  <a:schemeClr val="bg1"/>
                </a:solidFill>
              </a:rPr>
              <a:t>rejected — framework APIs or naming only</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Pattern inventory of the original code</a:t>
            </a:r>
            <a:endParaRPr lang="en-US" sz="3200" dirty="0"/>
          </a:p>
        </p:txBody>
      </p:sp>
      <p:graphicFrame>
        <p:nvGraphicFramePr>
          <p:cNvPr id="11" name="table_170"/>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65760"/>
                <a:gridCol w="2514600"/>
                <a:gridCol w="1325880"/>
                <a:gridCol w="2606040"/>
                <a:gridCol w="4279392"/>
              </a:tblGrid>
              <a:tr h="457200">
                <a:tc>
                  <a:txBody>
                    <a:bodyPr/>
                    <a:lstStyle/>
                    <a:p>
                      <a:pPr indent="0" marL="0">
                        <a:buNone/>
                      </a:pPr>
                      <a:r>
                        <a:rPr lang="en-US" sz="1200" b="1" dirty="0">
                          <a:solidFill>
                            <a:schemeClr val="bg1"/>
                          </a:solidFill>
                        </a:rPr>
                        <a: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Pattern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Category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Instance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Key participants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Repository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Enterprise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Generic Repository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IGenericRepository, GenericRepository, FlemanDbContext; clients VehicleService, BookingService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Dependency Injection / IoC</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Architectural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ASP.NET Core DI Composition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Interface → implementation bindings in Program.cs; constructor-injected services and controllers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3</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Service Layer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Enterprise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Booking Service Layer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BookingController → IBookingService → BookingService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4</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Middleware Pipeline / Chain of Resp.</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Architectural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Request Middleware Chain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ExceptionHandlingMiddleware, RequestLoggingMiddleware, each calling _next(context)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5</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Producer–Consumer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Concurrency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Email Background Work Queue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EmailService → EmailBackgroundQueue (bounded Channel) → EmailQueueHostedService → MailKitEmailSender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6</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Adapter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Structural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Java Microservice Adapter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IJavaMicroserviceClient, JavaMicroserviceClient (HttpClient, Java JSON/DateTime)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7</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Proxy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Structural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Legacy API Proxy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LegacyProxyController forwards /api/legacy through IJavaMicroserviceClient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8</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Strangler Fig</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Modernisation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Legacy Java Integration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JavaMicroserviceClient, JavaInvoicePdfService, LegacyProxyController, Program.cs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9</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DTO</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Enterprise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API Request/Response DTO Boundary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CarDTO, BookingResponseDTO, CreateBookingRequest …; services map entities to DTOs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bl>
          </a:graphicData>
        </a:graphic>
      </p:graphicFrame>
      <p:sp>
        <p:nvSpPr>
          <p:cNvPr id="4" name="text_171"/>
          <p:cNvSpPr txBox="1"/>
          <p:nvPr/>
        </p:nvSpPr>
        <p:spPr>
          <a:xfrm>
            <a:off x="548640" y="59893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Totals at baseline: 9 distinct pattern types · 9 instances · source: Part1/part1_patterns.csv</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Two instance records in detail</a:t>
            </a:r>
            <a:endParaRPr lang="en-US" sz="3200" dirty="0"/>
          </a:p>
        </p:txBody>
      </p:sp>
      <p:sp>
        <p:nvSpPr>
          <p:cNvPr id="3" name="card_172"/>
          <p:cNvSpPr/>
          <p:nvPr/>
        </p:nvSpPr>
        <p:spPr>
          <a:xfrm>
            <a:off x="548640" y="1371600"/>
            <a:ext cx="5440680" cy="4663440"/>
          </a:xfrm>
          <a:prstGeom prst="roundRect">
            <a:avLst>
              <a:gd name="adj" fmla="val 1569"/>
            </a:avLst>
          </a:prstGeom>
          <a:solidFill>
            <a:schemeClr val="bg2"/>
          </a:solidFill>
          <a:ln w="12700">
            <a:solidFill>
              <a:schemeClr val="bg2"/>
            </a:solidFill>
            <a:prstDash val="solid"/>
          </a:ln>
        </p:spPr>
      </p:sp>
      <p:sp>
        <p:nvSpPr>
          <p:cNvPr id="4" name="chip_173"/>
          <p:cNvSpPr txBox="1"/>
          <p:nvPr/>
        </p:nvSpPr>
        <p:spPr>
          <a:xfrm>
            <a:off x="822960" y="1554480"/>
            <a:ext cx="118872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5" name="text_174"/>
          <p:cNvSpPr txBox="1"/>
          <p:nvPr/>
        </p:nvSpPr>
        <p:spPr>
          <a:xfrm>
            <a:off x="2148840" y="1536192"/>
            <a:ext cx="3657600" cy="347472"/>
          </a:xfrm>
          <a:prstGeom prst="rect">
            <a:avLst/>
          </a:prstGeom>
          <a:noFill/>
          <a:ln/>
        </p:spPr>
        <p:txBody>
          <a:bodyPr wrap="square" lIns="0" tIns="0" rIns="0" bIns="0" rtlCol="0" anchor="t"/>
          <a:lstStyle/>
          <a:p>
            <a:pPr indent="0" marL="0">
              <a:buNone/>
            </a:pPr>
            <a:r>
              <a:rPr lang="en-US" sz="1700" b="1" dirty="0">
                <a:solidFill>
                  <a:schemeClr val="tx2"/>
                </a:solidFill>
              </a:rPr>
              <a:t>Generic Repository</a:t>
            </a:r>
            <a:endParaRPr lang="en-US" sz="1700" dirty="0"/>
          </a:p>
        </p:txBody>
      </p:sp>
      <p:sp>
        <p:nvSpPr>
          <p:cNvPr id="6" name="box_175"/>
          <p:cNvSpPr txBox="1"/>
          <p:nvPr/>
        </p:nvSpPr>
        <p:spPr>
          <a:xfrm>
            <a:off x="914400" y="2103120"/>
            <a:ext cx="22402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VehicleService</a:t>
            </a:r>
            <a:endParaRPr lang="en-US" sz="1400" dirty="0"/>
          </a:p>
          <a:p>
            <a:pPr algn="ctr" indent="0" marL="0">
              <a:buNone/>
            </a:pPr>
            <a:r>
              <a:rPr lang="en-US" sz="1100" dirty="0">
                <a:solidFill>
                  <a:schemeClr val="accent4"/>
                </a:solidFill>
              </a:rPr>
              <a:t>Client</a:t>
            </a:r>
            <a:endParaRPr lang="en-US" sz="1400" dirty="0"/>
          </a:p>
        </p:txBody>
      </p:sp>
      <p:sp>
        <p:nvSpPr>
          <p:cNvPr id="7" name="box_176"/>
          <p:cNvSpPr txBox="1"/>
          <p:nvPr/>
        </p:nvSpPr>
        <p:spPr>
          <a:xfrm>
            <a:off x="3383280" y="2103120"/>
            <a:ext cx="22402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BookingService</a:t>
            </a:r>
            <a:endParaRPr lang="en-US" sz="1400" dirty="0"/>
          </a:p>
          <a:p>
            <a:pPr algn="ctr" indent="0" marL="0">
              <a:buNone/>
            </a:pPr>
            <a:r>
              <a:rPr lang="en-US" sz="1100" dirty="0">
                <a:solidFill>
                  <a:schemeClr val="accent4"/>
                </a:solidFill>
              </a:rPr>
              <a:t>Client</a:t>
            </a:r>
            <a:endParaRPr lang="en-US" sz="1400" dirty="0"/>
          </a:p>
        </p:txBody>
      </p:sp>
      <p:sp>
        <p:nvSpPr>
          <p:cNvPr id="8" name="box_177"/>
          <p:cNvSpPr txBox="1"/>
          <p:nvPr/>
        </p:nvSpPr>
        <p:spPr>
          <a:xfrm>
            <a:off x="1463040" y="297180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IGenericRepository&lt;TEntity,TKey&gt;</a:t>
            </a:r>
            <a:endParaRPr lang="en-US" sz="1400" dirty="0"/>
          </a:p>
          <a:p>
            <a:pPr algn="ctr" indent="0" marL="0">
              <a:buNone/>
            </a:pPr>
            <a:r>
              <a:rPr lang="en-US" sz="1100" dirty="0">
                <a:solidFill>
                  <a:schemeClr val="accent4"/>
                </a:solidFill>
              </a:rPr>
              <a:t>Repository abstraction</a:t>
            </a:r>
            <a:endParaRPr lang="en-US" sz="1400" dirty="0"/>
          </a:p>
        </p:txBody>
      </p:sp>
      <p:sp>
        <p:nvSpPr>
          <p:cNvPr id="9" name="box_178"/>
          <p:cNvSpPr txBox="1"/>
          <p:nvPr/>
        </p:nvSpPr>
        <p:spPr>
          <a:xfrm>
            <a:off x="1463040" y="384048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GenericRepository&lt;TEntity,TKey&gt;</a:t>
            </a:r>
            <a:endParaRPr lang="en-US" sz="1400" dirty="0"/>
          </a:p>
          <a:p>
            <a:pPr algn="ctr" indent="0" marL="0">
              <a:buNone/>
            </a:pPr>
            <a:r>
              <a:rPr lang="en-US" sz="1100" dirty="0">
                <a:solidFill>
                  <a:schemeClr val="accent4"/>
                </a:solidFill>
              </a:rPr>
              <a:t>Concrete repository</a:t>
            </a:r>
            <a:endParaRPr lang="en-US" sz="1400" dirty="0"/>
          </a:p>
        </p:txBody>
      </p:sp>
      <p:sp>
        <p:nvSpPr>
          <p:cNvPr id="10" name="box_179"/>
          <p:cNvSpPr txBox="1"/>
          <p:nvPr/>
        </p:nvSpPr>
        <p:spPr>
          <a:xfrm>
            <a:off x="1463040" y="470916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FlemanDbContext → MySQL</a:t>
            </a:r>
            <a:endParaRPr lang="en-US" sz="1400" dirty="0"/>
          </a:p>
          <a:p>
            <a:pPr algn="ctr" indent="0" marL="0">
              <a:buNone/>
            </a:pPr>
            <a:r>
              <a:rPr lang="en-US" sz="1100" dirty="0">
                <a:solidFill>
                  <a:schemeClr val="accent4"/>
                </a:solidFill>
              </a:rPr>
              <a:t>Persistence context</a:t>
            </a:r>
            <a:endParaRPr lang="en-US" sz="1400" dirty="0"/>
          </a:p>
        </p:txBody>
      </p:sp>
      <p:sp>
        <p:nvSpPr>
          <p:cNvPr id="11" name="arrow_180"/>
          <p:cNvSpPr/>
          <p:nvPr/>
        </p:nvSpPr>
        <p:spPr>
          <a:xfrm>
            <a:off x="2039112" y="2651760"/>
            <a:ext cx="612648" cy="320040"/>
          </a:xfrm>
          <a:prstGeom prst="line">
            <a:avLst/>
          </a:prstGeom>
          <a:noFill/>
          <a:ln w="19050">
            <a:solidFill>
              <a:schemeClr val="accent4"/>
            </a:solidFill>
            <a:prstDash val="solid"/>
            <a:tailEnd type="triangle"/>
          </a:ln>
        </p:spPr>
      </p:sp>
      <p:sp>
        <p:nvSpPr>
          <p:cNvPr id="12" name="arrow_181"/>
          <p:cNvSpPr/>
          <p:nvPr/>
        </p:nvSpPr>
        <p:spPr>
          <a:xfrm flipH="1">
            <a:off x="3886200" y="2651760"/>
            <a:ext cx="621792" cy="320040"/>
          </a:xfrm>
          <a:prstGeom prst="line">
            <a:avLst/>
          </a:prstGeom>
          <a:noFill/>
          <a:ln w="19050">
            <a:solidFill>
              <a:schemeClr val="accent4"/>
            </a:solidFill>
            <a:prstDash val="solid"/>
            <a:tailEnd type="triangle"/>
          </a:ln>
        </p:spPr>
      </p:sp>
      <p:sp>
        <p:nvSpPr>
          <p:cNvPr id="13" name="arrow_182"/>
          <p:cNvSpPr/>
          <p:nvPr/>
        </p:nvSpPr>
        <p:spPr>
          <a:xfrm>
            <a:off x="3273552" y="3520440"/>
            <a:ext cx="914" cy="320040"/>
          </a:xfrm>
          <a:prstGeom prst="line">
            <a:avLst/>
          </a:prstGeom>
          <a:noFill/>
          <a:ln w="19050">
            <a:solidFill>
              <a:schemeClr val="accent4"/>
            </a:solidFill>
            <a:prstDash val="solid"/>
            <a:tailEnd type="triangle"/>
          </a:ln>
        </p:spPr>
      </p:sp>
      <p:sp>
        <p:nvSpPr>
          <p:cNvPr id="14" name="arrow_183"/>
          <p:cNvSpPr/>
          <p:nvPr/>
        </p:nvSpPr>
        <p:spPr>
          <a:xfrm>
            <a:off x="3273552" y="4389120"/>
            <a:ext cx="914" cy="320040"/>
          </a:xfrm>
          <a:prstGeom prst="line">
            <a:avLst/>
          </a:prstGeom>
          <a:noFill/>
          <a:ln w="19050">
            <a:solidFill>
              <a:schemeClr val="accent4"/>
            </a:solidFill>
            <a:prstDash val="solid"/>
            <a:tailEnd type="triangle"/>
          </a:ln>
        </p:spPr>
      </p:sp>
      <p:sp>
        <p:nvSpPr>
          <p:cNvPr id="15" name="text_184"/>
          <p:cNvSpPr txBox="1"/>
          <p:nvPr/>
        </p:nvSpPr>
        <p:spPr>
          <a:xfrm>
            <a:off x="822960" y="5394960"/>
            <a:ext cx="4937760" cy="548640"/>
          </a:xfrm>
          <a:prstGeom prst="rect">
            <a:avLst/>
          </a:prstGeom>
          <a:noFill/>
          <a:ln/>
        </p:spPr>
        <p:txBody>
          <a:bodyPr wrap="square" lIns="0" tIns="0" rIns="0" bIns="0" rtlCol="0" anchor="t"/>
          <a:lstStyle/>
          <a:p>
            <a:pPr indent="0" marL="0">
              <a:buNone/>
            </a:pPr>
            <a:r>
              <a:rPr lang="en-US" sz="1200" dirty="0">
                <a:solidFill>
                  <a:schemeClr val="accent4"/>
                </a:solidFill>
              </a:rPr>
              <a:t>Services see only the interface; CRUD and query logic over DbSet lives in one generic class.</a:t>
            </a:r>
            <a:endParaRPr lang="en-US" sz="1200" dirty="0"/>
          </a:p>
        </p:txBody>
      </p:sp>
      <p:sp>
        <p:nvSpPr>
          <p:cNvPr id="16" name="card_185"/>
          <p:cNvSpPr/>
          <p:nvPr/>
        </p:nvSpPr>
        <p:spPr>
          <a:xfrm>
            <a:off x="6199632" y="1371600"/>
            <a:ext cx="5440680" cy="4663440"/>
          </a:xfrm>
          <a:prstGeom prst="roundRect">
            <a:avLst>
              <a:gd name="adj" fmla="val 1569"/>
            </a:avLst>
          </a:prstGeom>
          <a:solidFill>
            <a:schemeClr val="bg2"/>
          </a:solidFill>
          <a:ln w="12700">
            <a:solidFill>
              <a:schemeClr val="bg2"/>
            </a:solidFill>
            <a:prstDash val="solid"/>
          </a:ln>
        </p:spPr>
      </p:sp>
      <p:sp>
        <p:nvSpPr>
          <p:cNvPr id="17" name="chip_186"/>
          <p:cNvSpPr txBox="1"/>
          <p:nvPr/>
        </p:nvSpPr>
        <p:spPr>
          <a:xfrm>
            <a:off x="6473952" y="1554480"/>
            <a:ext cx="178308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Producer–Consumer</a:t>
            </a:r>
            <a:endParaRPr lang="en-US" sz="1100" dirty="0"/>
          </a:p>
        </p:txBody>
      </p:sp>
      <p:sp>
        <p:nvSpPr>
          <p:cNvPr id="18" name="text_187"/>
          <p:cNvSpPr txBox="1"/>
          <p:nvPr/>
        </p:nvSpPr>
        <p:spPr>
          <a:xfrm>
            <a:off x="8394192" y="1536192"/>
            <a:ext cx="3200400" cy="347472"/>
          </a:xfrm>
          <a:prstGeom prst="rect">
            <a:avLst/>
          </a:prstGeom>
          <a:noFill/>
          <a:ln/>
        </p:spPr>
        <p:txBody>
          <a:bodyPr wrap="square" lIns="0" tIns="0" rIns="0" bIns="0" rtlCol="0" anchor="t"/>
          <a:lstStyle/>
          <a:p>
            <a:pPr indent="0" marL="0">
              <a:buNone/>
            </a:pPr>
            <a:r>
              <a:rPr lang="en-US" sz="1700" b="1" dirty="0">
                <a:solidFill>
                  <a:schemeClr val="tx2"/>
                </a:solidFill>
              </a:rPr>
              <a:t>Email Background Work Queue</a:t>
            </a:r>
            <a:endParaRPr lang="en-US" sz="1700" dirty="0"/>
          </a:p>
        </p:txBody>
      </p:sp>
      <p:sp>
        <p:nvSpPr>
          <p:cNvPr id="19" name="box_188"/>
          <p:cNvSpPr txBox="1"/>
          <p:nvPr/>
        </p:nvSpPr>
        <p:spPr>
          <a:xfrm>
            <a:off x="7114032" y="210312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EmailService</a:t>
            </a:r>
            <a:endParaRPr lang="en-US" sz="1400" dirty="0"/>
          </a:p>
          <a:p>
            <a:pPr algn="ctr" indent="0" marL="0">
              <a:buNone/>
            </a:pPr>
            <a:r>
              <a:rPr lang="en-US" sz="1100" dirty="0">
                <a:solidFill>
                  <a:schemeClr val="accent4"/>
                </a:solidFill>
              </a:rPr>
              <a:t>Producer — enqueues a work item</a:t>
            </a:r>
            <a:endParaRPr lang="en-US" sz="1400" dirty="0"/>
          </a:p>
        </p:txBody>
      </p:sp>
      <p:sp>
        <p:nvSpPr>
          <p:cNvPr id="20" name="box_189"/>
          <p:cNvSpPr txBox="1"/>
          <p:nvPr/>
        </p:nvSpPr>
        <p:spPr>
          <a:xfrm>
            <a:off x="7114032" y="297180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EmailBackgroundQueue</a:t>
            </a:r>
            <a:endParaRPr lang="en-US" sz="1400" dirty="0"/>
          </a:p>
          <a:p>
            <a:pPr algn="ctr" indent="0" marL="0">
              <a:buNone/>
            </a:pPr>
            <a:r>
              <a:rPr lang="en-US" sz="1100" dirty="0">
                <a:solidFill>
                  <a:schemeClr val="accent4"/>
                </a:solidFill>
              </a:rPr>
              <a:t>Bounded System.Threading.Channel</a:t>
            </a:r>
            <a:endParaRPr lang="en-US" sz="1400" dirty="0"/>
          </a:p>
        </p:txBody>
      </p:sp>
      <p:sp>
        <p:nvSpPr>
          <p:cNvPr id="21" name="arrow_190"/>
          <p:cNvSpPr/>
          <p:nvPr/>
        </p:nvSpPr>
        <p:spPr>
          <a:xfrm>
            <a:off x="8924544" y="2651760"/>
            <a:ext cx="914" cy="320040"/>
          </a:xfrm>
          <a:prstGeom prst="line">
            <a:avLst/>
          </a:prstGeom>
          <a:noFill/>
          <a:ln w="19050">
            <a:solidFill>
              <a:schemeClr val="accent4"/>
            </a:solidFill>
            <a:prstDash val="solid"/>
            <a:tailEnd type="triangle"/>
          </a:ln>
        </p:spPr>
      </p:sp>
      <p:sp>
        <p:nvSpPr>
          <p:cNvPr id="22" name="box_191"/>
          <p:cNvSpPr txBox="1"/>
          <p:nvPr/>
        </p:nvSpPr>
        <p:spPr>
          <a:xfrm>
            <a:off x="7114032" y="384048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EmailQueueHostedService</a:t>
            </a:r>
            <a:endParaRPr lang="en-US" sz="1400" dirty="0"/>
          </a:p>
          <a:p>
            <a:pPr algn="ctr" indent="0" marL="0">
              <a:buNone/>
            </a:pPr>
            <a:r>
              <a:rPr lang="en-US" sz="1100" dirty="0">
                <a:solidFill>
                  <a:schemeClr val="accent4"/>
                </a:solidFill>
              </a:rPr>
              <a:t>Consumer — background worker</a:t>
            </a:r>
            <a:endParaRPr lang="en-US" sz="1400" dirty="0"/>
          </a:p>
        </p:txBody>
      </p:sp>
      <p:sp>
        <p:nvSpPr>
          <p:cNvPr id="23" name="arrow_192"/>
          <p:cNvSpPr/>
          <p:nvPr/>
        </p:nvSpPr>
        <p:spPr>
          <a:xfrm>
            <a:off x="8924544" y="3520440"/>
            <a:ext cx="914" cy="320040"/>
          </a:xfrm>
          <a:prstGeom prst="line">
            <a:avLst/>
          </a:prstGeom>
          <a:noFill/>
          <a:ln w="19050">
            <a:solidFill>
              <a:schemeClr val="accent4"/>
            </a:solidFill>
            <a:prstDash val="solid"/>
            <a:tailEnd type="triangle"/>
          </a:ln>
        </p:spPr>
      </p:sp>
      <p:sp>
        <p:nvSpPr>
          <p:cNvPr id="24" name="box_193"/>
          <p:cNvSpPr txBox="1"/>
          <p:nvPr/>
        </p:nvSpPr>
        <p:spPr>
          <a:xfrm>
            <a:off x="7114032" y="4709160"/>
            <a:ext cx="3611880" cy="548640"/>
          </a:xfrm>
          <a:prstGeom prst="roundRect">
            <a:avLst>
              <a:gd name="adj" fmla="val 13333"/>
            </a:avLst>
          </a:prstGeom>
          <a:solidFill>
            <a:schemeClr val="bg1"/>
          </a:solidFill>
          <a:ln w="9525">
            <a:solidFill>
              <a:schemeClr val="accent4"/>
            </a:solidFill>
          </a:ln>
        </p:spPr>
        <p:txBody>
          <a:bodyPr wrap="square" lIns="50800" tIns="50800" rIns="50800" bIns="50800" rtlCol="0" anchor="ctr"/>
          <a:lstStyle/>
          <a:p>
            <a:pPr algn="ctr" indent="0" marL="0">
              <a:buNone/>
            </a:pPr>
            <a:r>
              <a:rPr lang="en-US" sz="1400" b="1" dirty="0">
                <a:solidFill>
                  <a:schemeClr val="tx1"/>
                </a:solidFill>
              </a:rPr>
              <a:t>IEmailSender / MailKitEmailSender</a:t>
            </a:r>
            <a:endParaRPr lang="en-US" sz="1400" dirty="0"/>
          </a:p>
          <a:p>
            <a:pPr algn="ctr" indent="0" marL="0">
              <a:buNone/>
            </a:pPr>
            <a:r>
              <a:rPr lang="en-US" sz="1100" dirty="0">
                <a:solidFill>
                  <a:schemeClr val="accent4"/>
                </a:solidFill>
              </a:rPr>
              <a:t>Sends the message over SMTP</a:t>
            </a:r>
            <a:endParaRPr lang="en-US" sz="1400" dirty="0"/>
          </a:p>
        </p:txBody>
      </p:sp>
      <p:sp>
        <p:nvSpPr>
          <p:cNvPr id="25" name="arrow_194"/>
          <p:cNvSpPr/>
          <p:nvPr/>
        </p:nvSpPr>
        <p:spPr>
          <a:xfrm>
            <a:off x="8924544" y="4389120"/>
            <a:ext cx="914" cy="320040"/>
          </a:xfrm>
          <a:prstGeom prst="line">
            <a:avLst/>
          </a:prstGeom>
          <a:noFill/>
          <a:ln w="19050">
            <a:solidFill>
              <a:schemeClr val="accent4"/>
            </a:solidFill>
            <a:prstDash val="solid"/>
            <a:tailEnd type="triangle"/>
          </a:ln>
        </p:spPr>
      </p:sp>
      <p:sp>
        <p:nvSpPr>
          <p:cNvPr id="26" name="text_195"/>
          <p:cNvSpPr txBox="1"/>
          <p:nvPr/>
        </p:nvSpPr>
        <p:spPr>
          <a:xfrm>
            <a:off x="6473952" y="5394960"/>
            <a:ext cx="4937760" cy="548640"/>
          </a:xfrm>
          <a:prstGeom prst="rect">
            <a:avLst/>
          </a:prstGeom>
          <a:noFill/>
          <a:ln/>
        </p:spPr>
        <p:txBody>
          <a:bodyPr wrap="square" lIns="0" tIns="0" rIns="0" bIns="0" rtlCol="0" anchor="t"/>
          <a:lstStyle/>
          <a:p>
            <a:pPr indent="0" marL="0">
              <a:buNone/>
            </a:pPr>
            <a:r>
              <a:rPr lang="en-US" sz="1200" dirty="0">
                <a:solidFill>
                  <a:schemeClr val="accent4"/>
                </a:solidFill>
              </a:rPr>
              <a:t>HTTP requests return without waiting for SMTP; the bounded channel throttles producers if the worker falls behind.</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The other seven confirmed instances</a:t>
            </a:r>
            <a:endParaRPr lang="en-US" sz="3200" dirty="0"/>
          </a:p>
        </p:txBody>
      </p:sp>
      <p:sp>
        <p:nvSpPr>
          <p:cNvPr id="3" name="card_196"/>
          <p:cNvSpPr/>
          <p:nvPr/>
        </p:nvSpPr>
        <p:spPr>
          <a:xfrm>
            <a:off x="548640" y="1371600"/>
            <a:ext cx="3538728" cy="2194560"/>
          </a:xfrm>
          <a:prstGeom prst="roundRect">
            <a:avLst>
              <a:gd name="adj" fmla="val 3333"/>
            </a:avLst>
          </a:prstGeom>
          <a:solidFill>
            <a:schemeClr val="bg2"/>
          </a:solidFill>
          <a:ln w="12700">
            <a:solidFill>
              <a:schemeClr val="bg2"/>
            </a:solidFill>
            <a:prstDash val="solid"/>
          </a:ln>
        </p:spPr>
      </p:sp>
      <p:sp>
        <p:nvSpPr>
          <p:cNvPr id="4" name="chip_197"/>
          <p:cNvSpPr txBox="1"/>
          <p:nvPr/>
        </p:nvSpPr>
        <p:spPr>
          <a:xfrm>
            <a:off x="777240" y="1572768"/>
            <a:ext cx="98755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DI / IoC</a:t>
            </a:r>
            <a:endParaRPr lang="en-US" sz="1100" dirty="0"/>
          </a:p>
        </p:txBody>
      </p:sp>
      <p:sp>
        <p:nvSpPr>
          <p:cNvPr id="5" name="text_198"/>
          <p:cNvSpPr txBox="1"/>
          <p:nvPr/>
        </p:nvSpPr>
        <p:spPr>
          <a:xfrm>
            <a:off x="777240" y="1993392"/>
            <a:ext cx="3108960" cy="347472"/>
          </a:xfrm>
          <a:prstGeom prst="rect">
            <a:avLst/>
          </a:prstGeom>
          <a:noFill/>
          <a:ln/>
        </p:spPr>
        <p:txBody>
          <a:bodyPr wrap="square" lIns="0" tIns="0" rIns="0" bIns="0" rtlCol="0" anchor="t"/>
          <a:lstStyle/>
          <a:p>
            <a:pPr indent="0" marL="0">
              <a:buNone/>
            </a:pPr>
            <a:r>
              <a:rPr lang="en-US" sz="1500" b="1" dirty="0">
                <a:solidFill>
                  <a:schemeClr val="tx2"/>
                </a:solidFill>
              </a:rPr>
              <a:t>ASP.NET Core DI Composition</a:t>
            </a:r>
            <a:endParaRPr lang="en-US" sz="1500" dirty="0"/>
          </a:p>
        </p:txBody>
      </p:sp>
      <p:sp>
        <p:nvSpPr>
          <p:cNvPr id="6" name="text_199"/>
          <p:cNvSpPr txBox="1"/>
          <p:nvPr/>
        </p:nvSpPr>
        <p:spPr>
          <a:xfrm>
            <a:off x="777240" y="2377440"/>
            <a:ext cx="3108960" cy="1097280"/>
          </a:xfrm>
          <a:prstGeom prst="rect">
            <a:avLst/>
          </a:prstGeom>
          <a:noFill/>
          <a:ln/>
        </p:spPr>
        <p:txBody>
          <a:bodyPr wrap="square" lIns="0" tIns="0" rIns="0" bIns="0" rtlCol="0" anchor="t"/>
          <a:lstStyle/>
          <a:p>
            <a:pPr indent="0" marL="0">
              <a:buNone/>
            </a:pPr>
            <a:r>
              <a:rPr lang="en-US" sz="1300" dirty="0">
                <a:solidFill>
                  <a:schemeClr val="tx1"/>
                </a:solidFill>
              </a:rPr>
              <a:t>Program.cs binds every interface to an implementation; services and controllers receive collaborators through constructors.</a:t>
            </a:r>
            <a:endParaRPr lang="en-US" sz="1300" dirty="0"/>
          </a:p>
        </p:txBody>
      </p:sp>
      <p:sp>
        <p:nvSpPr>
          <p:cNvPr id="7" name="card_200"/>
          <p:cNvSpPr/>
          <p:nvPr/>
        </p:nvSpPr>
        <p:spPr>
          <a:xfrm>
            <a:off x="4325112" y="1371600"/>
            <a:ext cx="3538728" cy="2194560"/>
          </a:xfrm>
          <a:prstGeom prst="roundRect">
            <a:avLst>
              <a:gd name="adj" fmla="val 3333"/>
            </a:avLst>
          </a:prstGeom>
          <a:solidFill>
            <a:schemeClr val="bg2"/>
          </a:solidFill>
          <a:ln w="12700">
            <a:solidFill>
              <a:schemeClr val="bg2"/>
            </a:solidFill>
            <a:prstDash val="solid"/>
          </a:ln>
        </p:spPr>
      </p:sp>
      <p:sp>
        <p:nvSpPr>
          <p:cNvPr id="8" name="chip_201"/>
          <p:cNvSpPr txBox="1"/>
          <p:nvPr/>
        </p:nvSpPr>
        <p:spPr>
          <a:xfrm>
            <a:off x="4553712" y="1572768"/>
            <a:ext cx="137617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Service Layer</a:t>
            </a:r>
            <a:endParaRPr lang="en-US" sz="1100" dirty="0"/>
          </a:p>
        </p:txBody>
      </p:sp>
      <p:sp>
        <p:nvSpPr>
          <p:cNvPr id="9" name="text_202"/>
          <p:cNvSpPr txBox="1"/>
          <p:nvPr/>
        </p:nvSpPr>
        <p:spPr>
          <a:xfrm>
            <a:off x="4553712" y="1993392"/>
            <a:ext cx="3108960" cy="347472"/>
          </a:xfrm>
          <a:prstGeom prst="rect">
            <a:avLst/>
          </a:prstGeom>
          <a:noFill/>
          <a:ln/>
        </p:spPr>
        <p:txBody>
          <a:bodyPr wrap="square" lIns="0" tIns="0" rIns="0" bIns="0" rtlCol="0" anchor="t"/>
          <a:lstStyle/>
          <a:p>
            <a:pPr indent="0" marL="0">
              <a:buNone/>
            </a:pPr>
            <a:r>
              <a:rPr lang="en-US" sz="1500" b="1" dirty="0">
                <a:solidFill>
                  <a:schemeClr val="tx2"/>
                </a:solidFill>
              </a:rPr>
              <a:t>Booking Service Layer</a:t>
            </a:r>
            <a:endParaRPr lang="en-US" sz="1500" dirty="0"/>
          </a:p>
        </p:txBody>
      </p:sp>
      <p:sp>
        <p:nvSpPr>
          <p:cNvPr id="10" name="text_203"/>
          <p:cNvSpPr txBox="1"/>
          <p:nvPr/>
        </p:nvSpPr>
        <p:spPr>
          <a:xfrm>
            <a:off x="4553712" y="2377440"/>
            <a:ext cx="3108960" cy="1097280"/>
          </a:xfrm>
          <a:prstGeom prst="rect">
            <a:avLst/>
          </a:prstGeom>
          <a:noFill/>
          <a:ln/>
        </p:spPr>
        <p:txBody>
          <a:bodyPr wrap="square" lIns="0" tIns="0" rIns="0" bIns="0" rtlCol="0" anchor="t"/>
          <a:lstStyle/>
          <a:p>
            <a:pPr indent="0" marL="0">
              <a:buNone/>
            </a:pPr>
            <a:r>
              <a:rPr lang="en-US" sz="1300" dirty="0">
                <a:solidFill>
                  <a:schemeClr val="tx1"/>
                </a:solidFill>
              </a:rPr>
              <a:t>BookingController only delegates; BookingService owns the booking workflow and coordinates repositories.</a:t>
            </a:r>
            <a:endParaRPr lang="en-US" sz="1300" dirty="0"/>
          </a:p>
        </p:txBody>
      </p:sp>
      <p:sp>
        <p:nvSpPr>
          <p:cNvPr id="11" name="card_204"/>
          <p:cNvSpPr/>
          <p:nvPr/>
        </p:nvSpPr>
        <p:spPr>
          <a:xfrm>
            <a:off x="8101584" y="1371600"/>
            <a:ext cx="3538728" cy="2194560"/>
          </a:xfrm>
          <a:prstGeom prst="roundRect">
            <a:avLst>
              <a:gd name="adj" fmla="val 3333"/>
            </a:avLst>
          </a:prstGeom>
          <a:solidFill>
            <a:schemeClr val="bg2"/>
          </a:solidFill>
          <a:ln w="12700">
            <a:solidFill>
              <a:schemeClr val="bg2"/>
            </a:solidFill>
            <a:prstDash val="solid"/>
          </a:ln>
        </p:spPr>
      </p:sp>
      <p:sp>
        <p:nvSpPr>
          <p:cNvPr id="12" name="chip_205"/>
          <p:cNvSpPr txBox="1"/>
          <p:nvPr/>
        </p:nvSpPr>
        <p:spPr>
          <a:xfrm>
            <a:off x="8330184" y="1572768"/>
            <a:ext cx="215341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Chain of Responsibility</a:t>
            </a:r>
            <a:endParaRPr lang="en-US" sz="1100" dirty="0"/>
          </a:p>
        </p:txBody>
      </p:sp>
      <p:sp>
        <p:nvSpPr>
          <p:cNvPr id="13" name="text_206"/>
          <p:cNvSpPr txBox="1"/>
          <p:nvPr/>
        </p:nvSpPr>
        <p:spPr>
          <a:xfrm>
            <a:off x="8330184" y="1993392"/>
            <a:ext cx="3108960" cy="347472"/>
          </a:xfrm>
          <a:prstGeom prst="rect">
            <a:avLst/>
          </a:prstGeom>
          <a:noFill/>
          <a:ln/>
        </p:spPr>
        <p:txBody>
          <a:bodyPr wrap="square" lIns="0" tIns="0" rIns="0" bIns="0" rtlCol="0" anchor="t"/>
          <a:lstStyle/>
          <a:p>
            <a:pPr indent="0" marL="0">
              <a:buNone/>
            </a:pPr>
            <a:r>
              <a:rPr lang="en-US" sz="1500" b="1" dirty="0">
                <a:solidFill>
                  <a:schemeClr val="tx2"/>
                </a:solidFill>
              </a:rPr>
              <a:t>Request Middleware Chain</a:t>
            </a:r>
            <a:endParaRPr lang="en-US" sz="1500" dirty="0"/>
          </a:p>
        </p:txBody>
      </p:sp>
      <p:sp>
        <p:nvSpPr>
          <p:cNvPr id="14" name="text_207"/>
          <p:cNvSpPr txBox="1"/>
          <p:nvPr/>
        </p:nvSpPr>
        <p:spPr>
          <a:xfrm>
            <a:off x="8330184" y="2377440"/>
            <a:ext cx="3108960" cy="1097280"/>
          </a:xfrm>
          <a:prstGeom prst="rect">
            <a:avLst/>
          </a:prstGeom>
          <a:noFill/>
          <a:ln/>
        </p:spPr>
        <p:txBody>
          <a:bodyPr wrap="square" lIns="0" tIns="0" rIns="0" bIns="0" rtlCol="0" anchor="t"/>
          <a:lstStyle/>
          <a:p>
            <a:pPr indent="0" marL="0">
              <a:buNone/>
            </a:pPr>
            <a:r>
              <a:rPr lang="en-US" sz="1300" dirty="0">
                <a:solidFill>
                  <a:schemeClr val="tx1"/>
                </a:solidFill>
              </a:rPr>
              <a:t>Each middleware receives the next RequestDelegate and decides whether and when to call _next(context).</a:t>
            </a:r>
            <a:endParaRPr lang="en-US" sz="1300" dirty="0"/>
          </a:p>
        </p:txBody>
      </p:sp>
      <p:sp>
        <p:nvSpPr>
          <p:cNvPr id="15" name="card_208"/>
          <p:cNvSpPr/>
          <p:nvPr/>
        </p:nvSpPr>
        <p:spPr>
          <a:xfrm>
            <a:off x="548640" y="3767328"/>
            <a:ext cx="3538728" cy="2194560"/>
          </a:xfrm>
          <a:prstGeom prst="roundRect">
            <a:avLst>
              <a:gd name="adj" fmla="val 3333"/>
            </a:avLst>
          </a:prstGeom>
          <a:solidFill>
            <a:schemeClr val="bg2"/>
          </a:solidFill>
          <a:ln w="12700">
            <a:solidFill>
              <a:schemeClr val="bg2"/>
            </a:solidFill>
            <a:prstDash val="solid"/>
          </a:ln>
        </p:spPr>
      </p:sp>
      <p:sp>
        <p:nvSpPr>
          <p:cNvPr id="16" name="chip_209"/>
          <p:cNvSpPr txBox="1"/>
          <p:nvPr/>
        </p:nvSpPr>
        <p:spPr>
          <a:xfrm>
            <a:off x="777240" y="3968496"/>
            <a:ext cx="909828"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Adapter</a:t>
            </a:r>
            <a:endParaRPr lang="en-US" sz="1100" dirty="0"/>
          </a:p>
        </p:txBody>
      </p:sp>
      <p:sp>
        <p:nvSpPr>
          <p:cNvPr id="17" name="text_210"/>
          <p:cNvSpPr txBox="1"/>
          <p:nvPr/>
        </p:nvSpPr>
        <p:spPr>
          <a:xfrm>
            <a:off x="777240" y="4389120"/>
            <a:ext cx="3108960" cy="347472"/>
          </a:xfrm>
          <a:prstGeom prst="rect">
            <a:avLst/>
          </a:prstGeom>
          <a:noFill/>
          <a:ln/>
        </p:spPr>
        <p:txBody>
          <a:bodyPr wrap="square" lIns="0" tIns="0" rIns="0" bIns="0" rtlCol="0" anchor="t"/>
          <a:lstStyle/>
          <a:p>
            <a:pPr indent="0" marL="0">
              <a:buNone/>
            </a:pPr>
            <a:r>
              <a:rPr lang="en-US" sz="1500" b="1" dirty="0">
                <a:solidFill>
                  <a:schemeClr val="tx2"/>
                </a:solidFill>
              </a:rPr>
              <a:t>Java Microservice Adapter</a:t>
            </a:r>
            <a:endParaRPr lang="en-US" sz="1500" dirty="0"/>
          </a:p>
        </p:txBody>
      </p:sp>
      <p:sp>
        <p:nvSpPr>
          <p:cNvPr id="18" name="text_211"/>
          <p:cNvSpPr txBox="1"/>
          <p:nvPr/>
        </p:nvSpPr>
        <p:spPr>
          <a:xfrm>
            <a:off x="777240" y="4773168"/>
            <a:ext cx="3108960" cy="1097280"/>
          </a:xfrm>
          <a:prstGeom prst="rect">
            <a:avLst/>
          </a:prstGeom>
          <a:noFill/>
          <a:ln/>
        </p:spPr>
        <p:txBody>
          <a:bodyPr wrap="square" lIns="0" tIns="0" rIns="0" bIns="0" rtlCol="0" anchor="t"/>
          <a:lstStyle/>
          <a:p>
            <a:pPr indent="0" marL="0">
              <a:buNone/>
            </a:pPr>
            <a:r>
              <a:rPr lang="en-US" sz="1300" dirty="0">
                <a:solidFill>
                  <a:schemeClr val="tx1"/>
                </a:solidFill>
              </a:rPr>
              <a:t>JavaMicroserviceClient hides HttpClient and Java-specific JSON and DateTime handling behind IJavaMicroserviceClient.</a:t>
            </a:r>
            <a:endParaRPr lang="en-US" sz="1300" dirty="0"/>
          </a:p>
        </p:txBody>
      </p:sp>
      <p:sp>
        <p:nvSpPr>
          <p:cNvPr id="19" name="card_212"/>
          <p:cNvSpPr/>
          <p:nvPr/>
        </p:nvSpPr>
        <p:spPr>
          <a:xfrm>
            <a:off x="4325112" y="3767328"/>
            <a:ext cx="3538728" cy="2194560"/>
          </a:xfrm>
          <a:prstGeom prst="roundRect">
            <a:avLst>
              <a:gd name="adj" fmla="val 3333"/>
            </a:avLst>
          </a:prstGeom>
          <a:solidFill>
            <a:schemeClr val="bg2"/>
          </a:solidFill>
          <a:ln w="12700">
            <a:solidFill>
              <a:schemeClr val="bg2"/>
            </a:solidFill>
            <a:prstDash val="solid"/>
          </a:ln>
        </p:spPr>
      </p:sp>
      <p:sp>
        <p:nvSpPr>
          <p:cNvPr id="20" name="chip_213"/>
          <p:cNvSpPr txBox="1"/>
          <p:nvPr/>
        </p:nvSpPr>
        <p:spPr>
          <a:xfrm>
            <a:off x="4553712" y="3968496"/>
            <a:ext cx="75438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Proxy</a:t>
            </a:r>
            <a:endParaRPr lang="en-US" sz="1100" dirty="0"/>
          </a:p>
        </p:txBody>
      </p:sp>
      <p:sp>
        <p:nvSpPr>
          <p:cNvPr id="21" name="text_214"/>
          <p:cNvSpPr txBox="1"/>
          <p:nvPr/>
        </p:nvSpPr>
        <p:spPr>
          <a:xfrm>
            <a:off x="4553712" y="4389120"/>
            <a:ext cx="3108960" cy="347472"/>
          </a:xfrm>
          <a:prstGeom prst="rect">
            <a:avLst/>
          </a:prstGeom>
          <a:noFill/>
          <a:ln/>
        </p:spPr>
        <p:txBody>
          <a:bodyPr wrap="square" lIns="0" tIns="0" rIns="0" bIns="0" rtlCol="0" anchor="t"/>
          <a:lstStyle/>
          <a:p>
            <a:pPr indent="0" marL="0">
              <a:buNone/>
            </a:pPr>
            <a:r>
              <a:rPr lang="en-US" sz="1500" b="1" dirty="0">
                <a:solidFill>
                  <a:schemeClr val="tx2"/>
                </a:solidFill>
              </a:rPr>
              <a:t>Legacy API Proxy</a:t>
            </a:r>
            <a:endParaRPr lang="en-US" sz="1500" dirty="0"/>
          </a:p>
        </p:txBody>
      </p:sp>
      <p:sp>
        <p:nvSpPr>
          <p:cNvPr id="22" name="text_215"/>
          <p:cNvSpPr txBox="1"/>
          <p:nvPr/>
        </p:nvSpPr>
        <p:spPr>
          <a:xfrm>
            <a:off x="4553712" y="4773168"/>
            <a:ext cx="3108960" cy="1097280"/>
          </a:xfrm>
          <a:prstGeom prst="rect">
            <a:avLst/>
          </a:prstGeom>
          <a:noFill/>
          <a:ln/>
        </p:spPr>
        <p:txBody>
          <a:bodyPr wrap="square" lIns="0" tIns="0" rIns="0" bIns="0" rtlCol="0" anchor="t"/>
          <a:lstStyle/>
          <a:p>
            <a:pPr indent="0" marL="0">
              <a:buNone/>
            </a:pPr>
            <a:r>
              <a:rPr lang="en-US" sz="1300" dirty="0">
                <a:solidFill>
                  <a:schemeClr val="tx1"/>
                </a:solidFill>
              </a:rPr>
              <a:t>LegacyProxyController exposes /api/legacy and forwards each call to the remote Java service.</a:t>
            </a:r>
            <a:endParaRPr lang="en-US" sz="1300" dirty="0"/>
          </a:p>
        </p:txBody>
      </p:sp>
      <p:sp>
        <p:nvSpPr>
          <p:cNvPr id="23" name="card_216"/>
          <p:cNvSpPr/>
          <p:nvPr/>
        </p:nvSpPr>
        <p:spPr>
          <a:xfrm>
            <a:off x="8101584" y="3767328"/>
            <a:ext cx="3538728" cy="2194560"/>
          </a:xfrm>
          <a:prstGeom prst="roundRect">
            <a:avLst>
              <a:gd name="adj" fmla="val 3333"/>
            </a:avLst>
          </a:prstGeom>
          <a:solidFill>
            <a:schemeClr val="bg2"/>
          </a:solidFill>
          <a:ln w="12700">
            <a:solidFill>
              <a:schemeClr val="bg2"/>
            </a:solidFill>
            <a:prstDash val="solid"/>
          </a:ln>
        </p:spPr>
      </p:sp>
      <p:sp>
        <p:nvSpPr>
          <p:cNvPr id="24" name="chip_217"/>
          <p:cNvSpPr txBox="1"/>
          <p:nvPr/>
        </p:nvSpPr>
        <p:spPr>
          <a:xfrm>
            <a:off x="8330184" y="3968496"/>
            <a:ext cx="137617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Strangler Fig</a:t>
            </a:r>
            <a:endParaRPr lang="en-US" sz="1100" dirty="0"/>
          </a:p>
        </p:txBody>
      </p:sp>
      <p:sp>
        <p:nvSpPr>
          <p:cNvPr id="25" name="text_218"/>
          <p:cNvSpPr txBox="1"/>
          <p:nvPr/>
        </p:nvSpPr>
        <p:spPr>
          <a:xfrm>
            <a:off x="8330184" y="4389120"/>
            <a:ext cx="3108960" cy="347472"/>
          </a:xfrm>
          <a:prstGeom prst="rect">
            <a:avLst/>
          </a:prstGeom>
          <a:noFill/>
          <a:ln/>
        </p:spPr>
        <p:txBody>
          <a:bodyPr wrap="square" lIns="0" tIns="0" rIns="0" bIns="0" rtlCol="0" anchor="t"/>
          <a:lstStyle/>
          <a:p>
            <a:pPr indent="0" marL="0">
              <a:buNone/>
            </a:pPr>
            <a:r>
              <a:rPr lang="en-US" sz="1500" b="1" dirty="0">
                <a:solidFill>
                  <a:schemeClr val="tx2"/>
                </a:solidFill>
              </a:rPr>
              <a:t>Legacy Java Integration</a:t>
            </a:r>
            <a:endParaRPr lang="en-US" sz="1500" dirty="0"/>
          </a:p>
        </p:txBody>
      </p:sp>
      <p:sp>
        <p:nvSpPr>
          <p:cNvPr id="26" name="text_219"/>
          <p:cNvSpPr txBox="1"/>
          <p:nvPr/>
        </p:nvSpPr>
        <p:spPr>
          <a:xfrm>
            <a:off x="8330184" y="4773168"/>
            <a:ext cx="3108960" cy="1097280"/>
          </a:xfrm>
          <a:prstGeom prst="rect">
            <a:avLst/>
          </a:prstGeom>
          <a:noFill/>
          <a:ln/>
        </p:spPr>
        <p:txBody>
          <a:bodyPr wrap="square" lIns="0" tIns="0" rIns="0" bIns="0" rtlCol="0" anchor="t"/>
          <a:lstStyle/>
          <a:p>
            <a:pPr indent="0" marL="0">
              <a:buNone/>
            </a:pPr>
            <a:r>
              <a:rPr lang="en-US" sz="1300" dirty="0">
                <a:solidFill>
                  <a:schemeClr val="tx1"/>
                </a:solidFill>
              </a:rPr>
              <a:t>Source describes the Java link as a strangler integration: invoices still come from Java while .NET takes over.</a:t>
            </a:r>
            <a:endParaRPr lang="en-US" sz="1300" dirty="0"/>
          </a:p>
        </p:txBody>
      </p:sp>
      <p:sp>
        <p:nvSpPr>
          <p:cNvPr id="27" name="text_220"/>
          <p:cNvSpPr txBox="1"/>
          <p:nvPr/>
        </p:nvSpPr>
        <p:spPr>
          <a:xfrm>
            <a:off x="548640" y="603504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The ninth, the DTO boundary, separates request/response classes in DTO/ from the EF Core entities in Models/.</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Rejected and uncertain candidates</a:t>
            </a:r>
            <a:endParaRPr lang="en-US" sz="3200" dirty="0"/>
          </a:p>
        </p:txBody>
      </p:sp>
      <p:graphicFrame>
        <p:nvGraphicFramePr>
          <p:cNvPr id="14" name="table_221"/>
          <p:cNvGraphicFramePr>
            <a:graphicFrameLocks noGrp="1"/>
          </p:cNvGraphicFramePr>
          <p:nvPr>
            <p:extLst>
              <p:ext uri="{D42A27DB-BD31-4B8C-83A1-F6EECF244321}">
                <p14:modId xmlns:p14="http://schemas.microsoft.com/office/powerpoint/2010/main" val="1579011935"/>
              </p:ext>
            </p:extLst>
          </p:nvPr>
        </p:nvGraphicFramePr>
        <p:xfrm>
          <a:off x="548640" y="1325880"/>
          <a:ext cx="6766560" cy="914400"/>
        </p:xfrm>
        <a:graphic>
          <a:graphicData uri="http://schemas.openxmlformats.org/drawingml/2006/table">
            <a:tbl>
              <a:tblPr/>
              <a:tblGrid>
                <a:gridCol w="1554480"/>
                <a:gridCol w="5212080"/>
              </a:tblGrid>
              <a:tr h="457200">
                <a:tc>
                  <a:txBody>
                    <a:bodyPr/>
                    <a:lstStyle/>
                    <a:p>
                      <a:pPr indent="0" marL="0">
                        <a:buNone/>
                      </a:pPr>
                      <a:r>
                        <a:rPr lang="en-US" sz="1200" b="1" dirty="0">
                          <a:solidFill>
                            <a:schemeClr val="bg1"/>
                          </a:solidFill>
                        </a:rPr>
                        <a:t>Rejected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Reason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457200">
                <a:tc>
                  <a:txBody>
                    <a:bodyPr/>
                    <a:lstStyle/>
                    <a:p>
                      <a:pPr indent="0" marL="0">
                        <a:buNone/>
                      </a:pPr>
                      <a:r>
                        <a:rPr lang="en-US" sz="1200" dirty="0">
                          <a:solidFill>
                            <a:schemeClr val="tx1"/>
                          </a:solidFill>
                        </a:rPr>
                        <a:t>Factory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Only framework calls (CreateBuilder, AddScoped); no app-authored factory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Singleton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AddSingleton is a DI lifetime, not a private-constructor Singleton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Builder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Fluent WebApplication builder is framework API usage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Facade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EmailService simplifies, but no deliberate subsystem facade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Decorator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Middleware wraps a pipeline, not a component interface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Observer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OnCreatingTicket etc. are framework auth hooks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Command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Queued Func delegates, but no command abstraction or invoker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57200">
                <a:tc>
                  <a:txBody>
                    <a:bodyPr/>
                    <a:lstStyle/>
                    <a:p>
                      <a:pPr indent="0" marL="0">
                        <a:buNone/>
                      </a:pPr>
                      <a:r>
                        <a:rPr lang="en-US" sz="1200" dirty="0">
                          <a:solidFill>
                            <a:schemeClr val="tx1"/>
                          </a:solidFill>
                        </a:rPr>
                        <a:t>Template Method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 base class with an invariant algorithm and hook steps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57200">
                <a:tc>
                  <a:txBody>
                    <a:bodyPr/>
                    <a:lstStyle/>
                    <a:p>
                      <a:pPr indent="0" marL="0">
                        <a:buNone/>
                      </a:pPr>
                      <a:r>
                        <a:rPr lang="en-US" sz="1200" dirty="0">
                          <a:solidFill>
                            <a:schemeClr val="tx1"/>
                          </a:solidFill>
                        </a:rPr>
                        <a:t>State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BookingStatus / CarStatus are enums with if-rules, not state objects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bl>
          </a:graphicData>
        </a:graphic>
      </p:graphicFrame>
      <p:sp>
        <p:nvSpPr>
          <p:cNvPr id="4" name="card_222"/>
          <p:cNvSpPr/>
          <p:nvPr/>
        </p:nvSpPr>
        <p:spPr>
          <a:xfrm>
            <a:off x="7589520" y="1325880"/>
            <a:ext cx="4050792" cy="1051560"/>
          </a:xfrm>
          <a:prstGeom prst="roundRect">
            <a:avLst>
              <a:gd name="adj" fmla="val 6957"/>
            </a:avLst>
          </a:prstGeom>
          <a:solidFill>
            <a:schemeClr val="bg2"/>
          </a:solidFill>
          <a:ln w="12700">
            <a:solidFill>
              <a:schemeClr val="bg2"/>
            </a:solidFill>
            <a:prstDash val="solid"/>
          </a:ln>
        </p:spPr>
      </p:sp>
      <p:sp>
        <p:nvSpPr>
          <p:cNvPr id="5" name="chip_223"/>
          <p:cNvSpPr txBox="1"/>
          <p:nvPr/>
        </p:nvSpPr>
        <p:spPr>
          <a:xfrm>
            <a:off x="7772400" y="1463040"/>
            <a:ext cx="201168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Uncertain · Strategy</a:t>
            </a:r>
            <a:endParaRPr lang="en-US" sz="1100" dirty="0"/>
          </a:p>
        </p:txBody>
      </p:sp>
      <p:sp>
        <p:nvSpPr>
          <p:cNvPr id="6" name="text_224"/>
          <p:cNvSpPr txBox="1"/>
          <p:nvPr/>
        </p:nvSpPr>
        <p:spPr>
          <a:xfrm>
            <a:off x="7772400" y="1828800"/>
            <a:ext cx="3703320" cy="502920"/>
          </a:xfrm>
          <a:prstGeom prst="rect">
            <a:avLst/>
          </a:prstGeom>
          <a:noFill/>
          <a:ln/>
        </p:spPr>
        <p:txBody>
          <a:bodyPr wrap="square" lIns="0" tIns="0" rIns="0" bIns="0" rtlCol="0" anchor="t"/>
          <a:lstStyle/>
          <a:p>
            <a:pPr indent="0" marL="0">
              <a:buNone/>
            </a:pPr>
            <a:r>
              <a:rPr lang="en-US" sz="1200" dirty="0">
                <a:solidFill>
                  <a:schemeClr val="tx1"/>
                </a:solidFill>
              </a:rPr>
              <a:t>IInvoicePdfService has a second implementation, but it is commented out — no runtime choice.</a:t>
            </a:r>
            <a:endParaRPr lang="en-US" sz="1200" dirty="0"/>
          </a:p>
        </p:txBody>
      </p:sp>
      <p:sp>
        <p:nvSpPr>
          <p:cNvPr id="7" name="card_225"/>
          <p:cNvSpPr/>
          <p:nvPr/>
        </p:nvSpPr>
        <p:spPr>
          <a:xfrm>
            <a:off x="7589520" y="2514600"/>
            <a:ext cx="4050792" cy="1051560"/>
          </a:xfrm>
          <a:prstGeom prst="roundRect">
            <a:avLst>
              <a:gd name="adj" fmla="val 6957"/>
            </a:avLst>
          </a:prstGeom>
          <a:solidFill>
            <a:schemeClr val="bg2"/>
          </a:solidFill>
          <a:ln w="12700">
            <a:solidFill>
              <a:schemeClr val="bg2"/>
            </a:solidFill>
            <a:prstDash val="solid"/>
          </a:ln>
        </p:spPr>
      </p:sp>
      <p:sp>
        <p:nvSpPr>
          <p:cNvPr id="8" name="chip_226"/>
          <p:cNvSpPr txBox="1"/>
          <p:nvPr/>
        </p:nvSpPr>
        <p:spPr>
          <a:xfrm>
            <a:off x="7772400" y="2651760"/>
            <a:ext cx="2231136"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Uncertain · Data Mapper</a:t>
            </a:r>
            <a:endParaRPr lang="en-US" sz="1100" dirty="0"/>
          </a:p>
        </p:txBody>
      </p:sp>
      <p:sp>
        <p:nvSpPr>
          <p:cNvPr id="9" name="text_227"/>
          <p:cNvSpPr txBox="1"/>
          <p:nvPr/>
        </p:nvSpPr>
        <p:spPr>
          <a:xfrm>
            <a:off x="7772400" y="3017520"/>
            <a:ext cx="3703320" cy="502920"/>
          </a:xfrm>
          <a:prstGeom prst="rect">
            <a:avLst/>
          </a:prstGeom>
          <a:noFill/>
          <a:ln/>
        </p:spPr>
        <p:txBody>
          <a:bodyPr wrap="square" lIns="0" tIns="0" rIns="0" bIns="0" rtlCol="0" anchor="t"/>
          <a:lstStyle/>
          <a:p>
            <a:pPr indent="0" marL="0">
              <a:buNone/>
            </a:pPr>
            <a:r>
              <a:rPr lang="en-US" sz="1200" dirty="0">
                <a:solidFill>
                  <a:schemeClr val="tx1"/>
                </a:solidFill>
              </a:rPr>
              <a:t>Mapping is done by AutoMapper (framework); DTO is confirmed instead.</a:t>
            </a:r>
            <a:endParaRPr lang="en-US" sz="1200" dirty="0"/>
          </a:p>
        </p:txBody>
      </p:sp>
      <p:sp>
        <p:nvSpPr>
          <p:cNvPr id="10" name="card_228"/>
          <p:cNvSpPr/>
          <p:nvPr/>
        </p:nvSpPr>
        <p:spPr>
          <a:xfrm>
            <a:off x="7589520" y="3703320"/>
            <a:ext cx="4050792" cy="1051560"/>
          </a:xfrm>
          <a:prstGeom prst="roundRect">
            <a:avLst>
              <a:gd name="adj" fmla="val 6957"/>
            </a:avLst>
          </a:prstGeom>
          <a:solidFill>
            <a:schemeClr val="bg2"/>
          </a:solidFill>
          <a:ln w="12700">
            <a:solidFill>
              <a:schemeClr val="bg2"/>
            </a:solidFill>
            <a:prstDash val="solid"/>
          </a:ln>
        </p:spPr>
      </p:sp>
      <p:sp>
        <p:nvSpPr>
          <p:cNvPr id="11" name="chip_229"/>
          <p:cNvSpPr txBox="1"/>
          <p:nvPr/>
        </p:nvSpPr>
        <p:spPr>
          <a:xfrm>
            <a:off x="7772400" y="3840480"/>
            <a:ext cx="2304288"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Uncertain · Unit of Work</a:t>
            </a:r>
            <a:endParaRPr lang="en-US" sz="1100" dirty="0"/>
          </a:p>
        </p:txBody>
      </p:sp>
      <p:sp>
        <p:nvSpPr>
          <p:cNvPr id="12" name="text_230"/>
          <p:cNvSpPr txBox="1"/>
          <p:nvPr/>
        </p:nvSpPr>
        <p:spPr>
          <a:xfrm>
            <a:off x="7772400" y="4206240"/>
            <a:ext cx="3703320" cy="502920"/>
          </a:xfrm>
          <a:prstGeom prst="rect">
            <a:avLst/>
          </a:prstGeom>
          <a:noFill/>
          <a:ln/>
        </p:spPr>
        <p:txBody>
          <a:bodyPr wrap="square" lIns="0" tIns="0" rIns="0" bIns="0" rtlCol="0" anchor="t"/>
          <a:lstStyle/>
          <a:p>
            <a:pPr indent="0" marL="0">
              <a:buNone/>
            </a:pPr>
            <a:r>
              <a:rPr lang="en-US" sz="1200" dirty="0">
                <a:solidFill>
                  <a:schemeClr val="tx1"/>
                </a:solidFill>
              </a:rPr>
              <a:t>EF Core DbContext coordinates saves; no IUnitOfWork in the app.</a:t>
            </a:r>
            <a:endParaRPr lang="en-US" sz="1200" dirty="0"/>
          </a:p>
        </p:txBody>
      </p:sp>
      <p:sp>
        <p:nvSpPr>
          <p:cNvPr id="13" name="card_231"/>
          <p:cNvSpPr/>
          <p:nvPr/>
        </p:nvSpPr>
        <p:spPr>
          <a:xfrm>
            <a:off x="7589520" y="4937760"/>
            <a:ext cx="4050792" cy="1005840"/>
          </a:xfrm>
          <a:prstGeom prst="roundRect">
            <a:avLst>
              <a:gd name="adj" fmla="val 7273"/>
            </a:avLst>
          </a:prstGeom>
          <a:solidFill>
            <a:schemeClr val="tx2"/>
          </a:solidFill>
          <a:ln w="12700">
            <a:solidFill>
              <a:schemeClr val="tx2"/>
            </a:solidFill>
            <a:prstDash val="solid"/>
          </a:ln>
        </p:spPr>
      </p:sp>
      <p:sp>
        <p:nvSpPr>
          <p:cNvPr id="14" name="text_232"/>
          <p:cNvSpPr txBox="1"/>
          <p:nvPr/>
        </p:nvSpPr>
        <p:spPr>
          <a:xfrm>
            <a:off x="7772400" y="5029200"/>
            <a:ext cx="3703320" cy="822960"/>
          </a:xfrm>
          <a:prstGeom prst="rect">
            <a:avLst/>
          </a:prstGeom>
          <a:noFill/>
          <a:ln/>
        </p:spPr>
        <p:txBody>
          <a:bodyPr wrap="square" lIns="0" tIns="0" rIns="0" bIns="0" rtlCol="0" anchor="ctr"/>
          <a:lstStyle/>
          <a:p>
            <a:pPr indent="0" marL="0">
              <a:buNone/>
            </a:pPr>
            <a:r>
              <a:rPr lang="en-US" sz="1300" b="1" dirty="0">
                <a:solidFill>
                  <a:schemeClr val="bg1"/>
                </a:solidFill>
              </a:rPr>
              <a:t>State, Observer, Factory and Strategy were missing or doubtful here — Part 2 adds each of them for real.</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lIns="0" tIns="0" rIns="0" bIns="0" rtlCol="0" anchor="b"/>
          <a:lstStyle/>
          <a:p>
            <a:pPr indent="0" marL="0">
              <a:buNone/>
            </a:pPr>
            <a:r>
              <a:rPr lang="en-US" sz="8800" b="1" dirty="0">
                <a:solidFill>
                  <a:schemeClr val="accent1"/>
                </a:solidFill>
                <a:latin typeface="Cambria" pitchFamily="34" charset="0"/>
                <a:ea typeface="Cambria" pitchFamily="34" charset="-122"/>
                <a:cs typeface="Cambria" pitchFamily="34" charset="-120"/>
              </a:rPr>
              <a:t>03</a:t>
            </a: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Part 2 · Evolution and refactoring</a:t>
            </a: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lIns="0" tIns="0" rIns="0" bIns="0" rtlCol="0" anchor="t"/>
          <a:lstStyle/>
          <a:p>
            <a:pPr indent="0" marL="0">
              <a:buNone/>
            </a:pPr>
            <a:r>
              <a:rPr lang="en-US" sz="1800" dirty="0">
                <a:solidFill>
                  <a:schemeClr val="bg2"/>
                </a:solidFill>
              </a:rPr>
              <a:t>Four realistic changes, each introducing one pattern — applied in order to the original code</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Four changes, one new pattern each</a:t>
            </a:r>
            <a:endParaRPr lang="en-US" sz="3200" dirty="0"/>
          </a:p>
        </p:txBody>
      </p:sp>
      <p:sp>
        <p:nvSpPr>
          <p:cNvPr id="3" name="card_233"/>
          <p:cNvSpPr/>
          <p:nvPr/>
        </p:nvSpPr>
        <p:spPr>
          <a:xfrm>
            <a:off x="548640" y="1371600"/>
            <a:ext cx="2606040" cy="3246120"/>
          </a:xfrm>
          <a:prstGeom prst="roundRect">
            <a:avLst>
              <a:gd name="adj" fmla="val 2807"/>
            </a:avLst>
          </a:prstGeom>
          <a:solidFill>
            <a:schemeClr val="bg2"/>
          </a:solidFill>
          <a:ln w="12700">
            <a:solidFill>
              <a:schemeClr val="bg2"/>
            </a:solidFill>
            <a:prstDash val="solid"/>
          </a:ln>
        </p:spPr>
      </p:sp>
      <p:sp>
        <p:nvSpPr>
          <p:cNvPr id="4" name="text_234"/>
          <p:cNvSpPr txBox="1"/>
          <p:nvPr/>
        </p:nvSpPr>
        <p:spPr>
          <a:xfrm>
            <a:off x="777240" y="1554480"/>
            <a:ext cx="219456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CHANGE1</a:t>
            </a:r>
            <a:endParaRPr lang="en-US" sz="1100" dirty="0"/>
          </a:p>
        </p:txBody>
      </p:sp>
      <p:sp>
        <p:nvSpPr>
          <p:cNvPr id="5" name="text_235"/>
          <p:cNvSpPr txBox="1"/>
          <p:nvPr/>
        </p:nvSpPr>
        <p:spPr>
          <a:xfrm>
            <a:off x="777240" y="1828800"/>
            <a:ext cx="2194560" cy="685800"/>
          </a:xfrm>
          <a:prstGeom prst="rect">
            <a:avLst/>
          </a:prstGeom>
          <a:noFill/>
          <a:ln/>
        </p:spPr>
        <p:txBody>
          <a:bodyPr wrap="square" lIns="0" tIns="0" rIns="0" bIns="0" rtlCol="0" anchor="t"/>
          <a:lstStyle/>
          <a:p>
            <a:pPr indent="0" marL="0">
              <a:buNone/>
            </a:pPr>
            <a:r>
              <a:rPr lang="en-US" sz="1600" b="1" dirty="0">
                <a:solidFill>
                  <a:schemeClr val="tx2"/>
                </a:solidFill>
              </a:rPr>
              <a:t>Fleet-maintenance scheduling</a:t>
            </a:r>
            <a:endParaRPr lang="en-US" sz="1600" dirty="0"/>
          </a:p>
        </p:txBody>
      </p:sp>
      <p:sp>
        <p:nvSpPr>
          <p:cNvPr id="6" name="text_236"/>
          <p:cNvSpPr txBox="1"/>
          <p:nvPr/>
        </p:nvSpPr>
        <p:spPr>
          <a:xfrm>
            <a:off x="777240" y="2560320"/>
            <a:ext cx="2194560" cy="274320"/>
          </a:xfrm>
          <a:prstGeom prst="rect">
            <a:avLst/>
          </a:prstGeom>
          <a:noFill/>
          <a:ln/>
        </p:spPr>
        <p:txBody>
          <a:bodyPr wrap="square" lIns="0" tIns="0" rIns="0" bIns="0" rtlCol="0" anchor="t"/>
          <a:lstStyle/>
          <a:p>
            <a:pPr indent="0" marL="0">
              <a:buNone/>
            </a:pPr>
            <a:r>
              <a:rPr lang="en-US" sz="1200" dirty="0">
                <a:solidFill>
                  <a:schemeClr val="accent4"/>
                </a:solidFill>
              </a:rPr>
              <a:t>Samridhi Singh</a:t>
            </a:r>
            <a:endParaRPr lang="en-US" sz="1200" dirty="0"/>
          </a:p>
        </p:txBody>
      </p:sp>
      <p:sp>
        <p:nvSpPr>
          <p:cNvPr id="7" name="chip_237"/>
          <p:cNvSpPr txBox="1"/>
          <p:nvPr/>
        </p:nvSpPr>
        <p:spPr>
          <a:xfrm>
            <a:off x="777240" y="292608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State</a:t>
            </a:r>
            <a:endParaRPr lang="en-US" sz="1100" dirty="0"/>
          </a:p>
        </p:txBody>
      </p:sp>
      <p:sp>
        <p:nvSpPr>
          <p:cNvPr id="8" name="text_238"/>
          <p:cNvSpPr txBox="1"/>
          <p:nvPr/>
        </p:nvSpPr>
        <p:spPr>
          <a:xfrm>
            <a:off x="777240" y="3364992"/>
            <a:ext cx="2194560" cy="320040"/>
          </a:xfrm>
          <a:prstGeom prst="rect">
            <a:avLst/>
          </a:prstGeom>
          <a:noFill/>
          <a:ln/>
        </p:spPr>
        <p:txBody>
          <a:bodyPr wrap="square" lIns="0" tIns="0" rIns="0" bIns="0" rtlCol="0" anchor="t"/>
          <a:lstStyle/>
          <a:p>
            <a:pPr indent="0" marL="0">
              <a:buNone/>
            </a:pPr>
            <a:r>
              <a:rPr lang="en-US" sz="1600" b="1" dirty="0">
                <a:solidFill>
                  <a:schemeClr val="accent2"/>
                </a:solidFill>
              </a:rPr>
              <a:t>+50 tests</a:t>
            </a:r>
            <a:endParaRPr lang="en-US" sz="1600" dirty="0"/>
          </a:p>
        </p:txBody>
      </p:sp>
      <p:sp>
        <p:nvSpPr>
          <p:cNvPr id="9" name="text_239"/>
          <p:cNvSpPr txBox="1"/>
          <p:nvPr/>
        </p:nvSpPr>
        <p:spPr>
          <a:xfrm>
            <a:off x="777240" y="3730752"/>
            <a:ext cx="2194560" cy="777240"/>
          </a:xfrm>
          <a:prstGeom prst="rect">
            <a:avLst/>
          </a:prstGeom>
          <a:noFill/>
          <a:ln/>
        </p:spPr>
        <p:txBody>
          <a:bodyPr wrap="square" lIns="0" tIns="0" rIns="0" bIns="0" rtlCol="0" anchor="t"/>
          <a:lstStyle/>
          <a:p>
            <a:pPr indent="0" marL="0">
              <a:buNone/>
            </a:pPr>
            <a:r>
              <a:rPr lang="en-US" sz="1200" dirty="0">
                <a:solidFill>
                  <a:schemeClr val="tx1"/>
                </a:solidFill>
              </a:rPr>
              <a:t>No refactoring (additive)</a:t>
            </a:r>
            <a:endParaRPr lang="en-US" sz="1200" dirty="0"/>
          </a:p>
        </p:txBody>
      </p:sp>
      <p:sp>
        <p:nvSpPr>
          <p:cNvPr id="10" name="card_240"/>
          <p:cNvSpPr/>
          <p:nvPr/>
        </p:nvSpPr>
        <p:spPr>
          <a:xfrm>
            <a:off x="3392424" y="1371600"/>
            <a:ext cx="2606040" cy="3246120"/>
          </a:xfrm>
          <a:prstGeom prst="roundRect">
            <a:avLst>
              <a:gd name="adj" fmla="val 2807"/>
            </a:avLst>
          </a:prstGeom>
          <a:solidFill>
            <a:schemeClr val="bg2"/>
          </a:solidFill>
          <a:ln w="12700">
            <a:solidFill>
              <a:schemeClr val="bg2"/>
            </a:solidFill>
            <a:prstDash val="solid"/>
          </a:ln>
        </p:spPr>
      </p:sp>
      <p:sp>
        <p:nvSpPr>
          <p:cNvPr id="11" name="text_241"/>
          <p:cNvSpPr txBox="1"/>
          <p:nvPr/>
        </p:nvSpPr>
        <p:spPr>
          <a:xfrm>
            <a:off x="3621024" y="1554480"/>
            <a:ext cx="219456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CHANGE2</a:t>
            </a:r>
            <a:endParaRPr lang="en-US" sz="1100" dirty="0"/>
          </a:p>
        </p:txBody>
      </p:sp>
      <p:sp>
        <p:nvSpPr>
          <p:cNvPr id="12" name="text_242"/>
          <p:cNvSpPr txBox="1"/>
          <p:nvPr/>
        </p:nvSpPr>
        <p:spPr>
          <a:xfrm>
            <a:off x="3621024" y="1828800"/>
            <a:ext cx="2194560" cy="685800"/>
          </a:xfrm>
          <a:prstGeom prst="rect">
            <a:avLst/>
          </a:prstGeom>
          <a:noFill/>
          <a:ln/>
        </p:spPr>
        <p:txBody>
          <a:bodyPr wrap="square" lIns="0" tIns="0" rIns="0" bIns="0" rtlCol="0" anchor="t"/>
          <a:lstStyle/>
          <a:p>
            <a:pPr indent="0" marL="0">
              <a:buNone/>
            </a:pPr>
            <a:r>
              <a:rPr lang="en-US" sz="1600" b="1" dirty="0">
                <a:solidFill>
                  <a:schemeClr val="tx2"/>
                </a:solidFill>
              </a:rPr>
              <a:t>New vehicle categories</a:t>
            </a:r>
            <a:endParaRPr lang="en-US" sz="1600" dirty="0"/>
          </a:p>
        </p:txBody>
      </p:sp>
      <p:sp>
        <p:nvSpPr>
          <p:cNvPr id="13" name="text_243"/>
          <p:cNvSpPr txBox="1"/>
          <p:nvPr/>
        </p:nvSpPr>
        <p:spPr>
          <a:xfrm>
            <a:off x="3621024" y="2560320"/>
            <a:ext cx="2194560" cy="274320"/>
          </a:xfrm>
          <a:prstGeom prst="rect">
            <a:avLst/>
          </a:prstGeom>
          <a:noFill/>
          <a:ln/>
        </p:spPr>
        <p:txBody>
          <a:bodyPr wrap="square" lIns="0" tIns="0" rIns="0" bIns="0" rtlCol="0" anchor="t"/>
          <a:lstStyle/>
          <a:p>
            <a:pPr indent="0" marL="0">
              <a:buNone/>
            </a:pPr>
            <a:r>
              <a:rPr lang="en-US" sz="1200" dirty="0">
                <a:solidFill>
                  <a:schemeClr val="accent4"/>
                </a:solidFill>
              </a:rPr>
              <a:t>Bhavana P H</a:t>
            </a:r>
            <a:endParaRPr lang="en-US" sz="1200" dirty="0"/>
          </a:p>
        </p:txBody>
      </p:sp>
      <p:sp>
        <p:nvSpPr>
          <p:cNvPr id="14" name="chip_244"/>
          <p:cNvSpPr txBox="1"/>
          <p:nvPr/>
        </p:nvSpPr>
        <p:spPr>
          <a:xfrm>
            <a:off x="3621024" y="292608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Factory Method</a:t>
            </a:r>
            <a:endParaRPr lang="en-US" sz="1100" dirty="0"/>
          </a:p>
        </p:txBody>
      </p:sp>
      <p:sp>
        <p:nvSpPr>
          <p:cNvPr id="15" name="text_245"/>
          <p:cNvSpPr txBox="1"/>
          <p:nvPr/>
        </p:nvSpPr>
        <p:spPr>
          <a:xfrm>
            <a:off x="3621024" y="3364992"/>
            <a:ext cx="2194560" cy="320040"/>
          </a:xfrm>
          <a:prstGeom prst="rect">
            <a:avLst/>
          </a:prstGeom>
          <a:noFill/>
          <a:ln/>
        </p:spPr>
        <p:txBody>
          <a:bodyPr wrap="square" lIns="0" tIns="0" rIns="0" bIns="0" rtlCol="0" anchor="t"/>
          <a:lstStyle/>
          <a:p>
            <a:pPr indent="0" marL="0">
              <a:buNone/>
            </a:pPr>
            <a:r>
              <a:rPr lang="en-US" sz="1600" b="1" dirty="0">
                <a:solidFill>
                  <a:schemeClr val="accent2"/>
                </a:solidFill>
              </a:rPr>
              <a:t>+24 tests</a:t>
            </a:r>
            <a:endParaRPr lang="en-US" sz="1600" dirty="0"/>
          </a:p>
        </p:txBody>
      </p:sp>
      <p:sp>
        <p:nvSpPr>
          <p:cNvPr id="16" name="text_246"/>
          <p:cNvSpPr txBox="1"/>
          <p:nvPr/>
        </p:nvSpPr>
        <p:spPr>
          <a:xfrm>
            <a:off x="3621024" y="3730752"/>
            <a:ext cx="2194560" cy="777240"/>
          </a:xfrm>
          <a:prstGeom prst="rect">
            <a:avLst/>
          </a:prstGeom>
          <a:noFill/>
          <a:ln/>
        </p:spPr>
        <p:txBody>
          <a:bodyPr wrap="square" lIns="0" tIns="0" rIns="0" bIns="0" rtlCol="0" anchor="t"/>
          <a:lstStyle/>
          <a:p>
            <a:pPr indent="0" marL="0">
              <a:buNone/>
            </a:pPr>
            <a:r>
              <a:rPr lang="en-US" sz="1200" dirty="0">
                <a:solidFill>
                  <a:schemeClr val="tx1"/>
                </a:solidFill>
              </a:rPr>
              <a:t>No refactoring (0 lines removed)</a:t>
            </a:r>
            <a:endParaRPr lang="en-US" sz="1200" dirty="0"/>
          </a:p>
        </p:txBody>
      </p:sp>
      <p:sp>
        <p:nvSpPr>
          <p:cNvPr id="17" name="card_247"/>
          <p:cNvSpPr/>
          <p:nvPr/>
        </p:nvSpPr>
        <p:spPr>
          <a:xfrm>
            <a:off x="6236208" y="1371600"/>
            <a:ext cx="2606040" cy="3246120"/>
          </a:xfrm>
          <a:prstGeom prst="roundRect">
            <a:avLst>
              <a:gd name="adj" fmla="val 2807"/>
            </a:avLst>
          </a:prstGeom>
          <a:solidFill>
            <a:schemeClr val="bg2"/>
          </a:solidFill>
          <a:ln w="12700">
            <a:solidFill>
              <a:schemeClr val="bg2"/>
            </a:solidFill>
            <a:prstDash val="solid"/>
          </a:ln>
        </p:spPr>
      </p:sp>
      <p:sp>
        <p:nvSpPr>
          <p:cNvPr id="18" name="text_248"/>
          <p:cNvSpPr txBox="1"/>
          <p:nvPr/>
        </p:nvSpPr>
        <p:spPr>
          <a:xfrm>
            <a:off x="6464808" y="1554480"/>
            <a:ext cx="219456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CHANGE3</a:t>
            </a:r>
            <a:endParaRPr lang="en-US" sz="1100" dirty="0"/>
          </a:p>
        </p:txBody>
      </p:sp>
      <p:sp>
        <p:nvSpPr>
          <p:cNvPr id="19" name="text_249"/>
          <p:cNvSpPr txBox="1"/>
          <p:nvPr/>
        </p:nvSpPr>
        <p:spPr>
          <a:xfrm>
            <a:off x="6464808" y="1828800"/>
            <a:ext cx="2194560" cy="685800"/>
          </a:xfrm>
          <a:prstGeom prst="rect">
            <a:avLst/>
          </a:prstGeom>
          <a:noFill/>
          <a:ln/>
        </p:spPr>
        <p:txBody>
          <a:bodyPr wrap="square" lIns="0" tIns="0" rIns="0" bIns="0" rtlCol="0" anchor="t"/>
          <a:lstStyle/>
          <a:p>
            <a:pPr indent="0" marL="0">
              <a:buNone/>
            </a:pPr>
            <a:r>
              <a:rPr lang="en-US" sz="1600" b="1" dirty="0">
                <a:solidFill>
                  <a:schemeClr val="tx2"/>
                </a:solidFill>
              </a:rPr>
              <a:t>Interchangeable pricing policies</a:t>
            </a:r>
            <a:endParaRPr lang="en-US" sz="1600" dirty="0"/>
          </a:p>
        </p:txBody>
      </p:sp>
      <p:sp>
        <p:nvSpPr>
          <p:cNvPr id="20" name="text_250"/>
          <p:cNvSpPr txBox="1"/>
          <p:nvPr/>
        </p:nvSpPr>
        <p:spPr>
          <a:xfrm>
            <a:off x="6464808" y="2560320"/>
            <a:ext cx="2194560" cy="274320"/>
          </a:xfrm>
          <a:prstGeom prst="rect">
            <a:avLst/>
          </a:prstGeom>
          <a:noFill/>
          <a:ln/>
        </p:spPr>
        <p:txBody>
          <a:bodyPr wrap="square" lIns="0" tIns="0" rIns="0" bIns="0" rtlCol="0" anchor="t"/>
          <a:lstStyle/>
          <a:p>
            <a:pPr indent="0" marL="0">
              <a:buNone/>
            </a:pPr>
            <a:r>
              <a:rPr lang="en-US" sz="1200" dirty="0">
                <a:solidFill>
                  <a:schemeClr val="accent4"/>
                </a:solidFill>
              </a:rPr>
              <a:t>Neema Vinod</a:t>
            </a:r>
            <a:endParaRPr lang="en-US" sz="1200" dirty="0"/>
          </a:p>
        </p:txBody>
      </p:sp>
      <p:sp>
        <p:nvSpPr>
          <p:cNvPr id="21" name="chip_251"/>
          <p:cNvSpPr txBox="1"/>
          <p:nvPr/>
        </p:nvSpPr>
        <p:spPr>
          <a:xfrm>
            <a:off x="6464808" y="292608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Strategy</a:t>
            </a:r>
            <a:endParaRPr lang="en-US" sz="1100" dirty="0"/>
          </a:p>
        </p:txBody>
      </p:sp>
      <p:sp>
        <p:nvSpPr>
          <p:cNvPr id="22" name="text_252"/>
          <p:cNvSpPr txBox="1"/>
          <p:nvPr/>
        </p:nvSpPr>
        <p:spPr>
          <a:xfrm>
            <a:off x="6464808" y="3364992"/>
            <a:ext cx="2194560" cy="320040"/>
          </a:xfrm>
          <a:prstGeom prst="rect">
            <a:avLst/>
          </a:prstGeom>
          <a:noFill/>
          <a:ln/>
        </p:spPr>
        <p:txBody>
          <a:bodyPr wrap="square" lIns="0" tIns="0" rIns="0" bIns="0" rtlCol="0" anchor="t"/>
          <a:lstStyle/>
          <a:p>
            <a:pPr indent="0" marL="0">
              <a:buNone/>
            </a:pPr>
            <a:r>
              <a:rPr lang="en-US" sz="1600" b="1" dirty="0">
                <a:solidFill>
                  <a:schemeClr val="accent2"/>
                </a:solidFill>
              </a:rPr>
              <a:t>+22 tests</a:t>
            </a:r>
            <a:endParaRPr lang="en-US" sz="1600" dirty="0"/>
          </a:p>
        </p:txBody>
      </p:sp>
      <p:sp>
        <p:nvSpPr>
          <p:cNvPr id="23" name="text_253"/>
          <p:cNvSpPr txBox="1"/>
          <p:nvPr/>
        </p:nvSpPr>
        <p:spPr>
          <a:xfrm>
            <a:off x="6464808" y="3730752"/>
            <a:ext cx="2194560" cy="777240"/>
          </a:xfrm>
          <a:prstGeom prst="rect">
            <a:avLst/>
          </a:prstGeom>
          <a:noFill/>
          <a:ln/>
        </p:spPr>
        <p:txBody>
          <a:bodyPr wrap="square" lIns="0" tIns="0" rIns="0" bIns="0" rtlCol="0" anchor="t"/>
          <a:lstStyle/>
          <a:p>
            <a:pPr indent="0" marL="0">
              <a:buNone/>
            </a:pPr>
            <a:r>
              <a:rPr lang="en-US" sz="1200" dirty="0">
                <a:solidFill>
                  <a:schemeClr val="tx1"/>
                </a:solidFill>
              </a:rPr>
              <a:t>Static calculator → policy objects; injected clock</a:t>
            </a:r>
            <a:endParaRPr lang="en-US" sz="1200" dirty="0"/>
          </a:p>
        </p:txBody>
      </p:sp>
      <p:sp>
        <p:nvSpPr>
          <p:cNvPr id="24" name="card_254"/>
          <p:cNvSpPr/>
          <p:nvPr/>
        </p:nvSpPr>
        <p:spPr>
          <a:xfrm>
            <a:off x="9079992" y="1371600"/>
            <a:ext cx="2606040" cy="3246120"/>
          </a:xfrm>
          <a:prstGeom prst="roundRect">
            <a:avLst>
              <a:gd name="adj" fmla="val 2807"/>
            </a:avLst>
          </a:prstGeom>
          <a:solidFill>
            <a:schemeClr val="bg2"/>
          </a:solidFill>
          <a:ln w="12700">
            <a:solidFill>
              <a:schemeClr val="bg2"/>
            </a:solidFill>
            <a:prstDash val="solid"/>
          </a:ln>
        </p:spPr>
      </p:sp>
      <p:sp>
        <p:nvSpPr>
          <p:cNvPr id="25" name="text_255"/>
          <p:cNvSpPr txBox="1"/>
          <p:nvPr/>
        </p:nvSpPr>
        <p:spPr>
          <a:xfrm>
            <a:off x="9308592" y="1554480"/>
            <a:ext cx="2194560" cy="256032"/>
          </a:xfrm>
          <a:prstGeom prst="rect">
            <a:avLst/>
          </a:prstGeom>
          <a:noFill/>
          <a:ln/>
        </p:spPr>
        <p:txBody>
          <a:bodyPr wrap="square" lIns="0" tIns="0" rIns="0" bIns="0" rtlCol="0" anchor="t"/>
          <a:lstStyle/>
          <a:p>
            <a:pPr indent="0" marL="0">
              <a:buNone/>
            </a:pPr>
            <a:r>
              <a:rPr lang="en-US" sz="1100" b="1" spc="100" kern="0" dirty="0">
                <a:solidFill>
                  <a:schemeClr val="accent4"/>
                </a:solidFill>
              </a:rPr>
              <a:t>CHANGE4</a:t>
            </a:r>
            <a:endParaRPr lang="en-US" sz="1100" dirty="0"/>
          </a:p>
        </p:txBody>
      </p:sp>
      <p:sp>
        <p:nvSpPr>
          <p:cNvPr id="26" name="text_256"/>
          <p:cNvSpPr txBox="1"/>
          <p:nvPr/>
        </p:nvSpPr>
        <p:spPr>
          <a:xfrm>
            <a:off x="9308592" y="1828800"/>
            <a:ext cx="2194560" cy="685800"/>
          </a:xfrm>
          <a:prstGeom prst="rect">
            <a:avLst/>
          </a:prstGeom>
          <a:noFill/>
          <a:ln/>
        </p:spPr>
        <p:txBody>
          <a:bodyPr wrap="square" lIns="0" tIns="0" rIns="0" bIns="0" rtlCol="0" anchor="t"/>
          <a:lstStyle/>
          <a:p>
            <a:pPr indent="0" marL="0">
              <a:buNone/>
            </a:pPr>
            <a:r>
              <a:rPr lang="en-US" sz="1600" b="1" dirty="0">
                <a:solidFill>
                  <a:schemeClr val="tx2"/>
                </a:solidFill>
              </a:rPr>
              <a:t>Booking lifecycle notifications</a:t>
            </a:r>
            <a:endParaRPr lang="en-US" sz="1600" dirty="0"/>
          </a:p>
        </p:txBody>
      </p:sp>
      <p:sp>
        <p:nvSpPr>
          <p:cNvPr id="27" name="text_257"/>
          <p:cNvSpPr txBox="1"/>
          <p:nvPr/>
        </p:nvSpPr>
        <p:spPr>
          <a:xfrm>
            <a:off x="9308592" y="2560320"/>
            <a:ext cx="2194560" cy="274320"/>
          </a:xfrm>
          <a:prstGeom prst="rect">
            <a:avLst/>
          </a:prstGeom>
          <a:noFill/>
          <a:ln/>
        </p:spPr>
        <p:txBody>
          <a:bodyPr wrap="square" lIns="0" tIns="0" rIns="0" bIns="0" rtlCol="0" anchor="t"/>
          <a:lstStyle/>
          <a:p>
            <a:pPr indent="0" marL="0">
              <a:buNone/>
            </a:pPr>
            <a:r>
              <a:rPr lang="en-US" sz="1200" dirty="0">
                <a:solidFill>
                  <a:schemeClr val="accent4"/>
                </a:solidFill>
              </a:rPr>
              <a:t>Vani Sugovind S R</a:t>
            </a:r>
            <a:endParaRPr lang="en-US" sz="1200" dirty="0"/>
          </a:p>
        </p:txBody>
      </p:sp>
      <p:sp>
        <p:nvSpPr>
          <p:cNvPr id="28" name="chip_258"/>
          <p:cNvSpPr txBox="1"/>
          <p:nvPr/>
        </p:nvSpPr>
        <p:spPr>
          <a:xfrm>
            <a:off x="9308592" y="2926080"/>
            <a:ext cx="14630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Observer</a:t>
            </a:r>
            <a:endParaRPr lang="en-US" sz="1100" dirty="0"/>
          </a:p>
        </p:txBody>
      </p:sp>
      <p:sp>
        <p:nvSpPr>
          <p:cNvPr id="29" name="text_259"/>
          <p:cNvSpPr txBox="1"/>
          <p:nvPr/>
        </p:nvSpPr>
        <p:spPr>
          <a:xfrm>
            <a:off x="9308592" y="3364992"/>
            <a:ext cx="2194560" cy="320040"/>
          </a:xfrm>
          <a:prstGeom prst="rect">
            <a:avLst/>
          </a:prstGeom>
          <a:noFill/>
          <a:ln/>
        </p:spPr>
        <p:txBody>
          <a:bodyPr wrap="square" lIns="0" tIns="0" rIns="0" bIns="0" rtlCol="0" anchor="t"/>
          <a:lstStyle/>
          <a:p>
            <a:pPr indent="0" marL="0">
              <a:buNone/>
            </a:pPr>
            <a:r>
              <a:rPr lang="en-US" sz="1600" b="1" dirty="0">
                <a:solidFill>
                  <a:schemeClr val="accent2"/>
                </a:solidFill>
              </a:rPr>
              <a:t>+18 tests</a:t>
            </a:r>
            <a:endParaRPr lang="en-US" sz="1600" dirty="0"/>
          </a:p>
        </p:txBody>
      </p:sp>
      <p:sp>
        <p:nvSpPr>
          <p:cNvPr id="30" name="text_260"/>
          <p:cNvSpPr txBox="1"/>
          <p:nvPr/>
        </p:nvSpPr>
        <p:spPr>
          <a:xfrm>
            <a:off x="9308592" y="3730752"/>
            <a:ext cx="2194560" cy="777240"/>
          </a:xfrm>
          <a:prstGeom prst="rect">
            <a:avLst/>
          </a:prstGeom>
          <a:noFill/>
          <a:ln/>
        </p:spPr>
        <p:txBody>
          <a:bodyPr wrap="square" lIns="0" tIns="0" rIns="0" bIns="0" rtlCol="0" anchor="t"/>
          <a:lstStyle/>
          <a:p>
            <a:pPr indent="0" marL="0">
              <a:buNone/>
            </a:pPr>
            <a:r>
              <a:rPr lang="en-US" sz="1200" dirty="0">
                <a:solidFill>
                  <a:schemeClr val="tx1"/>
                </a:solidFill>
              </a:rPr>
              <a:t>Extract Class + Move Method on BookingService</a:t>
            </a:r>
            <a:endParaRPr lang="en-US" sz="1200" dirty="0"/>
          </a:p>
        </p:txBody>
      </p:sp>
      <p:sp>
        <p:nvSpPr>
          <p:cNvPr id="31" name="card_261"/>
          <p:cNvSpPr/>
          <p:nvPr/>
        </p:nvSpPr>
        <p:spPr>
          <a:xfrm>
            <a:off x="548640" y="4892040"/>
            <a:ext cx="11094415" cy="1188720"/>
          </a:xfrm>
          <a:prstGeom prst="roundRect">
            <a:avLst>
              <a:gd name="adj" fmla="val 6154"/>
            </a:avLst>
          </a:prstGeom>
          <a:solidFill>
            <a:schemeClr val="tx2"/>
          </a:solidFill>
          <a:ln w="12700">
            <a:solidFill>
              <a:schemeClr val="tx2"/>
            </a:solidFill>
            <a:prstDash val="solid"/>
          </a:ln>
        </p:spPr>
      </p:sp>
      <p:sp>
        <p:nvSpPr>
          <p:cNvPr id="32" name="text_262"/>
          <p:cNvSpPr txBox="1"/>
          <p:nvPr/>
        </p:nvSpPr>
        <p:spPr>
          <a:xfrm>
            <a:off x="822960" y="5029200"/>
            <a:ext cx="2926080" cy="914400"/>
          </a:xfrm>
          <a:prstGeom prst="rect">
            <a:avLst/>
          </a:prstGeom>
          <a:noFill/>
          <a:ln/>
        </p:spPr>
        <p:txBody>
          <a:bodyPr wrap="square" lIns="0" tIns="0" rIns="0" bIns="0" rtlCol="0" anchor="ctr"/>
          <a:lstStyle/>
          <a:p>
            <a:pPr indent="0" marL="0">
              <a:buNone/>
            </a:pPr>
            <a:r>
              <a:rPr lang="en-US" sz="1500" b="1" dirty="0">
                <a:solidFill>
                  <a:schemeClr val="bg1"/>
                </a:solidFill>
              </a:rPr>
              <a:t>Integrated in order → Part2/code</a:t>
            </a:r>
            <a:endParaRPr lang="en-US" sz="1500" dirty="0"/>
          </a:p>
        </p:txBody>
      </p:sp>
      <p:sp>
        <p:nvSpPr>
          <p:cNvPr id="33" name="text_263"/>
          <p:cNvSpPr txBox="1"/>
          <p:nvPr/>
        </p:nvSpPr>
        <p:spPr>
          <a:xfrm>
            <a:off x="3611880" y="5074920"/>
            <a:ext cx="1325880" cy="274320"/>
          </a:xfrm>
          <a:prstGeom prst="rect">
            <a:avLst/>
          </a:prstGeom>
          <a:noFill/>
          <a:ln/>
        </p:spPr>
        <p:txBody>
          <a:bodyPr wrap="square" lIns="0" tIns="0" rIns="0" bIns="0" rtlCol="0" anchor="t"/>
          <a:lstStyle/>
          <a:p>
            <a:pPr algn="ctr" indent="0" marL="0">
              <a:buNone/>
            </a:pPr>
            <a:r>
              <a:rPr lang="en-US" sz="1100" dirty="0">
                <a:solidFill>
                  <a:schemeClr val="bg2"/>
                </a:solidFill>
              </a:rPr>
              <a:t>Original</a:t>
            </a:r>
            <a:endParaRPr lang="en-US" sz="1100" dirty="0"/>
          </a:p>
        </p:txBody>
      </p:sp>
      <p:sp>
        <p:nvSpPr>
          <p:cNvPr id="34" name="text_264"/>
          <p:cNvSpPr txBox="1"/>
          <p:nvPr/>
        </p:nvSpPr>
        <p:spPr>
          <a:xfrm>
            <a:off x="3611880" y="5349240"/>
            <a:ext cx="1325880" cy="45720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182 / 183</a:t>
            </a:r>
            <a:endParaRPr lang="en-US" sz="1800" dirty="0"/>
          </a:p>
        </p:txBody>
      </p:sp>
      <p:sp>
        <p:nvSpPr>
          <p:cNvPr id="35" name="text_265"/>
          <p:cNvSpPr txBox="1"/>
          <p:nvPr/>
        </p:nvSpPr>
        <p:spPr>
          <a:xfrm>
            <a:off x="5230368" y="5074920"/>
            <a:ext cx="1325880" cy="274320"/>
          </a:xfrm>
          <a:prstGeom prst="rect">
            <a:avLst/>
          </a:prstGeom>
          <a:noFill/>
          <a:ln/>
        </p:spPr>
        <p:txBody>
          <a:bodyPr wrap="square" lIns="0" tIns="0" rIns="0" bIns="0" rtlCol="0" anchor="t"/>
          <a:lstStyle/>
          <a:p>
            <a:pPr algn="ctr" indent="0" marL="0">
              <a:buNone/>
            </a:pPr>
            <a:r>
              <a:rPr lang="en-US" sz="1100" dirty="0">
                <a:solidFill>
                  <a:schemeClr val="bg2"/>
                </a:solidFill>
              </a:rPr>
              <a:t>After C1</a:t>
            </a:r>
            <a:endParaRPr lang="en-US" sz="1100" dirty="0"/>
          </a:p>
        </p:txBody>
      </p:sp>
      <p:sp>
        <p:nvSpPr>
          <p:cNvPr id="36" name="text_266"/>
          <p:cNvSpPr txBox="1"/>
          <p:nvPr/>
        </p:nvSpPr>
        <p:spPr>
          <a:xfrm>
            <a:off x="5230368" y="5349240"/>
            <a:ext cx="1325880" cy="45720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232 / 233</a:t>
            </a:r>
            <a:endParaRPr lang="en-US" sz="1800" dirty="0"/>
          </a:p>
        </p:txBody>
      </p:sp>
      <p:sp>
        <p:nvSpPr>
          <p:cNvPr id="37" name="arrow_267"/>
          <p:cNvSpPr/>
          <p:nvPr/>
        </p:nvSpPr>
        <p:spPr>
          <a:xfrm>
            <a:off x="4956048" y="5532120"/>
            <a:ext cx="228600" cy="914"/>
          </a:xfrm>
          <a:prstGeom prst="line">
            <a:avLst/>
          </a:prstGeom>
          <a:noFill/>
          <a:ln w="19050">
            <a:solidFill>
              <a:schemeClr val="accent1"/>
            </a:solidFill>
            <a:prstDash val="solid"/>
            <a:tailEnd type="triangle"/>
          </a:ln>
        </p:spPr>
      </p:sp>
      <p:sp>
        <p:nvSpPr>
          <p:cNvPr id="38" name="text_268"/>
          <p:cNvSpPr txBox="1"/>
          <p:nvPr/>
        </p:nvSpPr>
        <p:spPr>
          <a:xfrm>
            <a:off x="6848856" y="5074920"/>
            <a:ext cx="1325880" cy="274320"/>
          </a:xfrm>
          <a:prstGeom prst="rect">
            <a:avLst/>
          </a:prstGeom>
          <a:noFill/>
          <a:ln/>
        </p:spPr>
        <p:txBody>
          <a:bodyPr wrap="square" lIns="0" tIns="0" rIns="0" bIns="0" rtlCol="0" anchor="t"/>
          <a:lstStyle/>
          <a:p>
            <a:pPr algn="ctr" indent="0" marL="0">
              <a:buNone/>
            </a:pPr>
            <a:r>
              <a:rPr lang="en-US" sz="1100" dirty="0">
                <a:solidFill>
                  <a:schemeClr val="bg2"/>
                </a:solidFill>
              </a:rPr>
              <a:t>After C2</a:t>
            </a:r>
            <a:endParaRPr lang="en-US" sz="1100" dirty="0"/>
          </a:p>
        </p:txBody>
      </p:sp>
      <p:sp>
        <p:nvSpPr>
          <p:cNvPr id="39" name="text_269"/>
          <p:cNvSpPr txBox="1"/>
          <p:nvPr/>
        </p:nvSpPr>
        <p:spPr>
          <a:xfrm>
            <a:off x="6848856" y="5349240"/>
            <a:ext cx="1325880" cy="45720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256 / 257</a:t>
            </a:r>
            <a:endParaRPr lang="en-US" sz="1800" dirty="0"/>
          </a:p>
        </p:txBody>
      </p:sp>
      <p:sp>
        <p:nvSpPr>
          <p:cNvPr id="40" name="arrow_270"/>
          <p:cNvSpPr/>
          <p:nvPr/>
        </p:nvSpPr>
        <p:spPr>
          <a:xfrm>
            <a:off x="6574536" y="5532120"/>
            <a:ext cx="228600" cy="914"/>
          </a:xfrm>
          <a:prstGeom prst="line">
            <a:avLst/>
          </a:prstGeom>
          <a:noFill/>
          <a:ln w="19050">
            <a:solidFill>
              <a:schemeClr val="accent1"/>
            </a:solidFill>
            <a:prstDash val="solid"/>
            <a:tailEnd type="triangle"/>
          </a:ln>
        </p:spPr>
      </p:sp>
      <p:sp>
        <p:nvSpPr>
          <p:cNvPr id="41" name="text_271"/>
          <p:cNvSpPr txBox="1"/>
          <p:nvPr/>
        </p:nvSpPr>
        <p:spPr>
          <a:xfrm>
            <a:off x="8467344" y="5074920"/>
            <a:ext cx="1325880" cy="274320"/>
          </a:xfrm>
          <a:prstGeom prst="rect">
            <a:avLst/>
          </a:prstGeom>
          <a:noFill/>
          <a:ln/>
        </p:spPr>
        <p:txBody>
          <a:bodyPr wrap="square" lIns="0" tIns="0" rIns="0" bIns="0" rtlCol="0" anchor="t"/>
          <a:lstStyle/>
          <a:p>
            <a:pPr algn="ctr" indent="0" marL="0">
              <a:buNone/>
            </a:pPr>
            <a:r>
              <a:rPr lang="en-US" sz="1100" dirty="0">
                <a:solidFill>
                  <a:schemeClr val="bg2"/>
                </a:solidFill>
              </a:rPr>
              <a:t>After C3</a:t>
            </a:r>
            <a:endParaRPr lang="en-US" sz="1100" dirty="0"/>
          </a:p>
        </p:txBody>
      </p:sp>
      <p:sp>
        <p:nvSpPr>
          <p:cNvPr id="42" name="text_272"/>
          <p:cNvSpPr txBox="1"/>
          <p:nvPr/>
        </p:nvSpPr>
        <p:spPr>
          <a:xfrm>
            <a:off x="8467344" y="5349240"/>
            <a:ext cx="1325880" cy="457200"/>
          </a:xfrm>
          <a:prstGeom prst="rect">
            <a:avLst/>
          </a:prstGeom>
          <a:noFill/>
          <a:ln/>
        </p:spPr>
        <p:txBody>
          <a:bodyPr wrap="square" lIns="0" tIns="0" rIns="0" bIns="0" rtlCol="0" anchor="t"/>
          <a:lstStyle/>
          <a:p>
            <a:pPr algn="ctr" indent="0" marL="0">
              <a:buNone/>
            </a:pPr>
            <a:r>
              <a:rPr lang="en-US" sz="1800" b="1" dirty="0">
                <a:solidFill>
                  <a:schemeClr val="bg1"/>
                </a:solidFill>
                <a:latin typeface="Cambria" pitchFamily="34" charset="0"/>
                <a:ea typeface="Cambria" pitchFamily="34" charset="-122"/>
                <a:cs typeface="Cambria" pitchFamily="34" charset="-120"/>
              </a:rPr>
              <a:t>279 / 279</a:t>
            </a:r>
            <a:endParaRPr lang="en-US" sz="1800" dirty="0"/>
          </a:p>
        </p:txBody>
      </p:sp>
      <p:sp>
        <p:nvSpPr>
          <p:cNvPr id="43" name="arrow_273"/>
          <p:cNvSpPr/>
          <p:nvPr/>
        </p:nvSpPr>
        <p:spPr>
          <a:xfrm>
            <a:off x="8193024" y="5532120"/>
            <a:ext cx="228600" cy="914"/>
          </a:xfrm>
          <a:prstGeom prst="line">
            <a:avLst/>
          </a:prstGeom>
          <a:noFill/>
          <a:ln w="19050">
            <a:solidFill>
              <a:schemeClr val="accent1"/>
            </a:solidFill>
            <a:prstDash val="solid"/>
            <a:tailEnd type="triangle"/>
          </a:ln>
        </p:spPr>
      </p:sp>
      <p:sp>
        <p:nvSpPr>
          <p:cNvPr id="44" name="text_274"/>
          <p:cNvSpPr txBox="1"/>
          <p:nvPr/>
        </p:nvSpPr>
        <p:spPr>
          <a:xfrm>
            <a:off x="10085832" y="5074920"/>
            <a:ext cx="1325880" cy="274320"/>
          </a:xfrm>
          <a:prstGeom prst="rect">
            <a:avLst/>
          </a:prstGeom>
          <a:noFill/>
          <a:ln/>
        </p:spPr>
        <p:txBody>
          <a:bodyPr wrap="square" lIns="0" tIns="0" rIns="0" bIns="0" rtlCol="0" anchor="t"/>
          <a:lstStyle/>
          <a:p>
            <a:pPr algn="ctr" indent="0" marL="0">
              <a:buNone/>
            </a:pPr>
            <a:r>
              <a:rPr lang="en-US" sz="1100" dirty="0">
                <a:solidFill>
                  <a:schemeClr val="bg2"/>
                </a:solidFill>
              </a:rPr>
              <a:t>After C4</a:t>
            </a:r>
            <a:endParaRPr lang="en-US" sz="1100" dirty="0"/>
          </a:p>
        </p:txBody>
      </p:sp>
      <p:sp>
        <p:nvSpPr>
          <p:cNvPr id="45" name="text_275"/>
          <p:cNvSpPr txBox="1"/>
          <p:nvPr/>
        </p:nvSpPr>
        <p:spPr>
          <a:xfrm>
            <a:off x="10085832" y="5349240"/>
            <a:ext cx="1325880" cy="457200"/>
          </a:xfrm>
          <a:prstGeom prst="rect">
            <a:avLst/>
          </a:prstGeom>
          <a:noFill/>
          <a:ln/>
        </p:spPr>
        <p:txBody>
          <a:bodyPr wrap="square" lIns="0" tIns="0" rIns="0" bIns="0" rtlCol="0" anchor="t"/>
          <a:lstStyle/>
          <a:p>
            <a:pPr algn="ctr" indent="0" marL="0">
              <a:buNone/>
            </a:pPr>
            <a:r>
              <a:rPr lang="en-US" sz="1800" b="1" dirty="0">
                <a:solidFill>
                  <a:schemeClr val="accent1"/>
                </a:solidFill>
                <a:latin typeface="Cambria" pitchFamily="34" charset="0"/>
                <a:ea typeface="Cambria" pitchFamily="34" charset="-122"/>
                <a:cs typeface="Cambria" pitchFamily="34" charset="-120"/>
              </a:rPr>
              <a:t>297 / 297</a:t>
            </a:r>
            <a:endParaRPr lang="en-US" sz="1800" dirty="0"/>
          </a:p>
        </p:txBody>
      </p:sp>
      <p:sp>
        <p:nvSpPr>
          <p:cNvPr id="46" name="arrow_276"/>
          <p:cNvSpPr/>
          <p:nvPr/>
        </p:nvSpPr>
        <p:spPr>
          <a:xfrm>
            <a:off x="9811512" y="5532120"/>
            <a:ext cx="228600" cy="914"/>
          </a:xfrm>
          <a:prstGeom prst="line">
            <a:avLst/>
          </a:prstGeom>
          <a:noFill/>
          <a:ln w="19050">
            <a:solidFill>
              <a:schemeClr val="accent1"/>
            </a:solidFill>
            <a:prstDash val="solid"/>
            <a:tailEnd type="triangle"/>
          </a:ln>
        </p:spPr>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Change1 · Maintenance workflow with State</a:t>
            </a:r>
            <a:endParaRPr lang="en-US" sz="3200" dirty="0"/>
          </a:p>
        </p:txBody>
      </p:sp>
      <p:sp>
        <p:nvSpPr>
          <p:cNvPr id="3" name="text_277"/>
          <p:cNvSpPr txBox="1"/>
          <p:nvPr/>
        </p:nvSpPr>
        <p:spPr>
          <a:xfrm>
            <a:off x="548640" y="1325880"/>
            <a:ext cx="6400800" cy="868680"/>
          </a:xfrm>
          <a:prstGeom prst="rect">
            <a:avLst/>
          </a:prstGeom>
          <a:noFill/>
          <a:ln/>
        </p:spPr>
        <p:txBody>
          <a:bodyPr wrap="square" lIns="0" tIns="0" rIns="0" bIns="0" rtlCol="0" anchor="t"/>
          <a:lstStyle/>
          <a:p>
            <a:pPr indent="0" marL="0">
              <a:buNone/>
            </a:pPr>
            <a:r>
              <a:rPr lang="en-US" sz="1400" dirty="0">
                <a:solidFill>
                  <a:schemeClr val="tx1"/>
                </a:solidFill>
              </a:rPr>
              <a:t>Staff schedule, start, complete or cancel maintenance for a car and list what is due or overdue. Each status is a class, so MaintenanceService has no switch on Status.</a:t>
            </a:r>
            <a:endParaRPr lang="en-US" sz="1400" dirty="0"/>
          </a:p>
        </p:txBody>
      </p:sp>
      <p:graphicFrame>
        <p:nvGraphicFramePr>
          <p:cNvPr id="17" name="table_278"/>
          <p:cNvGraphicFramePr>
            <a:graphicFrameLocks noGrp="1"/>
          </p:cNvGraphicFramePr>
          <p:nvPr>
            <p:extLst>
              <p:ext uri="{D42A27DB-BD31-4B8C-83A1-F6EECF244321}">
                <p14:modId xmlns:p14="http://schemas.microsoft.com/office/powerpoint/2010/main" val="1579011935"/>
              </p:ext>
            </p:extLst>
          </p:nvPr>
        </p:nvGraphicFramePr>
        <p:xfrm>
          <a:off x="548640" y="2286000"/>
          <a:ext cx="6400800" cy="914400"/>
        </p:xfrm>
        <a:graphic>
          <a:graphicData uri="http://schemas.openxmlformats.org/drawingml/2006/table">
            <a:tbl>
              <a:tblPr/>
              <a:tblGrid>
                <a:gridCol w="1737360"/>
                <a:gridCol w="4663440"/>
              </a:tblGrid>
              <a:tr h="384048">
                <a:tc>
                  <a:txBody>
                    <a:bodyPr/>
                    <a:lstStyle/>
                    <a:p>
                      <a:pPr indent="0" marL="0">
                        <a:buNone/>
                      </a:pPr>
                      <a:r>
                        <a:rPr lang="en-US" sz="1200" b="1" dirty="0">
                          <a:solidFill>
                            <a:schemeClr val="bg1"/>
                          </a:solidFill>
                        </a:rPr>
                        <a:t>Role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Participant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State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IMaintenanceState — Start, Complete, Cancel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Default behaviour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MaintenanceStateBase — every operation → 409</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ConcreteState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ScheduledState, InProgressState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Terminal states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CompletedState, CancelledState (override nothing)</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Context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MaintenanceContext — picks state by dictionary lookup</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Client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MaintenanceService.TransitionAsync</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bl>
          </a:graphicData>
        </a:graphic>
      </p:graphicFrame>
      <p:sp>
        <p:nvSpPr>
          <p:cNvPr id="5" name="card_279"/>
          <p:cNvSpPr/>
          <p:nvPr/>
        </p:nvSpPr>
        <p:spPr>
          <a:xfrm>
            <a:off x="548640" y="5120640"/>
            <a:ext cx="6400800" cy="914400"/>
          </a:xfrm>
          <a:prstGeom prst="roundRect">
            <a:avLst>
              <a:gd name="adj" fmla="val 8000"/>
            </a:avLst>
          </a:prstGeom>
          <a:solidFill>
            <a:schemeClr val="bg2"/>
          </a:solidFill>
          <a:ln w="12700">
            <a:solidFill>
              <a:schemeClr val="bg2"/>
            </a:solidFill>
            <a:prstDash val="solid"/>
          </a:ln>
        </p:spPr>
      </p:sp>
      <p:sp>
        <p:nvSpPr>
          <p:cNvPr id="6" name="text_280"/>
          <p:cNvSpPr txBox="1"/>
          <p:nvPr/>
        </p:nvSpPr>
        <p:spPr>
          <a:xfrm>
            <a:off x="777240" y="5212080"/>
            <a:ext cx="5943600" cy="731520"/>
          </a:xfrm>
          <a:prstGeom prst="rect">
            <a:avLst/>
          </a:prstGeom>
          <a:noFill/>
          <a:ln/>
        </p:spPr>
        <p:txBody>
          <a:bodyPr wrap="square" lIns="0" tIns="0" rIns="0" bIns="0" rtlCol="0" anchor="ctr"/>
          <a:lstStyle/>
          <a:p>
            <a:pPr indent="0" marL="0">
              <a:buNone/>
            </a:pPr>
            <a:r>
              <a:rPr lang="en-US" sz="1200" b="1" dirty="0">
                <a:solidFill>
                  <a:schemeClr val="accent2"/>
                </a:solidFill>
              </a:rPr>
              <a:t>Result: </a:t>
            </a:r>
            <a:pPr indent="0" marL="0">
              <a:buNone/>
            </a:pPr>
            <a:r>
              <a:rPr lang="en-US" sz="1200" dirty="0">
                <a:solidFill>
                  <a:schemeClr val="tx1"/>
                </a:solidFill>
              </a:rPr>
              <a:t>+50 tests, 233 total / 232 passed (same baseline failure). New code takes time from an injected TimeProvider. Code in Part2/code is reconstructed from the change documents.</a:t>
            </a:r>
            <a:endParaRPr lang="en-US" sz="1200" dirty="0"/>
          </a:p>
        </p:txBody>
      </p:sp>
      <p:pic>
        <p:nvPicPr>
          <p:cNvPr id="7" name="diagram_281" descr="img/03_change1_state_machine.png">    </p:cNvPr>
          <p:cNvPicPr>
            <a:picLocks noChangeAspect="1"/>
          </p:cNvPicPr>
          <p:nvPr/>
        </p:nvPicPr>
        <p:blipFill>
          <a:blip r:embed="rId1"/>
          <a:stretch>
            <a:fillRect/>
          </a:stretch>
        </p:blipFill>
        <p:spPr>
          <a:xfrm>
            <a:off x="7337688" y="1325880"/>
            <a:ext cx="4234415" cy="4709160"/>
          </a:xfrm>
          <a:prstGeom prst="rect">
            <a:avLst/>
          </a:prstGeom>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Change2 · Vehicle categories with Factory Method</a:t>
            </a:r>
            <a:endParaRPr lang="en-US" sz="3200" dirty="0"/>
          </a:p>
        </p:txBody>
      </p:sp>
      <p:pic>
        <p:nvPicPr>
          <p:cNvPr id="3" name="diagram_282" descr="img/04_change2_factory_method_class.png">    </p:cNvPr>
          <p:cNvPicPr>
            <a:picLocks noChangeAspect="1"/>
          </p:cNvPicPr>
          <p:nvPr/>
        </p:nvPicPr>
        <p:blipFill>
          <a:blip r:embed="rId1"/>
          <a:stretch>
            <a:fillRect/>
          </a:stretch>
        </p:blipFill>
        <p:spPr>
          <a:xfrm>
            <a:off x="548640" y="1325880"/>
            <a:ext cx="7040880" cy="3412356"/>
          </a:xfrm>
          <a:prstGeom prst="rect">
            <a:avLst/>
          </a:prstGeom>
        </p:spPr>
      </p:pic>
      <p:sp>
        <p:nvSpPr>
          <p:cNvPr id="4" name="text_283"/>
          <p:cNvSpPr txBox="1"/>
          <p:nvPr/>
        </p:nvSpPr>
        <p:spPr>
          <a:xfrm>
            <a:off x="548640" y="4892040"/>
            <a:ext cx="6949440" cy="685800"/>
          </a:xfrm>
          <a:prstGeom prst="rect">
            <a:avLst/>
          </a:prstGeom>
          <a:noFill/>
          <a:ln/>
        </p:spPr>
        <p:txBody>
          <a:bodyPr wrap="square" lIns="0" tIns="0" rIns="0" bIns="0" rtlCol="0" anchor="t"/>
          <a:lstStyle/>
          <a:p>
            <a:pPr indent="0" marL="0">
              <a:buNone/>
            </a:pPr>
            <a:r>
              <a:rPr lang="en-US" sz="1300" dirty="0">
                <a:solidFill>
                  <a:schemeClr val="tx1"/>
                </a:solidFill>
              </a:rPr>
              <a:t>CarTypeService asks the factory for the rules of a category and only ever uses IVehicleCategoryRules. The switch in Create is the single place that names concrete classes.</a:t>
            </a:r>
            <a:endParaRPr lang="en-US" sz="1300" dirty="0"/>
          </a:p>
        </p:txBody>
      </p:sp>
      <p:sp>
        <p:nvSpPr>
          <p:cNvPr id="5" name="text_284"/>
          <p:cNvSpPr txBox="1"/>
          <p:nvPr/>
        </p:nvSpPr>
        <p:spPr>
          <a:xfrm>
            <a:off x="548640" y="5623560"/>
            <a:ext cx="6949440" cy="365760"/>
          </a:xfrm>
          <a:prstGeom prst="rect">
            <a:avLst/>
          </a:prstGeom>
          <a:noFill/>
          <a:ln/>
        </p:spPr>
        <p:txBody>
          <a:bodyPr wrap="square" lIns="0" tIns="0" rIns="0" bIns="0" rtlCol="0" anchor="t"/>
          <a:lstStyle/>
          <a:p>
            <a:pPr indent="0" marL="0">
              <a:buNone/>
            </a:pPr>
            <a:r>
              <a:rPr lang="en-US" sz="1200" i="1" dirty="0">
                <a:solidFill>
                  <a:schemeClr val="accent4"/>
                </a:solidFill>
              </a:rPr>
              <a:t>Parameterized Factory Method — one concrete creator; some texts call this Simple Factory.</a:t>
            </a:r>
            <a:endParaRPr lang="en-US" sz="1200" dirty="0"/>
          </a:p>
        </p:txBody>
      </p:sp>
      <p:graphicFrame>
        <p:nvGraphicFramePr>
          <p:cNvPr id="18" name="table_285"/>
          <p:cNvGraphicFramePr>
            <a:graphicFrameLocks noGrp="1"/>
          </p:cNvGraphicFramePr>
          <p:nvPr>
            <p:extLst>
              <p:ext uri="{D42A27DB-BD31-4B8C-83A1-F6EECF244321}">
                <p14:modId xmlns:p14="http://schemas.microsoft.com/office/powerpoint/2010/main" val="1579011935"/>
              </p:ext>
            </p:extLst>
          </p:nvPr>
        </p:nvGraphicFramePr>
        <p:xfrm>
          <a:off x="7863840" y="1325880"/>
          <a:ext cx="3776472" cy="914400"/>
        </p:xfrm>
        <a:graphic>
          <a:graphicData uri="http://schemas.openxmlformats.org/drawingml/2006/table">
            <a:tbl>
              <a:tblPr/>
              <a:tblGrid>
                <a:gridCol w="1234440"/>
                <a:gridCol w="1005840"/>
                <a:gridCol w="1536192"/>
              </a:tblGrid>
              <a:tr h="384048">
                <a:tc>
                  <a:txBody>
                    <a:bodyPr/>
                    <a:lstStyle/>
                    <a:p>
                      <a:pPr indent="0" marL="0">
                        <a:buNone/>
                      </a:pPr>
                      <a:r>
                        <a:rPr lang="en-US" sz="1200" b="1" dirty="0">
                          <a:solidFill>
                            <a:schemeClr val="bg1"/>
                          </a:solidFill>
                        </a:rPr>
                        <a:t>Category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Deposit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Rate rule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384048">
                <a:tc>
                  <a:txBody>
                    <a:bodyPr/>
                    <a:lstStyle/>
                    <a:p>
                      <a:pPr indent="0" marL="0">
                        <a:buNone/>
                      </a:pPr>
                      <a:r>
                        <a:rPr lang="en-US" sz="1200" dirty="0">
                          <a:solidFill>
                            <a:schemeClr val="tx1"/>
                          </a:solidFill>
                        </a:rPr>
                        <a:t>STANDARD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0</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none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84048">
                <a:tc>
                  <a:txBody>
                    <a:bodyPr/>
                    <a:lstStyle/>
                    <a:p>
                      <a:pPr indent="0" marL="0">
                        <a:buNone/>
                      </a:pPr>
                      <a:r>
                        <a:rPr lang="en-US" sz="1200" dirty="0">
                          <a:solidFill>
                            <a:schemeClr val="tx1"/>
                          </a:solidFill>
                        </a:rPr>
                        <a:t>ELECTRIC</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 × daily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none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384048">
                <a:tc>
                  <a:txBody>
                    <a:bodyPr/>
                    <a:lstStyle/>
                    <a:p>
                      <a:pPr indent="0" marL="0">
                        <a:buNone/>
                      </a:pPr>
                      <a:r>
                        <a:rPr lang="en-US" sz="1200" dirty="0">
                          <a:solidFill>
                            <a:schemeClr val="tx1"/>
                          </a:solidFill>
                        </a:rPr>
                        <a:t>COMMERCIAL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 × daily</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weekly rate required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bl>
          </a:graphicData>
        </a:graphic>
      </p:graphicFrame>
      <p:sp>
        <p:nvSpPr>
          <p:cNvPr id="7" name="card_286"/>
          <p:cNvSpPr/>
          <p:nvPr/>
        </p:nvSpPr>
        <p:spPr>
          <a:xfrm>
            <a:off x="7863840" y="3063240"/>
            <a:ext cx="3776472" cy="2971800"/>
          </a:xfrm>
          <a:prstGeom prst="roundRect">
            <a:avLst>
              <a:gd name="adj" fmla="val 2462"/>
            </a:avLst>
          </a:prstGeom>
          <a:solidFill>
            <a:schemeClr val="bg2"/>
          </a:solidFill>
          <a:ln w="12700">
            <a:solidFill>
              <a:schemeClr val="bg2"/>
            </a:solidFill>
            <a:prstDash val="solid"/>
          </a:ln>
        </p:spPr>
      </p:sp>
      <p:sp>
        <p:nvSpPr>
          <p:cNvPr id="8" name="text_287"/>
          <p:cNvSpPr txBox="1"/>
          <p:nvPr/>
        </p:nvSpPr>
        <p:spPr>
          <a:xfrm>
            <a:off x="8092440" y="3200400"/>
            <a:ext cx="3383280" cy="320040"/>
          </a:xfrm>
          <a:prstGeom prst="rect">
            <a:avLst/>
          </a:prstGeom>
          <a:noFill/>
          <a:ln/>
        </p:spPr>
        <p:txBody>
          <a:bodyPr wrap="square" lIns="0" tIns="0" rIns="0" bIns="0" rtlCol="0" anchor="t"/>
          <a:lstStyle/>
          <a:p>
            <a:pPr indent="0" marL="0">
              <a:buNone/>
            </a:pPr>
            <a:r>
              <a:rPr lang="en-US" sz="1500" b="1" dirty="0">
                <a:solidFill>
                  <a:schemeClr val="tx2"/>
                </a:solidFill>
              </a:rPr>
              <a:t>Acceptance — all met</a:t>
            </a:r>
            <a:endParaRPr lang="en-US" sz="1500" dirty="0"/>
          </a:p>
        </p:txBody>
      </p:sp>
      <p:sp>
        <p:nvSpPr>
          <p:cNvPr id="9" name="text_288"/>
          <p:cNvSpPr txBox="1"/>
          <p:nvPr/>
        </p:nvSpPr>
        <p:spPr>
          <a:xfrm>
            <a:off x="8092440" y="3566160"/>
            <a:ext cx="3383280" cy="237744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Existing car types report STANDARD, deposit 0</a:t>
            </a:r>
            <a:endParaRPr lang="en-US" sz="1300" dirty="0"/>
          </a:p>
          <a:p>
            <a:pPr marL="342900" indent="-342900">
              <a:spcAft>
                <a:spcPts val="600"/>
              </a:spcAft>
              <a:buSzPct val="100000"/>
              <a:buChar char="•"/>
            </a:pPr>
            <a:r>
              <a:rPr lang="en-US" sz="1300" dirty="0">
                <a:solidFill>
                  <a:schemeClr val="tx1"/>
                </a:solidFill>
              </a:rPr>
              <a:t>POST /api/staff/car-types stores 0 / 120 / 400 at run time</a:t>
            </a:r>
            <a:endParaRPr lang="en-US" sz="1300" dirty="0"/>
          </a:p>
          <a:p>
            <a:pPr marL="342900" indent="-342900">
              <a:spcAft>
                <a:spcPts val="600"/>
              </a:spcAft>
              <a:buSzPct val="100000"/>
              <a:buChar char="•"/>
            </a:pPr>
            <a:r>
              <a:rPr lang="en-US" sz="1300" dirty="0">
                <a:solidFill>
                  <a:schemeClr val="tx1"/>
                </a:solidFill>
              </a:rPr>
              <a:t>COMMERCIAL without weekly rate → 400; duplicate → 409</a:t>
            </a:r>
            <a:endParaRPr lang="en-US" sz="1300" dirty="0"/>
          </a:p>
          <a:p>
            <a:pPr marL="342900" indent="-342900">
              <a:spcAft>
                <a:spcPts val="600"/>
              </a:spcAft>
              <a:buSzPct val="100000"/>
              <a:buChar char="•"/>
            </a:pPr>
            <a:r>
              <a:rPr lang="en-US" sz="1300" dirty="0">
                <a:solidFill>
                  <a:schemeClr val="tx1"/>
                </a:solidFill>
              </a:rPr>
              <a:t>+24 tests; 0 existing lines removed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Change3 · Pricing policies with Strategy</a:t>
            </a:r>
            <a:endParaRPr lang="en-US" sz="3200" dirty="0"/>
          </a:p>
        </p:txBody>
      </p:sp>
      <p:pic>
        <p:nvPicPr>
          <p:cNvPr id="3" name="diagram_289" descr="img/05_change3_strategy_class.png">    </p:cNvPr>
          <p:cNvPicPr>
            <a:picLocks noChangeAspect="1"/>
          </p:cNvPicPr>
          <p:nvPr/>
        </p:nvPicPr>
        <p:blipFill>
          <a:blip r:embed="rId1"/>
          <a:stretch>
            <a:fillRect/>
          </a:stretch>
        </p:blipFill>
        <p:spPr>
          <a:xfrm>
            <a:off x="548640" y="1325880"/>
            <a:ext cx="6858000" cy="3975890"/>
          </a:xfrm>
          <a:prstGeom prst="rect">
            <a:avLst/>
          </a:prstGeom>
        </p:spPr>
      </p:pic>
      <p:sp>
        <p:nvSpPr>
          <p:cNvPr id="4" name="text_290"/>
          <p:cNvSpPr txBox="1"/>
          <p:nvPr/>
        </p:nvSpPr>
        <p:spPr>
          <a:xfrm>
            <a:off x="548640" y="5394960"/>
            <a:ext cx="6858000" cy="685800"/>
          </a:xfrm>
          <a:prstGeom prst="rect">
            <a:avLst/>
          </a:prstGeom>
          <a:noFill/>
          <a:ln/>
        </p:spPr>
        <p:txBody>
          <a:bodyPr wrap="square" lIns="0" tIns="0" rIns="0" bIns="0" rtlCol="0" anchor="t"/>
          <a:lstStyle/>
          <a:p>
            <a:pPr indent="0" marL="0">
              <a:buNone/>
            </a:pPr>
            <a:r>
              <a:rPr lang="en-US" sz="1200" dirty="0">
                <a:solidFill>
                  <a:schemeClr val="accent4"/>
                </a:solidFill>
              </a:rPr>
              <a:t>Selector precedence: pickup in a peak month → seasonal (+30%); any Saturday or Sunday → weekend (+20%); otherwise standard. The selector chooses a strategy; it is not one.</a:t>
            </a:r>
            <a:endParaRPr lang="en-US" sz="1200" dirty="0"/>
          </a:p>
        </p:txBody>
      </p:sp>
      <p:sp>
        <p:nvSpPr>
          <p:cNvPr id="5" name="card_291"/>
          <p:cNvSpPr/>
          <p:nvPr/>
        </p:nvSpPr>
        <p:spPr>
          <a:xfrm>
            <a:off x="7680960" y="1325880"/>
            <a:ext cx="3959352" cy="4709160"/>
          </a:xfrm>
          <a:prstGeom prst="roundRect">
            <a:avLst>
              <a:gd name="adj" fmla="val 1848"/>
            </a:avLst>
          </a:prstGeom>
          <a:solidFill>
            <a:schemeClr val="bg2"/>
          </a:solidFill>
          <a:ln w="12700">
            <a:solidFill>
              <a:schemeClr val="bg2"/>
            </a:solidFill>
            <a:prstDash val="solid"/>
          </a:ln>
        </p:spPr>
      </p:sp>
      <p:sp>
        <p:nvSpPr>
          <p:cNvPr id="6" name="text_292"/>
          <p:cNvSpPr txBox="1"/>
          <p:nvPr/>
        </p:nvSpPr>
        <p:spPr>
          <a:xfrm>
            <a:off x="7909560" y="1508760"/>
            <a:ext cx="3566160" cy="274320"/>
          </a:xfrm>
          <a:prstGeom prst="rect">
            <a:avLst/>
          </a:prstGeom>
          <a:noFill/>
          <a:ln/>
        </p:spPr>
        <p:txBody>
          <a:bodyPr wrap="square" lIns="0" tIns="0" rIns="0" bIns="0" rtlCol="0" anchor="t"/>
          <a:lstStyle/>
          <a:p>
            <a:pPr indent="0" marL="0">
              <a:buNone/>
            </a:pPr>
            <a:r>
              <a:rPr lang="en-US" sz="1500" b="1" dirty="0">
                <a:solidFill>
                  <a:schemeClr val="accent3"/>
                </a:solidFill>
              </a:rPr>
              <a:t>Smell</a:t>
            </a:r>
            <a:endParaRPr lang="en-US" sz="1500" dirty="0"/>
          </a:p>
        </p:txBody>
      </p:sp>
      <p:sp>
        <p:nvSpPr>
          <p:cNvPr id="7" name="text_293"/>
          <p:cNvSpPr txBox="1"/>
          <p:nvPr/>
        </p:nvSpPr>
        <p:spPr>
          <a:xfrm>
            <a:off x="7909560" y="1828800"/>
            <a:ext cx="3520440" cy="1051560"/>
          </a:xfrm>
          <a:prstGeom prst="rect">
            <a:avLst/>
          </a:prstGeom>
          <a:noFill/>
          <a:ln/>
        </p:spPr>
        <p:txBody>
          <a:bodyPr wrap="square" lIns="0" tIns="0" rIns="0" bIns="0" rtlCol="0" anchor="t"/>
          <a:lstStyle/>
          <a:p>
            <a:pPr indent="0" marL="0">
              <a:buNone/>
            </a:pPr>
            <a:r>
              <a:rPr lang="en-US" sz="1300" dirty="0">
                <a:solidFill>
                  <a:schemeClr val="tx1"/>
                </a:solidFill>
              </a:rPr>
              <a:t>BookingService and StaffService called the static RentalRateCalculator directly — pricing could not vary without editing both services.</a:t>
            </a:r>
            <a:endParaRPr lang="en-US" sz="1300" dirty="0"/>
          </a:p>
        </p:txBody>
      </p:sp>
      <p:sp>
        <p:nvSpPr>
          <p:cNvPr id="8" name="text_294"/>
          <p:cNvSpPr txBox="1"/>
          <p:nvPr/>
        </p:nvSpPr>
        <p:spPr>
          <a:xfrm>
            <a:off x="7909560" y="2971800"/>
            <a:ext cx="3566160" cy="274320"/>
          </a:xfrm>
          <a:prstGeom prst="rect">
            <a:avLst/>
          </a:prstGeom>
          <a:noFill/>
          <a:ln/>
        </p:spPr>
        <p:txBody>
          <a:bodyPr wrap="square" lIns="0" tIns="0" rIns="0" bIns="0" rtlCol="0" anchor="t"/>
          <a:lstStyle/>
          <a:p>
            <a:pPr indent="0" marL="0">
              <a:buNone/>
            </a:pPr>
            <a:r>
              <a:rPr lang="en-US" sz="1500" b="1" dirty="0">
                <a:solidFill>
                  <a:schemeClr val="accent2"/>
                </a:solidFill>
              </a:rPr>
              <a:t>Refactoring</a:t>
            </a:r>
            <a:endParaRPr lang="en-US" sz="1500" dirty="0"/>
          </a:p>
        </p:txBody>
      </p:sp>
      <p:sp>
        <p:nvSpPr>
          <p:cNvPr id="9" name="text_295"/>
          <p:cNvSpPr txBox="1"/>
          <p:nvPr/>
        </p:nvSpPr>
        <p:spPr>
          <a:xfrm>
            <a:off x="7909560" y="3291840"/>
            <a:ext cx="3520440" cy="1920240"/>
          </a:xfrm>
          <a:prstGeom prst="rect">
            <a:avLst/>
          </a:prstGeom>
          <a:noFill/>
          <a:ln/>
        </p:spPr>
        <p:txBody>
          <a:bodyPr wrap="square" lIns="0" tIns="0" rIns="0" bIns="0" rtlCol="0" anchor="t"/>
          <a:lstStyle/>
          <a:p>
            <a:pPr marL="342900" indent="-342900">
              <a:spcAft>
                <a:spcPts val="500"/>
              </a:spcAft>
              <a:buSzPct val="100000"/>
              <a:buChar char="•"/>
            </a:pPr>
            <a:r>
              <a:rPr lang="en-US" sz="1300" dirty="0">
                <a:solidFill>
                  <a:schemeClr val="tx1"/>
                </a:solidFill>
              </a:rPr>
              <a:t>Extract interface IPricingPolicy; three policies</a:t>
            </a:r>
            <a:endParaRPr lang="en-US" sz="1300" dirty="0"/>
          </a:p>
          <a:p>
            <a:pPr marL="342900" indent="-342900">
              <a:spcAft>
                <a:spcPts val="500"/>
              </a:spcAft>
              <a:buSzPct val="100000"/>
              <a:buChar char="•"/>
            </a:pPr>
            <a:r>
              <a:rPr lang="en-US" sz="1300" dirty="0">
                <a:solidFill>
                  <a:schemeClr val="tx1"/>
                </a:solidFill>
              </a:rPr>
              <a:t>Standard policy delegates to the old calculator, preserving behaviour</a:t>
            </a:r>
            <a:endParaRPr lang="en-US" sz="1300" dirty="0"/>
          </a:p>
          <a:p>
            <a:pPr marL="342900" indent="-342900">
              <a:spcAft>
                <a:spcPts val="500"/>
              </a:spcAft>
              <a:buSzPct val="100000"/>
              <a:buChar char="•"/>
            </a:pPr>
            <a:r>
              <a:rPr lang="en-US" sz="1300" dirty="0">
                <a:solidFill>
                  <a:schemeClr val="tx1"/>
                </a:solidFill>
              </a:rPr>
              <a:t>Inject TimeProvider into StaffService — the clock-dependent test now passes</a:t>
            </a:r>
            <a:endParaRPr lang="en-US" sz="1300" dirty="0"/>
          </a:p>
        </p:txBody>
      </p:sp>
      <p:sp>
        <p:nvSpPr>
          <p:cNvPr id="10" name="text_296"/>
          <p:cNvSpPr txBox="1"/>
          <p:nvPr/>
        </p:nvSpPr>
        <p:spPr>
          <a:xfrm>
            <a:off x="7909560" y="5440680"/>
            <a:ext cx="3566160" cy="365760"/>
          </a:xfrm>
          <a:prstGeom prst="rect">
            <a:avLst/>
          </a:prstGeom>
          <a:noFill/>
          <a:ln/>
        </p:spPr>
        <p:txBody>
          <a:bodyPr wrap="square" lIns="0" tIns="0" rIns="0" bIns="0" rtlCol="0" anchor="t"/>
          <a:lstStyle/>
          <a:p>
            <a:pPr indent="0" marL="0">
              <a:buNone/>
            </a:pPr>
            <a:r>
              <a:rPr lang="en-US" sz="1400" b="1" dirty="0">
                <a:solidFill>
                  <a:schemeClr val="tx2"/>
                </a:solidFill>
              </a:rPr>
              <a:t>+22 tests · 279 / 279 after this step</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Change4 · Booking notifications with Observer</a:t>
            </a:r>
            <a:endParaRPr lang="en-US" sz="3200" dirty="0"/>
          </a:p>
        </p:txBody>
      </p:sp>
      <p:pic>
        <p:nvPicPr>
          <p:cNvPr id="3" name="diagram_297" descr="img/07_change4_observer_sequence.png">    </p:cNvPr>
          <p:cNvPicPr>
            <a:picLocks noChangeAspect="1"/>
          </p:cNvPicPr>
          <p:nvPr/>
        </p:nvPicPr>
        <p:blipFill>
          <a:blip r:embed="rId1"/>
          <a:stretch>
            <a:fillRect/>
          </a:stretch>
        </p:blipFill>
        <p:spPr>
          <a:xfrm>
            <a:off x="550287" y="1325880"/>
            <a:ext cx="7997706" cy="4169664"/>
          </a:xfrm>
          <a:prstGeom prst="rect">
            <a:avLst/>
          </a:prstGeom>
        </p:spPr>
      </p:pic>
      <p:sp>
        <p:nvSpPr>
          <p:cNvPr id="4" name="text_298"/>
          <p:cNvSpPr txBox="1"/>
          <p:nvPr/>
        </p:nvSpPr>
        <p:spPr>
          <a:xfrm>
            <a:off x="548640" y="5577840"/>
            <a:ext cx="7955280" cy="548640"/>
          </a:xfrm>
          <a:prstGeom prst="rect">
            <a:avLst/>
          </a:prstGeom>
          <a:noFill/>
          <a:ln/>
        </p:spPr>
        <p:txBody>
          <a:bodyPr wrap="square" lIns="0" tIns="0" rIns="0" bIns="0" rtlCol="0" anchor="t"/>
          <a:lstStyle/>
          <a:p>
            <a:pPr indent="0" marL="0">
              <a:buNone/>
            </a:pPr>
            <a:r>
              <a:rPr lang="en-US" sz="1300" dirty="0">
                <a:solidFill>
                  <a:schemeClr val="tx1"/>
                </a:solidFill>
              </a:rPr>
              <a:t>Push model: BookingService publishes one immutable BookingEvent after each successful create, modify or cancel. A failing observer is logged and skipped; the next one still runs.</a:t>
            </a:r>
            <a:endParaRPr lang="en-US" sz="1300" dirty="0"/>
          </a:p>
        </p:txBody>
      </p:sp>
      <p:sp>
        <p:nvSpPr>
          <p:cNvPr id="5" name="card_299"/>
          <p:cNvSpPr/>
          <p:nvPr/>
        </p:nvSpPr>
        <p:spPr>
          <a:xfrm>
            <a:off x="8778240" y="1325880"/>
            <a:ext cx="2862072" cy="4709160"/>
          </a:xfrm>
          <a:prstGeom prst="roundRect">
            <a:avLst>
              <a:gd name="adj" fmla="val 2556"/>
            </a:avLst>
          </a:prstGeom>
          <a:solidFill>
            <a:schemeClr val="bg2"/>
          </a:solidFill>
          <a:ln w="12700">
            <a:solidFill>
              <a:schemeClr val="bg2"/>
            </a:solidFill>
            <a:prstDash val="solid"/>
          </a:ln>
        </p:spPr>
      </p:sp>
      <p:sp>
        <p:nvSpPr>
          <p:cNvPr id="6" name="text_300"/>
          <p:cNvSpPr txBox="1"/>
          <p:nvPr/>
        </p:nvSpPr>
        <p:spPr>
          <a:xfrm>
            <a:off x="8979408" y="1508760"/>
            <a:ext cx="2468880" cy="274320"/>
          </a:xfrm>
          <a:prstGeom prst="rect">
            <a:avLst/>
          </a:prstGeom>
          <a:noFill/>
          <a:ln/>
        </p:spPr>
        <p:txBody>
          <a:bodyPr wrap="square" lIns="0" tIns="0" rIns="0" bIns="0" rtlCol="0" anchor="t"/>
          <a:lstStyle/>
          <a:p>
            <a:pPr indent="0" marL="0">
              <a:buNone/>
            </a:pPr>
            <a:r>
              <a:rPr lang="en-US" sz="1500" b="1" dirty="0">
                <a:solidFill>
                  <a:schemeClr val="accent3"/>
                </a:solidFill>
              </a:rPr>
              <a:t>Smell</a:t>
            </a:r>
            <a:endParaRPr lang="en-US" sz="1500" dirty="0"/>
          </a:p>
        </p:txBody>
      </p:sp>
      <p:sp>
        <p:nvSpPr>
          <p:cNvPr id="7" name="text_301"/>
          <p:cNvSpPr txBox="1"/>
          <p:nvPr/>
        </p:nvSpPr>
        <p:spPr>
          <a:xfrm>
            <a:off x="8979408" y="1828800"/>
            <a:ext cx="2468880" cy="1280160"/>
          </a:xfrm>
          <a:prstGeom prst="rect">
            <a:avLst/>
          </a:prstGeom>
          <a:noFill/>
          <a:ln/>
        </p:spPr>
        <p:txBody>
          <a:bodyPr wrap="square" lIns="0" tIns="0" rIns="0" bIns="0" rtlCol="0" anchor="t"/>
          <a:lstStyle/>
          <a:p>
            <a:pPr indent="0" marL="0">
              <a:buNone/>
            </a:pPr>
            <a:r>
              <a:rPr lang="en-US" sz="1300" dirty="0">
                <a:solidFill>
                  <a:schemeClr val="tx1"/>
                </a:solidFill>
              </a:rPr>
              <a:t>Long Method: the 123-line CreateBookingAsync ended with 30 lines that built and sent the confirmation e-mail.</a:t>
            </a:r>
            <a:endParaRPr lang="en-US" sz="1300" dirty="0"/>
          </a:p>
        </p:txBody>
      </p:sp>
      <p:sp>
        <p:nvSpPr>
          <p:cNvPr id="8" name="text_302"/>
          <p:cNvSpPr txBox="1"/>
          <p:nvPr/>
        </p:nvSpPr>
        <p:spPr>
          <a:xfrm>
            <a:off x="8979408" y="3154680"/>
            <a:ext cx="2468880" cy="274320"/>
          </a:xfrm>
          <a:prstGeom prst="rect">
            <a:avLst/>
          </a:prstGeom>
          <a:noFill/>
          <a:ln/>
        </p:spPr>
        <p:txBody>
          <a:bodyPr wrap="square" lIns="0" tIns="0" rIns="0" bIns="0" rtlCol="0" anchor="t"/>
          <a:lstStyle/>
          <a:p>
            <a:pPr indent="0" marL="0">
              <a:buNone/>
            </a:pPr>
            <a:r>
              <a:rPr lang="en-US" sz="1500" b="1" dirty="0">
                <a:solidFill>
                  <a:schemeClr val="accent2"/>
                </a:solidFill>
              </a:rPr>
              <a:t>Refactoring</a:t>
            </a:r>
            <a:endParaRPr lang="en-US" sz="1500" dirty="0"/>
          </a:p>
        </p:txBody>
      </p:sp>
      <p:sp>
        <p:nvSpPr>
          <p:cNvPr id="9" name="text_303"/>
          <p:cNvSpPr txBox="1"/>
          <p:nvPr/>
        </p:nvSpPr>
        <p:spPr>
          <a:xfrm>
            <a:off x="8979408" y="3474720"/>
            <a:ext cx="2468880" cy="1417320"/>
          </a:xfrm>
          <a:prstGeom prst="rect">
            <a:avLst/>
          </a:prstGeom>
          <a:noFill/>
          <a:ln/>
        </p:spPr>
        <p:txBody>
          <a:bodyPr wrap="square" lIns="0" tIns="0" rIns="0" bIns="0" rtlCol="0" anchor="t"/>
          <a:lstStyle/>
          <a:p>
            <a:pPr indent="0" marL="0">
              <a:buNone/>
            </a:pPr>
            <a:r>
              <a:rPr lang="en-US" sz="1300" dirty="0">
                <a:solidFill>
                  <a:schemeClr val="tx1"/>
                </a:solidFill>
              </a:rPr>
              <a:t>Extract Class + Move Method into EmailBookingObserver (same e-mail text), then replace the direct call with PublishBookingEventAsync.</a:t>
            </a:r>
            <a:endParaRPr lang="en-US" sz="1300" dirty="0"/>
          </a:p>
        </p:txBody>
      </p:sp>
      <p:sp>
        <p:nvSpPr>
          <p:cNvPr id="10" name="text_304"/>
          <p:cNvSpPr txBox="1"/>
          <p:nvPr/>
        </p:nvSpPr>
        <p:spPr>
          <a:xfrm>
            <a:off x="8979408" y="4983480"/>
            <a:ext cx="2468880" cy="960120"/>
          </a:xfrm>
          <a:prstGeom prst="rect">
            <a:avLst/>
          </a:prstGeom>
          <a:noFill/>
          <a:ln/>
        </p:spPr>
        <p:txBody>
          <a:bodyPr wrap="square" lIns="0" tIns="0" rIns="0" bIns="0" rtlCol="0" anchor="t"/>
          <a:lstStyle/>
          <a:p>
            <a:pPr indent="0" marL="0">
              <a:buNone/>
            </a:pPr>
            <a:r>
              <a:rPr lang="en-US" sz="1300" b="1" dirty="0">
                <a:solidFill>
                  <a:schemeClr val="tx2"/>
                </a:solidFill>
              </a:rPr>
              <a:t>+18 tests; all 21 old BookingServiceTests pass, only their SetUp changed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Effect of each change on every instance</a:t>
            </a:r>
            <a:endParaRPr lang="en-US" sz="3200" dirty="0"/>
          </a:p>
        </p:txBody>
      </p:sp>
      <p:graphicFrame>
        <p:nvGraphicFramePr>
          <p:cNvPr id="21" name="table_305"/>
          <p:cNvGraphicFramePr>
            <a:graphicFrameLocks noGrp="1"/>
          </p:cNvGraphicFramePr>
          <p:nvPr>
            <p:extLst>
              <p:ext uri="{D42A27DB-BD31-4B8C-83A1-F6EECF244321}">
                <p14:modId xmlns:p14="http://schemas.microsoft.com/office/powerpoint/2010/main" val="1579011935"/>
              </p:ext>
            </p:extLst>
          </p:nvPr>
        </p:nvGraphicFramePr>
        <p:xfrm>
          <a:off x="548640" y="1325880"/>
          <a:ext cx="8138160" cy="914400"/>
        </p:xfrm>
        <a:graphic>
          <a:graphicData uri="http://schemas.openxmlformats.org/drawingml/2006/table">
            <a:tbl>
              <a:tblPr/>
              <a:tblGrid>
                <a:gridCol w="3337560"/>
                <a:gridCol w="960120"/>
                <a:gridCol w="960120"/>
                <a:gridCol w="960120"/>
                <a:gridCol w="960120"/>
                <a:gridCol w="960120"/>
              </a:tblGrid>
              <a:tr h="338328">
                <a:tc>
                  <a:txBody>
                    <a:bodyPr/>
                    <a:lstStyle/>
                    <a:p>
                      <a:pPr indent="0" marL="0">
                        <a:buNone/>
                      </a:pPr>
                      <a:r>
                        <a:rPr lang="en-US" sz="1200" b="1" dirty="0">
                          <a:solidFill>
                            <a:schemeClr val="bg1"/>
                          </a:solidFill>
                        </a:rPr>
                        <a:t>Instance</a:t>
                      </a:r>
                      <a:endParaRPr lang="en-US" sz="12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Original</a:t>
                      </a:r>
                      <a:endParaRPr lang="en-US" sz="12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Change1</a:t>
                      </a:r>
                      <a:endParaRPr lang="en-US" sz="12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Change2</a:t>
                      </a:r>
                      <a:endParaRPr lang="en-US" sz="12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Change3</a:t>
                      </a:r>
                      <a:endParaRPr lang="en-US" sz="12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Change4</a:t>
                      </a:r>
                      <a:endParaRPr lang="en-US" sz="12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338328">
                <a:tc>
                  <a:txBody>
                    <a:bodyPr/>
                    <a:lstStyle/>
                    <a:p>
                      <a:pPr indent="0" marL="0">
                        <a:buNone/>
                      </a:pPr>
                      <a:r>
                        <a:rPr lang="en-US" sz="1100" dirty="0">
                          <a:solidFill>
                            <a:schemeClr val="tx1"/>
                          </a:solidFill>
                        </a:rPr>
                        <a:t>Generic Repository</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ASP.NET Core DI Composition</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r>
              <a:tr h="338328">
                <a:tc>
                  <a:txBody>
                    <a:bodyPr/>
                    <a:lstStyle/>
                    <a:p>
                      <a:pPr indent="0" marL="0">
                        <a:buNone/>
                      </a:pPr>
                      <a:r>
                        <a:rPr lang="en-US" sz="1100" dirty="0">
                          <a:solidFill>
                            <a:schemeClr val="tx1"/>
                          </a:solidFill>
                        </a:rPr>
                        <a:t>Booking Service Layer</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bg1"/>
                          </a:solidFill>
                        </a:rPr>
                        <a:t>modified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3"/>
                    </a:solidFill>
                  </a:tcPr>
                </a:tc>
                <a:tc>
                  <a:txBody>
                    <a:bodyPr/>
                    <a:lstStyle/>
                    <a:p>
                      <a:pPr algn="ctr" indent="0" marL="0">
                        <a:buNone/>
                      </a:pPr>
                      <a:r>
                        <a:rPr lang="en-US" sz="1100" b="1" dirty="0">
                          <a:solidFill>
                            <a:schemeClr val="bg1"/>
                          </a:solidFill>
                        </a:rPr>
                        <a:t>modified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3"/>
                    </a:solidFill>
                  </a:tcPr>
                </a:tc>
              </a:tr>
              <a:tr h="338328">
                <a:tc>
                  <a:txBody>
                    <a:bodyPr/>
                    <a:lstStyle/>
                    <a:p>
                      <a:pPr indent="0" marL="0">
                        <a:buNone/>
                      </a:pPr>
                      <a:r>
                        <a:rPr lang="en-US" sz="1100" dirty="0">
                          <a:solidFill>
                            <a:schemeClr val="tx1"/>
                          </a:solidFill>
                        </a:rPr>
                        <a:t>Request Middleware Chain</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Email Background Work Queue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Java Microservice Adapter</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Legacy API Proxy</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Legacy Java Integration</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API Request/Response DTO Boundary</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baseline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algn="ctr" indent="0" marL="0">
                        <a:buNone/>
                      </a:pPr>
                      <a:r>
                        <a:rPr lang="en-US" sz="1100" b="1" dirty="0">
                          <a:solidFill>
                            <a:schemeClr val="bg1"/>
                          </a:solidFill>
                        </a:rPr>
                        <a:t>extended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2"/>
                    </a:solidFill>
                  </a:tcPr>
                </a:tc>
                <a:tc>
                  <a:txBody>
                    <a:bodyPr/>
                    <a:lstStyle/>
                    <a:p>
                      <a:pPr algn="ctr" indent="0" marL="0">
                        <a:buNone/>
                      </a:pPr>
                      <a:r>
                        <a:rPr lang="en-US" sz="1100" b="1" dirty="0">
                          <a:solidFill>
                            <a:schemeClr val="bg1"/>
                          </a:solidFill>
                        </a:rPr>
                        <a:t>modified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3"/>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Maintenance Schedule Workflow (State)</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rPr>
                        <a:t>new</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Vehicle Category Rules Creation (Factory)</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rPr>
                        <a:t>new</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Rental Pricing Policy (Strategy)</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rPr>
                        <a:t>new</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1"/>
                    </a:solidFill>
                  </a:tcPr>
                </a:tc>
                <a:tc>
                  <a:txBody>
                    <a:bodyPr/>
                    <a:lstStyle/>
                    <a:p>
                      <a:pPr algn="ctr" indent="0" marL="0">
                        <a:buNone/>
                      </a:pPr>
                      <a:r>
                        <a:rPr lang="en-US" sz="1100" dirty="0">
                          <a:solidFill>
                            <a:schemeClr val="accent4"/>
                          </a:solidFill>
                        </a:rPr>
                        <a:t>preserved</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338328">
                <a:tc>
                  <a:txBody>
                    <a:bodyPr/>
                    <a:lstStyle/>
                    <a:p>
                      <a:pPr indent="0" marL="0">
                        <a:buNone/>
                      </a:pPr>
                      <a:r>
                        <a:rPr lang="en-US" sz="1100" dirty="0">
                          <a:solidFill>
                            <a:schemeClr val="tx1"/>
                          </a:solidFill>
                        </a:rPr>
                        <a:t>Booking Lifecycle Notification (Observer)</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dirty="0">
                          <a:solidFill>
                            <a:schemeClr val="accent4"/>
                          </a:solidFill>
                        </a:rPr>
                        <a:t>—</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algn="ctr" indent="0" marL="0">
                        <a:buNone/>
                      </a:pPr>
                      <a:r>
                        <a:rPr lang="en-US" sz="1100" b="1" dirty="0">
                          <a:solidFill>
                            <a:schemeClr val="tx1"/>
                          </a:solidFill>
                        </a:rPr>
                        <a:t>new</a:t>
                      </a:r>
                      <a:endParaRPr lang="en-US" sz="1100" dirty="0"/>
                    </a:p>
                  </a:txBody>
                  <a:tcPr marL="76200" marR="76200" marT="25400" marB="254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accent1"/>
                    </a:solidFill>
                  </a:tcPr>
                </a:tc>
              </a:tr>
            </a:tbl>
          </a:graphicData>
        </a:graphic>
      </p:graphicFrame>
      <p:sp>
        <p:nvSpPr>
          <p:cNvPr id="4" name="card_306"/>
          <p:cNvSpPr/>
          <p:nvPr/>
        </p:nvSpPr>
        <p:spPr>
          <a:xfrm>
            <a:off x="8961120" y="1325880"/>
            <a:ext cx="2679192" cy="4709160"/>
          </a:xfrm>
          <a:prstGeom prst="roundRect">
            <a:avLst>
              <a:gd name="adj" fmla="val 2730"/>
            </a:avLst>
          </a:prstGeom>
          <a:solidFill>
            <a:schemeClr val="tx2"/>
          </a:solidFill>
          <a:ln w="12700">
            <a:solidFill>
              <a:schemeClr val="tx2"/>
            </a:solidFill>
            <a:prstDash val="solid"/>
          </a:ln>
        </p:spPr>
      </p:sp>
      <p:sp>
        <p:nvSpPr>
          <p:cNvPr id="5" name="text_307"/>
          <p:cNvSpPr txBox="1"/>
          <p:nvPr/>
        </p:nvSpPr>
        <p:spPr>
          <a:xfrm>
            <a:off x="9189720" y="1554480"/>
            <a:ext cx="2286000" cy="4297680"/>
          </a:xfrm>
          <a:prstGeom prst="rect">
            <a:avLst/>
          </a:prstGeom>
          <a:noFill/>
          <a:ln/>
        </p:spPr>
        <p:txBody>
          <a:bodyPr wrap="square" lIns="0" tIns="0" rIns="0" bIns="0" rtlCol="0" anchor="t"/>
          <a:lstStyle/>
          <a:p>
            <a:pPr indent="0" marL="0">
              <a:buNone/>
            </a:pPr>
            <a:r>
              <a:rPr lang="en-US" sz="1300" b="1" dirty="0">
                <a:solidFill>
                  <a:schemeClr val="accent1"/>
                </a:solidFill>
              </a:rPr>
              <a:t>No instance removed or replaced</a:t>
            </a:r>
            <a:endParaRPr lang="en-US" sz="1300" dirty="0"/>
          </a:p>
          <a:p>
            <a:pPr indent="0" marL="0">
              <a:buNone/>
            </a:pPr>
            <a:r>
              <a:rPr lang="en-US" sz="1300" dirty="0">
                <a:solidFill>
                  <a:schemeClr val="bg1"/>
                </a:solidFill>
              </a:rPr>
              <a:t>Counts rise 9 → 10 → 11 → 12 → 13.</a:t>
            </a:r>
            <a:endParaRPr lang="en-US" sz="1300" dirty="0"/>
          </a:p>
          <a:p>
            <a:pPr indent="0" marL="0">
              <a:buNone/>
            </a:pPr>
            <a:r>
              <a:rPr lang="en-US" sz="600" dirty="0">
                <a:solidFill>
                  <a:schemeClr val="bg1"/>
                </a:solidFill>
              </a:rPr>
              <a:t> </a:t>
            </a:r>
            <a:endParaRPr lang="en-US" sz="1300" dirty="0"/>
          </a:p>
          <a:p>
            <a:pPr indent="0" marL="0">
              <a:buNone/>
            </a:pPr>
            <a:r>
              <a:rPr lang="en-US" sz="1300" b="1" dirty="0">
                <a:solidFill>
                  <a:schemeClr val="accent1"/>
                </a:solidFill>
              </a:rPr>
              <a:t>DI absorbs every change</a:t>
            </a:r>
            <a:endParaRPr lang="en-US" sz="1300" dirty="0"/>
          </a:p>
          <a:p>
            <a:pPr indent="0" marL="0">
              <a:buNone/>
            </a:pPr>
            <a:r>
              <a:rPr lang="en-US" sz="1300" dirty="0">
                <a:solidFill>
                  <a:schemeClr val="bg1"/>
                </a:solidFill>
              </a:rPr>
              <a:t>Each change only adds registrations.</a:t>
            </a:r>
            <a:endParaRPr lang="en-US" sz="1300" dirty="0"/>
          </a:p>
          <a:p>
            <a:pPr indent="0" marL="0">
              <a:buNone/>
            </a:pPr>
            <a:r>
              <a:rPr lang="en-US" sz="600" dirty="0">
                <a:solidFill>
                  <a:schemeClr val="bg1"/>
                </a:solidFill>
              </a:rPr>
              <a:t> </a:t>
            </a:r>
            <a:endParaRPr lang="en-US" sz="1300" dirty="0"/>
          </a:p>
          <a:p>
            <a:pPr indent="0" marL="0">
              <a:buNone/>
            </a:pPr>
            <a:r>
              <a:rPr lang="en-US" sz="1300" b="1" dirty="0">
                <a:solidFill>
                  <a:schemeClr val="accent1"/>
                </a:solidFill>
              </a:rPr>
              <a:t>Booking Service Layer modified twice</a:t>
            </a:r>
            <a:endParaRPr lang="en-US" sz="1300" dirty="0"/>
          </a:p>
          <a:p>
            <a:pPr indent="0" marL="0">
              <a:buNone/>
            </a:pPr>
            <a:r>
              <a:rPr lang="en-US" sz="1300" dirty="0">
                <a:solidFill>
                  <a:schemeClr val="bg1"/>
                </a:solidFill>
              </a:rPr>
              <a:t>Pricing selector (C3), event publisher instead of IEmailService (C4); IBookingService unchanged.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Before and after metrics, per version</a:t>
            </a:r>
            <a:endParaRPr lang="en-US" sz="3200" dirty="0"/>
          </a:p>
        </p:txBody>
      </p:sp>
      <p:graphicFrame>
        <p:nvGraphicFramePr>
          <p:cNvPr id="3" name="chart_308" descr=""/>
          <p:cNvGraphicFramePr/>
          <p:nvPr/>
        </p:nvGraphicFramePr>
        <p:xfrm>
          <a:off x="548640" y="1325880"/>
          <a:ext cx="3566160" cy="32461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_309" descr=""/>
          <p:cNvGraphicFramePr/>
          <p:nvPr/>
        </p:nvGraphicFramePr>
        <p:xfrm>
          <a:off x="4315968" y="1325880"/>
          <a:ext cx="3566160" cy="3246120"/>
        </p:xfrm>
        <a:graphic xmlns:a="http://schemas.openxmlformats.org/drawingml/2006/main">
          <a:graphicData uri="http://schemas.openxmlformats.org/drawingml/2006/chart">
            <c:chart xmlns:c="http://schemas.openxmlformats.org/drawingml/2006/chart" r:id="rId2"/>
          </a:graphicData>
        </a:graphic>
      </p:graphicFrame>
      <p:graphicFrame>
        <p:nvGraphicFramePr>
          <p:cNvPr id="5" name="chart_310" descr=""/>
          <p:cNvGraphicFramePr/>
          <p:nvPr/>
        </p:nvGraphicFramePr>
        <p:xfrm>
          <a:off x="8083296" y="1325880"/>
          <a:ext cx="3566160" cy="3246120"/>
        </p:xfrm>
        <a:graphic xmlns:a="http://schemas.openxmlformats.org/drawingml/2006/main">
          <a:graphicData uri="http://schemas.openxmlformats.org/drawingml/2006/chart">
            <c:chart xmlns:c="http://schemas.openxmlformats.org/drawingml/2006/chart" r:id="rId3"/>
          </a:graphicData>
        </a:graphic>
      </p:graphicFrame>
      <p:sp>
        <p:nvSpPr>
          <p:cNvPr id="6" name="card_311"/>
          <p:cNvSpPr/>
          <p:nvPr/>
        </p:nvSpPr>
        <p:spPr>
          <a:xfrm>
            <a:off x="548640" y="4754880"/>
            <a:ext cx="11094415" cy="1280160"/>
          </a:xfrm>
          <a:prstGeom prst="roundRect">
            <a:avLst>
              <a:gd name="adj" fmla="val 5714"/>
            </a:avLst>
          </a:prstGeom>
          <a:solidFill>
            <a:schemeClr val="bg2"/>
          </a:solidFill>
          <a:ln w="12700">
            <a:solidFill>
              <a:schemeClr val="bg2"/>
            </a:solidFill>
            <a:prstDash val="solid"/>
          </a:ln>
        </p:spPr>
      </p:sp>
      <p:sp>
        <p:nvSpPr>
          <p:cNvPr id="7" name="text_312"/>
          <p:cNvSpPr txBox="1"/>
          <p:nvPr/>
        </p:nvSpPr>
        <p:spPr>
          <a:xfrm>
            <a:off x="822960" y="4892040"/>
            <a:ext cx="10545775" cy="1051560"/>
          </a:xfrm>
          <a:prstGeom prst="rect">
            <a:avLst/>
          </a:prstGeom>
          <a:noFill/>
          <a:ln/>
        </p:spPr>
        <p:txBody>
          <a:bodyPr wrap="square" lIns="0" tIns="0" rIns="0" bIns="0" rtlCol="0" anchor="ctr"/>
          <a:lstStyle/>
          <a:p>
            <a:pPr indent="0" marL="0">
              <a:buNone/>
            </a:pPr>
            <a:r>
              <a:rPr lang="en-US" sz="1300" b="1" dirty="0">
                <a:solidFill>
                  <a:schemeClr val="tx1"/>
                </a:solidFill>
              </a:rPr>
              <a:t>Same rule every version: </a:t>
            </a:r>
            <a:pPr indent="0" marL="0">
              <a:buNone/>
            </a:pPr>
            <a:r>
              <a:rPr lang="en-US" sz="1300" dirty="0">
                <a:solidFill>
                  <a:schemeClr val="tx1"/>
                </a:solidFill>
              </a:rPr>
              <a:t>non-blank, non-comment .cs lines in FlemanApi, excluding Migrations, bin and obj; tests from dotnet test on SDK 8.0.425. Original → final: 67 files changed (58 added, 9 modified), +4,545 / −52 lines including tests and migrations. </a:t>
            </a:r>
            <a:pPr indent="0" marL="0">
              <a:buNone/>
            </a:pPr>
            <a:r>
              <a:rPr lang="en-US" sz="1300" dirty="0">
                <a:solidFill>
                  <a:schemeClr val="accent3"/>
                </a:solidFill>
              </a:rPr>
              <a:t>Complexity, coverage and coupling were not measured for the C# code, and more LOC alone does not mean better design.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Interpretation: what the patterns bought us</a:t>
            </a:r>
            <a:endParaRPr lang="en-US" sz="3200" dirty="0"/>
          </a:p>
        </p:txBody>
      </p:sp>
      <p:sp>
        <p:nvSpPr>
          <p:cNvPr id="3" name="card_313"/>
          <p:cNvSpPr/>
          <p:nvPr/>
        </p:nvSpPr>
        <p:spPr>
          <a:xfrm>
            <a:off x="548640" y="1371600"/>
            <a:ext cx="3538728" cy="4663440"/>
          </a:xfrm>
          <a:prstGeom prst="roundRect">
            <a:avLst>
              <a:gd name="adj" fmla="val 2067"/>
            </a:avLst>
          </a:prstGeom>
          <a:solidFill>
            <a:schemeClr val="bg2"/>
          </a:solidFill>
          <a:ln w="12700">
            <a:solidFill>
              <a:schemeClr val="bg2"/>
            </a:solidFill>
            <a:prstDash val="solid"/>
          </a:ln>
        </p:spPr>
      </p:sp>
      <p:sp>
        <p:nvSpPr>
          <p:cNvPr id="4" name="num_314"/>
          <p:cNvSpPr txBox="1"/>
          <p:nvPr/>
        </p:nvSpPr>
        <p:spPr>
          <a:xfrm>
            <a:off x="822960" y="1600200"/>
            <a:ext cx="548640" cy="548640"/>
          </a:xfrm>
          <a:prstGeom prst="ellipse">
            <a:avLst/>
          </a:prstGeom>
          <a:solidFill>
            <a:schemeClr val="accent2"/>
          </a:solidFill>
          <a:ln>
            <a:solidFill>
              <a:schemeClr val="accent2"/>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a:t>
            </a:r>
            <a:endParaRPr lang="en-US" sz="1800" dirty="0"/>
          </a:p>
        </p:txBody>
      </p:sp>
      <p:sp>
        <p:nvSpPr>
          <p:cNvPr id="5" name="text_315"/>
          <p:cNvSpPr txBox="1"/>
          <p:nvPr/>
        </p:nvSpPr>
        <p:spPr>
          <a:xfrm>
            <a:off x="1508760" y="1645920"/>
            <a:ext cx="237744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Benefits</a:t>
            </a:r>
            <a:endParaRPr lang="en-US" sz="1900" dirty="0"/>
          </a:p>
        </p:txBody>
      </p:sp>
      <p:sp>
        <p:nvSpPr>
          <p:cNvPr id="6" name="text_316"/>
          <p:cNvSpPr txBox="1"/>
          <p:nvPr/>
        </p:nvSpPr>
        <p:spPr>
          <a:xfrm>
            <a:off x="822960" y="2377440"/>
            <a:ext cx="3063240" cy="3520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New behaviour arrives as new classes, not edits — a new observer is one class and one registration</a:t>
            </a:r>
            <a:endParaRPr lang="en-US" sz="1300" dirty="0"/>
          </a:p>
          <a:p>
            <a:pPr marL="342900" indent="-342900">
              <a:spcAft>
                <a:spcPts val="800"/>
              </a:spcAft>
              <a:buSzPct val="100000"/>
              <a:buChar char="•"/>
            </a:pPr>
            <a:r>
              <a:rPr lang="en-US" sz="1300" dirty="0">
                <a:solidFill>
                  <a:schemeClr val="tx1"/>
                </a:solidFill>
              </a:rPr>
              <a:t>State removes status if-chains; illegal transitions fail in one place (409)</a:t>
            </a:r>
            <a:endParaRPr lang="en-US" sz="1300" dirty="0"/>
          </a:p>
          <a:p>
            <a:pPr marL="342900" indent="-342900">
              <a:spcAft>
                <a:spcPts val="800"/>
              </a:spcAft>
              <a:buSzPct val="100000"/>
              <a:buChar char="•"/>
            </a:pPr>
            <a:r>
              <a:rPr lang="en-US" sz="1300" dirty="0">
                <a:solidFill>
                  <a:schemeClr val="tx1"/>
                </a:solidFill>
              </a:rPr>
              <a:t>Injected clock made tests deterministic</a:t>
            </a:r>
            <a:endParaRPr lang="en-US" sz="1300" dirty="0"/>
          </a:p>
        </p:txBody>
      </p:sp>
      <p:sp>
        <p:nvSpPr>
          <p:cNvPr id="7" name="card_317"/>
          <p:cNvSpPr/>
          <p:nvPr/>
        </p:nvSpPr>
        <p:spPr>
          <a:xfrm>
            <a:off x="4325112" y="1371600"/>
            <a:ext cx="3538728" cy="4663440"/>
          </a:xfrm>
          <a:prstGeom prst="roundRect">
            <a:avLst>
              <a:gd name="adj" fmla="val 2067"/>
            </a:avLst>
          </a:prstGeom>
          <a:solidFill>
            <a:schemeClr val="bg2"/>
          </a:solidFill>
          <a:ln w="12700">
            <a:solidFill>
              <a:schemeClr val="bg2"/>
            </a:solidFill>
            <a:prstDash val="solid"/>
          </a:ln>
        </p:spPr>
      </p:sp>
      <p:sp>
        <p:nvSpPr>
          <p:cNvPr id="8" name="num_318"/>
          <p:cNvSpPr txBox="1"/>
          <p:nvPr/>
        </p:nvSpPr>
        <p:spPr>
          <a:xfrm>
            <a:off x="4599432" y="1600200"/>
            <a:ext cx="548640" cy="54864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800" b="1" dirty="0">
                <a:solidFill>
                  <a:schemeClr val="tx1"/>
                </a:solidFill>
                <a:latin typeface="Cambria" pitchFamily="34" charset="0"/>
                <a:ea typeface="Cambria" pitchFamily="34" charset="-122"/>
                <a:cs typeface="Cambria" pitchFamily="34" charset="-120"/>
              </a:rPr>
              <a:t>±</a:t>
            </a:r>
            <a:endParaRPr lang="en-US" sz="1800" dirty="0"/>
          </a:p>
        </p:txBody>
      </p:sp>
      <p:sp>
        <p:nvSpPr>
          <p:cNvPr id="9" name="text_319"/>
          <p:cNvSpPr txBox="1"/>
          <p:nvPr/>
        </p:nvSpPr>
        <p:spPr>
          <a:xfrm>
            <a:off x="5285232" y="1645920"/>
            <a:ext cx="237744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Trade-offs</a:t>
            </a:r>
            <a:endParaRPr lang="en-US" sz="1900" dirty="0"/>
          </a:p>
        </p:txBody>
      </p:sp>
      <p:sp>
        <p:nvSpPr>
          <p:cNvPr id="10" name="text_320"/>
          <p:cNvSpPr txBox="1"/>
          <p:nvPr/>
        </p:nvSpPr>
        <p:spPr>
          <a:xfrm>
            <a:off x="4599432" y="2377440"/>
            <a:ext cx="3063240" cy="3520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More types and DI registrations to navigate</a:t>
            </a:r>
            <a:endParaRPr lang="en-US" sz="1300" dirty="0"/>
          </a:p>
          <a:p>
            <a:pPr marL="342900" indent="-342900">
              <a:spcAft>
                <a:spcPts val="800"/>
              </a:spcAft>
              <a:buSzPct val="100000"/>
              <a:buChar char="•"/>
            </a:pPr>
            <a:r>
              <a:rPr lang="en-US" sz="1300" dirty="0">
                <a:solidFill>
                  <a:schemeClr val="tx1"/>
                </a:solidFill>
              </a:rPr>
              <a:t>Factory has one creator — closer to Simple Factory</a:t>
            </a:r>
            <a:endParaRPr lang="en-US" sz="1300" dirty="0"/>
          </a:p>
          <a:p>
            <a:pPr marL="342900" indent="-342900">
              <a:spcAft>
                <a:spcPts val="800"/>
              </a:spcAft>
              <a:buSzPct val="100000"/>
              <a:buChar char="•"/>
            </a:pPr>
            <a:r>
              <a:rPr lang="en-US" sz="1300" dirty="0">
                <a:solidFill>
                  <a:schemeClr val="tx1"/>
                </a:solidFill>
              </a:rPr>
              <a:t>Weekend surcharge applies to the whole rental; seasonal checks pickup month only</a:t>
            </a:r>
            <a:endParaRPr lang="en-US" sz="1300" dirty="0"/>
          </a:p>
          <a:p>
            <a:pPr marL="342900" indent="-342900">
              <a:spcAft>
                <a:spcPts val="800"/>
              </a:spcAft>
              <a:buSzPct val="100000"/>
              <a:buChar char="•"/>
            </a:pPr>
            <a:r>
              <a:rPr lang="en-US" sz="1300" dirty="0">
                <a:solidFill>
                  <a:schemeClr val="tx1"/>
                </a:solidFill>
              </a:rPr>
              <a:t>Observers run synchronously inside the request</a:t>
            </a:r>
            <a:endParaRPr lang="en-US" sz="1300" dirty="0"/>
          </a:p>
        </p:txBody>
      </p:sp>
      <p:sp>
        <p:nvSpPr>
          <p:cNvPr id="11" name="card_321"/>
          <p:cNvSpPr/>
          <p:nvPr/>
        </p:nvSpPr>
        <p:spPr>
          <a:xfrm>
            <a:off x="8101584" y="1371600"/>
            <a:ext cx="3538728" cy="4663440"/>
          </a:xfrm>
          <a:prstGeom prst="roundRect">
            <a:avLst>
              <a:gd name="adj" fmla="val 2067"/>
            </a:avLst>
          </a:prstGeom>
          <a:solidFill>
            <a:schemeClr val="bg2"/>
          </a:solidFill>
          <a:ln w="12700">
            <a:solidFill>
              <a:schemeClr val="bg2"/>
            </a:solidFill>
            <a:prstDash val="solid"/>
          </a:ln>
        </p:spPr>
      </p:sp>
      <p:sp>
        <p:nvSpPr>
          <p:cNvPr id="12" name="num_322"/>
          <p:cNvSpPr txBox="1"/>
          <p:nvPr/>
        </p:nvSpPr>
        <p:spPr>
          <a:xfrm>
            <a:off x="8375904" y="1600200"/>
            <a:ext cx="548640" cy="548640"/>
          </a:xfrm>
          <a:prstGeom prst="ellipse">
            <a:avLst/>
          </a:prstGeom>
          <a:solidFill>
            <a:schemeClr val="accent3"/>
          </a:solidFill>
          <a:ln>
            <a:solidFill>
              <a:schemeClr val="accent3"/>
            </a:solidFill>
          </a:ln>
        </p:spPr>
        <p:txBody>
          <a:bodyPr wrap="square" lIns="0" tIns="0" rIns="0" bIns="0" rtlCol="0" anchor="ctr"/>
          <a:lstStyle/>
          <a:p>
            <a:pPr algn="ctr" indent="0" marL="0">
              <a:buNone/>
            </a:pPr>
            <a:r>
              <a:rPr lang="en-US" sz="1800" b="1" dirty="0">
                <a:solidFill>
                  <a:schemeClr val="bg1"/>
                </a:solidFill>
                <a:latin typeface="Cambria" pitchFamily="34" charset="0"/>
                <a:ea typeface="Cambria" pitchFamily="34" charset="-122"/>
                <a:cs typeface="Cambria" pitchFamily="34" charset="-120"/>
              </a:rPr>
              <a:t>!</a:t>
            </a:r>
            <a:endParaRPr lang="en-US" sz="1800" dirty="0"/>
          </a:p>
        </p:txBody>
      </p:sp>
      <p:sp>
        <p:nvSpPr>
          <p:cNvPr id="13" name="text_323"/>
          <p:cNvSpPr txBox="1"/>
          <p:nvPr/>
        </p:nvSpPr>
        <p:spPr>
          <a:xfrm>
            <a:off x="9061704" y="1645920"/>
            <a:ext cx="2377440" cy="457200"/>
          </a:xfrm>
          <a:prstGeom prst="rect">
            <a:avLst/>
          </a:prstGeom>
          <a:noFill/>
          <a:ln/>
        </p:spPr>
        <p:txBody>
          <a:bodyPr wrap="square" lIns="0" tIns="0" rIns="0" bIns="0" rtlCol="0" anchor="ctr"/>
          <a:lstStyle/>
          <a:p>
            <a:pPr indent="0" marL="0">
              <a:buNone/>
            </a:pPr>
            <a:r>
              <a:rPr lang="en-US" sz="1900" b="1" dirty="0">
                <a:solidFill>
                  <a:schemeClr val="tx2"/>
                </a:solidFill>
                <a:latin typeface="Cambria" pitchFamily="34" charset="0"/>
                <a:ea typeface="Cambria" pitchFamily="34" charset="-122"/>
                <a:cs typeface="Cambria" pitchFamily="34" charset="-120"/>
              </a:rPr>
              <a:t>Limitations</a:t>
            </a:r>
            <a:endParaRPr lang="en-US" sz="1900" dirty="0"/>
          </a:p>
        </p:txBody>
      </p:sp>
      <p:sp>
        <p:nvSpPr>
          <p:cNvPr id="14" name="text_324"/>
          <p:cNvSpPr txBox="1"/>
          <p:nvPr/>
        </p:nvSpPr>
        <p:spPr>
          <a:xfrm>
            <a:off x="8375904" y="2377440"/>
            <a:ext cx="3063240" cy="3520440"/>
          </a:xfrm>
          <a:prstGeom prst="rect">
            <a:avLst/>
          </a:prstGeom>
          <a:noFill/>
          <a:ln/>
        </p:spPr>
        <p:txBody>
          <a:bodyPr wrap="square" lIns="0" tIns="0" rIns="0" bIns="0" rtlCol="0" anchor="t"/>
          <a:lstStyle/>
          <a:p>
            <a:pPr marL="342900" indent="-342900">
              <a:spcAft>
                <a:spcPts val="800"/>
              </a:spcAft>
              <a:buSzPct val="100000"/>
              <a:buChar char="•"/>
            </a:pPr>
            <a:r>
              <a:rPr lang="en-US" sz="1300" dirty="0">
                <a:solidFill>
                  <a:schemeClr val="tx1"/>
                </a:solidFill>
              </a:rPr>
              <a:t>Change1 code reconstructed from its documents</a:t>
            </a:r>
            <a:endParaRPr lang="en-US" sz="1300" dirty="0"/>
          </a:p>
          <a:p>
            <a:pPr marL="342900" indent="-342900">
              <a:spcAft>
                <a:spcPts val="800"/>
              </a:spcAft>
              <a:buSzPct val="100000"/>
              <a:buChar char="•"/>
            </a:pPr>
            <a:r>
              <a:rPr lang="en-US" sz="1300" dirty="0">
                <a:solidFill>
                  <a:schemeClr val="tx1"/>
                </a:solidFill>
              </a:rPr>
              <a:t>Evolved app built and tested but not run against MySQL</a:t>
            </a:r>
            <a:endParaRPr lang="en-US" sz="1300" dirty="0"/>
          </a:p>
          <a:p>
            <a:pPr marL="342900" indent="-342900">
              <a:spcAft>
                <a:spcPts val="800"/>
              </a:spcAft>
              <a:buSzPct val="100000"/>
              <a:buChar char="•"/>
            </a:pPr>
            <a:r>
              <a:rPr lang="en-US" sz="1300" dirty="0">
                <a:solidFill>
                  <a:schemeClr val="tx1"/>
                </a:solidFill>
              </a:rPr>
              <a:t>Change2/4 commit hashes exist only in local clones</a:t>
            </a:r>
            <a:endParaRPr lang="en-US" sz="1300" dirty="0"/>
          </a:p>
          <a:p>
            <a:pPr marL="342900" indent="-342900">
              <a:spcAft>
                <a:spcPts val="800"/>
              </a:spcAft>
              <a:buSzPct val="100000"/>
              <a:buChar char="•"/>
            </a:pPr>
            <a:r>
              <a:rPr lang="en-US" sz="1300" dirty="0">
                <a:solidFill>
                  <a:schemeClr val="tx1"/>
                </a:solidFill>
              </a:rPr>
              <a:t>No complexity or coverage figures for C#</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lIns="0" tIns="0" rIns="0" bIns="0" rtlCol="0" anchor="b"/>
          <a:lstStyle/>
          <a:p>
            <a:pPr indent="0" marL="0">
              <a:buNone/>
            </a:pPr>
            <a:r>
              <a:rPr lang="en-US" sz="8800" b="1" dirty="0">
                <a:solidFill>
                  <a:schemeClr val="accent1"/>
                </a:solidFill>
                <a:latin typeface="Cambria" pitchFamily="34" charset="0"/>
                <a:ea typeface="Cambria" pitchFamily="34" charset="-122"/>
                <a:cs typeface="Cambria" pitchFamily="34" charset="-120"/>
              </a:rPr>
              <a:t>04</a:t>
            </a: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Part 3 · Cross-language comparison</a:t>
            </a: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lIns="0" tIns="0" rIns="0" bIns="0" rtlCol="0" anchor="t"/>
          <a:lstStyle/>
          <a:p>
            <a:pPr indent="0" marL="0">
              <a:buNone/>
            </a:pPr>
            <a:r>
              <a:rPr lang="en-US" sz="1800" dirty="0">
                <a:solidFill>
                  <a:schemeClr val="bg2"/>
                </a:solidFill>
              </a:rPr>
              <a:t>One representative instance per pattern, same specification and tests in Java, Python, JavaScript and C++</a:t>
            </a:r>
            <a:endParaRPr lang="en-US" sz="1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Selected instances and common specification</a:t>
            </a:r>
            <a:endParaRPr lang="en-US" sz="3200" dirty="0"/>
          </a:p>
        </p:txBody>
      </p:sp>
      <p:sp>
        <p:nvSpPr>
          <p:cNvPr id="3" name="card_325"/>
          <p:cNvSpPr/>
          <p:nvPr/>
        </p:nvSpPr>
        <p:spPr>
          <a:xfrm>
            <a:off x="548640" y="1325880"/>
            <a:ext cx="6903720" cy="841248"/>
          </a:xfrm>
          <a:prstGeom prst="roundRect">
            <a:avLst>
              <a:gd name="adj" fmla="val 8696"/>
            </a:avLst>
          </a:prstGeom>
          <a:solidFill>
            <a:schemeClr val="bg2"/>
          </a:solidFill>
          <a:ln w="12700">
            <a:solidFill>
              <a:schemeClr val="bg2"/>
            </a:solidFill>
            <a:prstDash val="solid"/>
          </a:ln>
        </p:spPr>
      </p:sp>
      <p:sp>
        <p:nvSpPr>
          <p:cNvPr id="4" name="chip_326"/>
          <p:cNvSpPr txBox="1"/>
          <p:nvPr/>
        </p:nvSpPr>
        <p:spPr>
          <a:xfrm>
            <a:off x="731520" y="1591056"/>
            <a:ext cx="178308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Factory Method</a:t>
            </a:r>
            <a:endParaRPr lang="en-US" sz="1100" dirty="0"/>
          </a:p>
        </p:txBody>
      </p:sp>
      <p:sp>
        <p:nvSpPr>
          <p:cNvPr id="5" name="text_327"/>
          <p:cNvSpPr txBox="1"/>
          <p:nvPr/>
        </p:nvSpPr>
        <p:spPr>
          <a:xfrm>
            <a:off x="2697480" y="1417320"/>
            <a:ext cx="4572000" cy="320040"/>
          </a:xfrm>
          <a:prstGeom prst="rect">
            <a:avLst/>
          </a:prstGeom>
          <a:noFill/>
          <a:ln/>
        </p:spPr>
        <p:txBody>
          <a:bodyPr wrap="square" lIns="0" tIns="0" rIns="0" bIns="0" rtlCol="0" anchor="t"/>
          <a:lstStyle/>
          <a:p>
            <a:pPr indent="0" marL="0">
              <a:buNone/>
            </a:pPr>
            <a:r>
              <a:rPr lang="en-US" sz="1400" b="1" dirty="0">
                <a:solidFill>
                  <a:schemeClr val="tx2"/>
                </a:solidFill>
              </a:rPr>
              <a:t>Vehicle Category Rules Creation · from Change2</a:t>
            </a:r>
            <a:endParaRPr lang="en-US" sz="1400" dirty="0"/>
          </a:p>
        </p:txBody>
      </p:sp>
      <p:sp>
        <p:nvSpPr>
          <p:cNvPr id="6" name="text_328"/>
          <p:cNvSpPr txBox="1"/>
          <p:nvPr/>
        </p:nvSpPr>
        <p:spPr>
          <a:xfrm>
            <a:off x="2697480" y="1737360"/>
            <a:ext cx="4617720" cy="365760"/>
          </a:xfrm>
          <a:prstGeom prst="rect">
            <a:avLst/>
          </a:prstGeom>
          <a:noFill/>
          <a:ln/>
        </p:spPr>
        <p:txBody>
          <a:bodyPr wrap="square" lIns="0" tIns="0" rIns="0" bIns="0" rtlCol="0" anchor="t"/>
          <a:lstStyle/>
          <a:p>
            <a:pPr indent="0" marL="0">
              <a:buNone/>
            </a:pPr>
            <a:r>
              <a:rPr lang="en-US" sz="1200" dirty="0">
                <a:solidFill>
                  <a:schemeClr val="tx1"/>
                </a:solidFill>
              </a:rPr>
              <a:t>7 shared test cases — deposits, COMMERCIAL weekly-rate error, unknown category</a:t>
            </a:r>
            <a:endParaRPr lang="en-US" sz="1200" dirty="0"/>
          </a:p>
        </p:txBody>
      </p:sp>
      <p:sp>
        <p:nvSpPr>
          <p:cNvPr id="7" name="card_329"/>
          <p:cNvSpPr/>
          <p:nvPr/>
        </p:nvSpPr>
        <p:spPr>
          <a:xfrm>
            <a:off x="548640" y="2276856"/>
            <a:ext cx="6903720" cy="841248"/>
          </a:xfrm>
          <a:prstGeom prst="roundRect">
            <a:avLst>
              <a:gd name="adj" fmla="val 8696"/>
            </a:avLst>
          </a:prstGeom>
          <a:solidFill>
            <a:schemeClr val="bg2"/>
          </a:solidFill>
          <a:ln w="12700">
            <a:solidFill>
              <a:schemeClr val="bg2"/>
            </a:solidFill>
            <a:prstDash val="solid"/>
          </a:ln>
        </p:spPr>
      </p:sp>
      <p:sp>
        <p:nvSpPr>
          <p:cNvPr id="8" name="chip_330"/>
          <p:cNvSpPr txBox="1"/>
          <p:nvPr/>
        </p:nvSpPr>
        <p:spPr>
          <a:xfrm>
            <a:off x="731520" y="2542032"/>
            <a:ext cx="178308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Observer</a:t>
            </a:r>
            <a:endParaRPr lang="en-US" sz="1100" dirty="0"/>
          </a:p>
        </p:txBody>
      </p:sp>
      <p:sp>
        <p:nvSpPr>
          <p:cNvPr id="9" name="text_331"/>
          <p:cNvSpPr txBox="1"/>
          <p:nvPr/>
        </p:nvSpPr>
        <p:spPr>
          <a:xfrm>
            <a:off x="2697480" y="2368296"/>
            <a:ext cx="4572000" cy="320040"/>
          </a:xfrm>
          <a:prstGeom prst="rect">
            <a:avLst/>
          </a:prstGeom>
          <a:noFill/>
          <a:ln/>
        </p:spPr>
        <p:txBody>
          <a:bodyPr wrap="square" lIns="0" tIns="0" rIns="0" bIns="0" rtlCol="0" anchor="t"/>
          <a:lstStyle/>
          <a:p>
            <a:pPr indent="0" marL="0">
              <a:buNone/>
            </a:pPr>
            <a:r>
              <a:rPr lang="en-US" sz="1400" b="1" dirty="0">
                <a:solidFill>
                  <a:schemeClr val="tx2"/>
                </a:solidFill>
              </a:rPr>
              <a:t>Booking Lifecycle Notification · from Change4</a:t>
            </a:r>
            <a:endParaRPr lang="en-US" sz="1400" dirty="0"/>
          </a:p>
        </p:txBody>
      </p:sp>
      <p:sp>
        <p:nvSpPr>
          <p:cNvPr id="10" name="text_332"/>
          <p:cNvSpPr txBox="1"/>
          <p:nvPr/>
        </p:nvSpPr>
        <p:spPr>
          <a:xfrm>
            <a:off x="2697480" y="2688336"/>
            <a:ext cx="4617720" cy="365760"/>
          </a:xfrm>
          <a:prstGeom prst="rect">
            <a:avLst/>
          </a:prstGeom>
          <a:noFill/>
          <a:ln/>
        </p:spPr>
        <p:txBody>
          <a:bodyPr wrap="square" lIns="0" tIns="0" rIns="0" bIns="0" rtlCol="0" anchor="t"/>
          <a:lstStyle/>
          <a:p>
            <a:pPr indent="0" marL="0">
              <a:buNone/>
            </a:pPr>
            <a:r>
              <a:rPr lang="en-US" sz="1200" dirty="0">
                <a:solidFill>
                  <a:schemeClr val="tx1"/>
                </a:solidFill>
              </a:rPr>
              <a:t>8 cases — subscribe once, order, unsubscribe, failing observer isolated</a:t>
            </a:r>
            <a:endParaRPr lang="en-US" sz="1200" dirty="0"/>
          </a:p>
        </p:txBody>
      </p:sp>
      <p:sp>
        <p:nvSpPr>
          <p:cNvPr id="11" name="card_333"/>
          <p:cNvSpPr/>
          <p:nvPr/>
        </p:nvSpPr>
        <p:spPr>
          <a:xfrm>
            <a:off x="548640" y="3227832"/>
            <a:ext cx="6903720" cy="841248"/>
          </a:xfrm>
          <a:prstGeom prst="roundRect">
            <a:avLst>
              <a:gd name="adj" fmla="val 8696"/>
            </a:avLst>
          </a:prstGeom>
          <a:solidFill>
            <a:schemeClr val="bg2"/>
          </a:solidFill>
          <a:ln w="12700">
            <a:solidFill>
              <a:schemeClr val="bg2"/>
            </a:solidFill>
            <a:prstDash val="solid"/>
          </a:ln>
        </p:spPr>
      </p:sp>
      <p:sp>
        <p:nvSpPr>
          <p:cNvPr id="12" name="chip_334"/>
          <p:cNvSpPr txBox="1"/>
          <p:nvPr/>
        </p:nvSpPr>
        <p:spPr>
          <a:xfrm>
            <a:off x="731520" y="3493008"/>
            <a:ext cx="178308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Dependency Injection</a:t>
            </a:r>
            <a:endParaRPr lang="en-US" sz="1100" dirty="0"/>
          </a:p>
        </p:txBody>
      </p:sp>
      <p:sp>
        <p:nvSpPr>
          <p:cNvPr id="13" name="text_335"/>
          <p:cNvSpPr txBox="1"/>
          <p:nvPr/>
        </p:nvSpPr>
        <p:spPr>
          <a:xfrm>
            <a:off x="2697480" y="3319272"/>
            <a:ext cx="4572000" cy="320040"/>
          </a:xfrm>
          <a:prstGeom prst="rect">
            <a:avLst/>
          </a:prstGeom>
          <a:noFill/>
          <a:ln/>
        </p:spPr>
        <p:txBody>
          <a:bodyPr wrap="square" lIns="0" tIns="0" rIns="0" bIns="0" rtlCol="0" anchor="t"/>
          <a:lstStyle/>
          <a:p>
            <a:pPr indent="0" marL="0">
              <a:buNone/>
            </a:pPr>
            <a:r>
              <a:rPr lang="en-US" sz="1400" b="1" dirty="0">
                <a:solidFill>
                  <a:schemeClr val="tx2"/>
                </a:solidFill>
              </a:rPr>
              <a:t>DI Composition · original code, extended by Change1</a:t>
            </a:r>
            <a:endParaRPr lang="en-US" sz="1400" dirty="0"/>
          </a:p>
        </p:txBody>
      </p:sp>
      <p:sp>
        <p:nvSpPr>
          <p:cNvPr id="14" name="text_336"/>
          <p:cNvSpPr txBox="1"/>
          <p:nvPr/>
        </p:nvSpPr>
        <p:spPr>
          <a:xfrm>
            <a:off x="2697480" y="3639312"/>
            <a:ext cx="4617720" cy="365760"/>
          </a:xfrm>
          <a:prstGeom prst="rect">
            <a:avLst/>
          </a:prstGeom>
          <a:noFill/>
          <a:ln/>
        </p:spPr>
        <p:txBody>
          <a:bodyPr wrap="square" lIns="0" tIns="0" rIns="0" bIns="0" rtlCol="0" anchor="t"/>
          <a:lstStyle/>
          <a:p>
            <a:pPr indent="0" marL="0">
              <a:buNone/>
            </a:pPr>
            <a:r>
              <a:rPr lang="en-US" sz="1200" dirty="0">
                <a:solidFill>
                  <a:schemeClr val="tx1"/>
                </a:solidFill>
              </a:rPr>
              <a:t>10 cases — lifetimes, open generics, constructor wiring</a:t>
            </a:r>
            <a:endParaRPr lang="en-US" sz="1200" dirty="0"/>
          </a:p>
        </p:txBody>
      </p:sp>
      <p:sp>
        <p:nvSpPr>
          <p:cNvPr id="15" name="card_337"/>
          <p:cNvSpPr/>
          <p:nvPr/>
        </p:nvSpPr>
        <p:spPr>
          <a:xfrm>
            <a:off x="548640" y="4178808"/>
            <a:ext cx="6903720" cy="841248"/>
          </a:xfrm>
          <a:prstGeom prst="roundRect">
            <a:avLst>
              <a:gd name="adj" fmla="val 8696"/>
            </a:avLst>
          </a:prstGeom>
          <a:solidFill>
            <a:schemeClr val="bg2"/>
          </a:solidFill>
          <a:ln w="12700">
            <a:solidFill>
              <a:schemeClr val="bg2"/>
            </a:solidFill>
            <a:prstDash val="solid"/>
          </a:ln>
        </p:spPr>
      </p:sp>
      <p:sp>
        <p:nvSpPr>
          <p:cNvPr id="16" name="chip_338"/>
          <p:cNvSpPr txBox="1"/>
          <p:nvPr/>
        </p:nvSpPr>
        <p:spPr>
          <a:xfrm>
            <a:off x="731520" y="4443984"/>
            <a:ext cx="1783080" cy="310896"/>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100" b="1" dirty="0">
                <a:solidFill>
                  <a:schemeClr val="bg1"/>
                </a:solidFill>
              </a:rPr>
              <a:t>Strategy</a:t>
            </a:r>
            <a:endParaRPr lang="en-US" sz="1100" dirty="0"/>
          </a:p>
        </p:txBody>
      </p:sp>
      <p:sp>
        <p:nvSpPr>
          <p:cNvPr id="17" name="text_339"/>
          <p:cNvSpPr txBox="1"/>
          <p:nvPr/>
        </p:nvSpPr>
        <p:spPr>
          <a:xfrm>
            <a:off x="2697480" y="4270248"/>
            <a:ext cx="4572000" cy="320040"/>
          </a:xfrm>
          <a:prstGeom prst="rect">
            <a:avLst/>
          </a:prstGeom>
          <a:noFill/>
          <a:ln/>
        </p:spPr>
        <p:txBody>
          <a:bodyPr wrap="square" lIns="0" tIns="0" rIns="0" bIns="0" rtlCol="0" anchor="t"/>
          <a:lstStyle/>
          <a:p>
            <a:pPr indent="0" marL="0">
              <a:buNone/>
            </a:pPr>
            <a:r>
              <a:rPr lang="en-US" sz="1400" b="1" dirty="0">
                <a:solidFill>
                  <a:schemeClr val="tx2"/>
                </a:solidFill>
              </a:rPr>
              <a:t>Rental Pricing Policy Selection · from Change3</a:t>
            </a:r>
            <a:endParaRPr lang="en-US" sz="1400" dirty="0"/>
          </a:p>
        </p:txBody>
      </p:sp>
      <p:sp>
        <p:nvSpPr>
          <p:cNvPr id="18" name="text_340"/>
          <p:cNvSpPr txBox="1"/>
          <p:nvPr/>
        </p:nvSpPr>
        <p:spPr>
          <a:xfrm>
            <a:off x="2697480" y="4590288"/>
            <a:ext cx="4617720" cy="365760"/>
          </a:xfrm>
          <a:prstGeom prst="rect">
            <a:avLst/>
          </a:prstGeom>
          <a:noFill/>
          <a:ln/>
        </p:spPr>
        <p:txBody>
          <a:bodyPr wrap="square" lIns="0" tIns="0" rIns="0" bIns="0" rtlCol="0" anchor="t"/>
          <a:lstStyle/>
          <a:p>
            <a:pPr indent="0" marL="0">
              <a:buNone/>
            </a:pPr>
            <a:r>
              <a:rPr lang="en-US" sz="1200" dirty="0">
                <a:solidFill>
                  <a:schemeClr val="tx1"/>
                </a:solidFill>
              </a:rPr>
              <a:t>1 self-checking example — all four print “Weekend: 360.00”</a:t>
            </a:r>
            <a:endParaRPr lang="en-US" sz="1200" dirty="0"/>
          </a:p>
        </p:txBody>
      </p:sp>
      <p:sp>
        <p:nvSpPr>
          <p:cNvPr id="19" name="card_341"/>
          <p:cNvSpPr/>
          <p:nvPr/>
        </p:nvSpPr>
        <p:spPr>
          <a:xfrm>
            <a:off x="548640" y="5129784"/>
            <a:ext cx="6903720" cy="841248"/>
          </a:xfrm>
          <a:prstGeom prst="roundRect">
            <a:avLst>
              <a:gd name="adj" fmla="val 8696"/>
            </a:avLst>
          </a:prstGeom>
          <a:solidFill>
            <a:schemeClr val="bg2"/>
          </a:solidFill>
          <a:ln w="12700">
            <a:solidFill>
              <a:schemeClr val="bg2"/>
            </a:solidFill>
            <a:prstDash val="solid"/>
          </a:ln>
        </p:spPr>
      </p:sp>
      <p:sp>
        <p:nvSpPr>
          <p:cNvPr id="20" name="chip_342"/>
          <p:cNvSpPr txBox="1"/>
          <p:nvPr/>
        </p:nvSpPr>
        <p:spPr>
          <a:xfrm>
            <a:off x="731520" y="5394960"/>
            <a:ext cx="1783080" cy="310896"/>
          </a:xfrm>
          <a:prstGeom prst="roundRect">
            <a:avLst>
              <a:gd name="adj" fmla="val 50000"/>
            </a:avLst>
          </a:prstGeom>
          <a:solidFill>
            <a:schemeClr val="accent4"/>
          </a:solidFill>
          <a:ln>
            <a:solidFill>
              <a:schemeClr val="accent4"/>
            </a:solid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21" name="text_343"/>
          <p:cNvSpPr txBox="1"/>
          <p:nvPr/>
        </p:nvSpPr>
        <p:spPr>
          <a:xfrm>
            <a:off x="2697480" y="5221224"/>
            <a:ext cx="4572000" cy="320040"/>
          </a:xfrm>
          <a:prstGeom prst="rect">
            <a:avLst/>
          </a:prstGeom>
          <a:noFill/>
          <a:ln/>
        </p:spPr>
        <p:txBody>
          <a:bodyPr wrap="square" lIns="0" tIns="0" rIns="0" bIns="0" rtlCol="0" anchor="t"/>
          <a:lstStyle/>
          <a:p>
            <a:pPr indent="0" marL="0">
              <a:buNone/>
            </a:pPr>
            <a:r>
              <a:rPr lang="en-US" sz="1400" b="1" dirty="0">
                <a:solidFill>
                  <a:schemeClr val="tx2"/>
                </a:solidFill>
              </a:rPr>
              <a:t>Generic Repository CRUD · original code</a:t>
            </a:r>
            <a:endParaRPr lang="en-US" sz="1400" dirty="0"/>
          </a:p>
        </p:txBody>
      </p:sp>
      <p:sp>
        <p:nvSpPr>
          <p:cNvPr id="22" name="text_344"/>
          <p:cNvSpPr txBox="1"/>
          <p:nvPr/>
        </p:nvSpPr>
        <p:spPr>
          <a:xfrm>
            <a:off x="2697480" y="5541264"/>
            <a:ext cx="4617720" cy="365760"/>
          </a:xfrm>
          <a:prstGeom prst="rect">
            <a:avLst/>
          </a:prstGeom>
          <a:noFill/>
          <a:ln/>
        </p:spPr>
        <p:txBody>
          <a:bodyPr wrap="square" lIns="0" tIns="0" rIns="0" bIns="0" rtlCol="0" anchor="t"/>
          <a:lstStyle/>
          <a:p>
            <a:pPr indent="0" marL="0">
              <a:buNone/>
            </a:pPr>
            <a:r>
              <a:rPr lang="en-US" sz="1200" dirty="0">
                <a:solidFill>
                  <a:schemeClr val="tx1"/>
                </a:solidFill>
              </a:rPr>
              <a:t>1 self-checking example — all four print “Repository CRUD: PASS”</a:t>
            </a:r>
            <a:endParaRPr lang="en-US" sz="1200" dirty="0"/>
          </a:p>
        </p:txBody>
      </p:sp>
      <p:sp>
        <p:nvSpPr>
          <p:cNvPr id="23" name="card_345"/>
          <p:cNvSpPr/>
          <p:nvPr/>
        </p:nvSpPr>
        <p:spPr>
          <a:xfrm>
            <a:off x="7680960" y="1325880"/>
            <a:ext cx="3959352" cy="4681728"/>
          </a:xfrm>
          <a:prstGeom prst="roundRect">
            <a:avLst>
              <a:gd name="adj" fmla="val 1848"/>
            </a:avLst>
          </a:prstGeom>
          <a:solidFill>
            <a:schemeClr val="tx2"/>
          </a:solidFill>
          <a:ln w="12700">
            <a:solidFill>
              <a:schemeClr val="tx2"/>
            </a:solidFill>
            <a:prstDash val="solid"/>
          </a:ln>
        </p:spPr>
      </p:sp>
      <p:sp>
        <p:nvSpPr>
          <p:cNvPr id="24" name="text_346"/>
          <p:cNvSpPr txBox="1"/>
          <p:nvPr/>
        </p:nvSpPr>
        <p:spPr>
          <a:xfrm>
            <a:off x="7909560" y="1508760"/>
            <a:ext cx="3566160" cy="365760"/>
          </a:xfrm>
          <a:prstGeom prst="rect">
            <a:avLst/>
          </a:prstGeom>
          <a:noFill/>
          <a:ln/>
        </p:spPr>
        <p:txBody>
          <a:bodyPr wrap="square" lIns="0" tIns="0" rIns="0" bIns="0" rtlCol="0" anchor="t"/>
          <a:lstStyle/>
          <a:p>
            <a:pPr indent="0" marL="0">
              <a:buNone/>
            </a:pPr>
            <a:r>
              <a:rPr lang="en-US" sz="1700" b="1" dirty="0">
                <a:solidFill>
                  <a:schemeClr val="accent1"/>
                </a:solidFill>
                <a:latin typeface="Cambria" pitchFamily="34" charset="0"/>
                <a:ea typeface="Cambria" pitchFamily="34" charset="-122"/>
                <a:cs typeface="Cambria" pitchFamily="34" charset="-120"/>
              </a:rPr>
              <a:t>Measurement rules</a:t>
            </a:r>
            <a:endParaRPr lang="en-US" sz="1700" dirty="0"/>
          </a:p>
        </p:txBody>
      </p:sp>
      <p:sp>
        <p:nvSpPr>
          <p:cNvPr id="25" name="text_347"/>
          <p:cNvSpPr txBox="1"/>
          <p:nvPr/>
        </p:nvSpPr>
        <p:spPr>
          <a:xfrm>
            <a:off x="7909560" y="1965960"/>
            <a:ext cx="3520440" cy="3840480"/>
          </a:xfrm>
          <a:prstGeom prst="rect">
            <a:avLst/>
          </a:prstGeom>
          <a:noFill/>
          <a:ln/>
        </p:spPr>
        <p:txBody>
          <a:bodyPr wrap="square" lIns="0" tIns="0" rIns="0" bIns="0" rtlCol="0" anchor="t"/>
          <a:lstStyle/>
          <a:p>
            <a:pPr indent="0" marL="0">
              <a:spcAft>
                <a:spcPts val="1000"/>
              </a:spcAft>
              <a:buNone/>
            </a:pPr>
            <a:r>
              <a:rPr lang="en-US" sz="1300" b="1" dirty="0">
                <a:solidFill>
                  <a:schemeClr val="bg1"/>
                </a:solidFill>
              </a:rPr>
              <a:t>Spec: </a:t>
            </a:r>
            <a:pPr indent="0" marL="0">
              <a:spcAft>
                <a:spcPts val="1000"/>
              </a:spcAft>
              <a:buNone/>
            </a:pPr>
            <a:r>
              <a:rPr lang="en-US" sz="1300" dirty="0">
                <a:solidFill>
                  <a:schemeClr val="bg1"/>
                </a:solidFill>
              </a:rPr>
              <a:t>one common_spec.md per pattern; every port implements exactly it</a:t>
            </a:r>
            <a:endParaRPr lang="en-US" sz="1300" dirty="0"/>
          </a:p>
          <a:p>
            <a:pPr indent="0" marL="0">
              <a:spcAft>
                <a:spcPts val="1000"/>
              </a:spcAft>
              <a:buNone/>
            </a:pPr>
            <a:r>
              <a:rPr lang="en-US" sz="1300" b="1" dirty="0">
                <a:solidFill>
                  <a:schemeClr val="bg1"/>
                </a:solidFill>
              </a:rPr>
              <a:t>LOC: </a:t>
            </a:r>
            <a:pPr indent="0" marL="0">
              <a:spcAft>
                <a:spcPts val="1000"/>
              </a:spcAft>
              <a:buNone/>
            </a:pPr>
            <a:r>
              <a:rPr lang="en-US" sz="1300" dirty="0">
                <a:solidFill>
                  <a:schemeClr val="bg1"/>
                </a:solidFill>
              </a:rPr>
              <a:t>snippet file only, no blank or comment lines, tests excluded</a:t>
            </a:r>
            <a:endParaRPr lang="en-US" sz="1300" dirty="0"/>
          </a:p>
          <a:p>
            <a:pPr indent="0" marL="0">
              <a:spcAft>
                <a:spcPts val="1000"/>
              </a:spcAft>
              <a:buNone/>
            </a:pPr>
            <a:r>
              <a:rPr lang="en-US" sz="1300" b="1" dirty="0">
                <a:solidFill>
                  <a:schemeClr val="bg1"/>
                </a:solidFill>
              </a:rPr>
              <a:t>Max CC: </a:t>
            </a:r>
            <a:pPr indent="0" marL="0">
              <a:spcAft>
                <a:spcPts val="1000"/>
              </a:spcAft>
              <a:buNone/>
            </a:pPr>
            <a:r>
              <a:rPr lang="en-US" sz="1300" dirty="0">
                <a:solidFill>
                  <a:schemeClr val="bg1"/>
                </a:solidFill>
              </a:rPr>
              <a:t>1 + each if, loop, case, catch, &amp;&amp;, ||</a:t>
            </a:r>
            <a:endParaRPr lang="en-US" sz="1300" dirty="0"/>
          </a:p>
          <a:p>
            <a:pPr indent="0" marL="0">
              <a:spcAft>
                <a:spcPts val="1000"/>
              </a:spcAft>
              <a:buNone/>
            </a:pPr>
            <a:r>
              <a:rPr lang="en-US" sz="1300" b="1" dirty="0">
                <a:solidFill>
                  <a:schemeClr val="bg1"/>
                </a:solidFill>
              </a:rPr>
              <a:t>Time: </a:t>
            </a:r>
            <a:pPr indent="0" marL="0">
              <a:spcAft>
                <a:spcPts val="1000"/>
              </a:spcAft>
              <a:buNone/>
            </a:pPr>
            <a:r>
              <a:rPr lang="en-US" sz="1300" dirty="0">
                <a:solidFill>
                  <a:schemeClr val="bg1"/>
                </a:solidFill>
              </a:rPr>
              <a:t>compile, 1 warm-up, 5 runs, median; whole process, so start-up is included</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Results: all ports pass, structure stays the same</a:t>
            </a:r>
            <a:endParaRPr lang="en-US" sz="3200" dirty="0"/>
          </a:p>
        </p:txBody>
      </p:sp>
      <p:graphicFrame>
        <p:nvGraphicFramePr>
          <p:cNvPr id="3" name="chart_348" descr=""/>
          <p:cNvGraphicFramePr/>
          <p:nvPr/>
        </p:nvGraphicFramePr>
        <p:xfrm>
          <a:off x="548640" y="1325880"/>
          <a:ext cx="5760720" cy="4709160"/>
        </p:xfrm>
        <a:graphic xmlns:a="http://schemas.openxmlformats.org/drawingml/2006/main">
          <a:graphicData uri="http://schemas.openxmlformats.org/drawingml/2006/chart">
            <c:chart xmlns:c="http://schemas.openxmlformats.org/drawingml/2006/chart" r:id="rId1"/>
          </a:graphicData>
        </a:graphic>
      </p:graphicFrame>
      <p:graphicFrame>
        <p:nvGraphicFramePr>
          <p:cNvPr id="26" name="table_349"/>
          <p:cNvGraphicFramePr>
            <a:graphicFrameLocks noGrp="1"/>
          </p:cNvGraphicFramePr>
          <p:nvPr>
            <p:extLst>
              <p:ext uri="{D42A27DB-BD31-4B8C-83A1-F6EECF244321}">
                <p14:modId xmlns:p14="http://schemas.microsoft.com/office/powerpoint/2010/main" val="1579011935"/>
              </p:ext>
            </p:extLst>
          </p:nvPr>
        </p:nvGraphicFramePr>
        <p:xfrm>
          <a:off x="6537960" y="1325880"/>
          <a:ext cx="5102352" cy="914400"/>
        </p:xfrm>
        <a:graphic>
          <a:graphicData uri="http://schemas.openxmlformats.org/drawingml/2006/table">
            <a:tbl>
              <a:tblPr/>
              <a:tblGrid>
                <a:gridCol w="1883664"/>
                <a:gridCol w="804672"/>
                <a:gridCol w="804672"/>
                <a:gridCol w="804672"/>
                <a:gridCol w="804672"/>
              </a:tblGrid>
              <a:tr h="402336">
                <a:tc>
                  <a:txBody>
                    <a:bodyPr/>
                    <a:lstStyle/>
                    <a:p>
                      <a:pPr indent="0" marL="0">
                        <a:buNone/>
                      </a:pPr>
                      <a:r>
                        <a:rPr lang="en-US" sz="1200" b="1" dirty="0">
                          <a:solidFill>
                            <a:schemeClr val="bg1"/>
                          </a:solidFill>
                        </a:rPr>
                        <a:t>Median ms · max CC</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Java</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Python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JS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402336">
                <a:tc>
                  <a:txBody>
                    <a:bodyPr/>
                    <a:lstStyle/>
                    <a:p>
                      <a:pPr indent="0" marL="0">
                        <a:buNone/>
                      </a:pPr>
                      <a:r>
                        <a:rPr lang="en-US" sz="1200" dirty="0">
                          <a:solidFill>
                            <a:schemeClr val="tx1"/>
                          </a:solidFill>
                        </a:rPr>
                        <a:t>Factory Method (7/7)</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110 · 4</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57 ·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70 · 4</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 · 4</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02336">
                <a:tc>
                  <a:txBody>
                    <a:bodyPr/>
                    <a:lstStyle/>
                    <a:p>
                      <a:pPr indent="0" marL="0">
                        <a:buNone/>
                      </a:pPr>
                      <a:r>
                        <a:rPr lang="en-US" sz="1200" dirty="0">
                          <a:solidFill>
                            <a:schemeClr val="tx1"/>
                          </a:solidFill>
                        </a:rPr>
                        <a:t>Observer (8/8)</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239 · 9</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65 · 3</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71 · 3</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17 · 6</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02336">
                <a:tc>
                  <a:txBody>
                    <a:bodyPr/>
                    <a:lstStyle/>
                    <a:p>
                      <a:pPr indent="0" marL="0">
                        <a:buNone/>
                      </a:pPr>
                      <a:r>
                        <a:rPr lang="en-US" sz="1200" dirty="0">
                          <a:solidFill>
                            <a:schemeClr val="tx1"/>
                          </a:solidFill>
                        </a:rPr>
                        <a:t>Dependency Inj. (10/10)</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853 · 7</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132 · 8</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154 · 8</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10 · 7</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02336">
                <a:tc>
                  <a:txBody>
                    <a:bodyPr/>
                    <a:lstStyle/>
                    <a:p>
                      <a:pPr indent="0" marL="0">
                        <a:buNone/>
                      </a:pPr>
                      <a:r>
                        <a:rPr lang="en-US" sz="1200" dirty="0">
                          <a:solidFill>
                            <a:schemeClr val="tx1"/>
                          </a:solidFill>
                        </a:rPr>
                        <a:t>Strategy (1 example)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117 · 5</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92 · 5</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67 · 5</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12 · 5</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02336">
                <a:tc>
                  <a:txBody>
                    <a:bodyPr/>
                    <a:lstStyle/>
                    <a:p>
                      <a:pPr indent="0" marL="0">
                        <a:buNone/>
                      </a:pPr>
                      <a:r>
                        <a:rPr lang="en-US" sz="1200" dirty="0">
                          <a:solidFill>
                            <a:schemeClr val="tx1"/>
                          </a:solidFill>
                        </a:rPr>
                        <a:t>Repository (1 example)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80 · 6</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58 ·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70 ·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13 · 7</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bl>
          </a:graphicData>
        </a:graphic>
      </p:graphicFrame>
      <p:sp>
        <p:nvSpPr>
          <p:cNvPr id="5" name="card_350"/>
          <p:cNvSpPr/>
          <p:nvPr/>
        </p:nvSpPr>
        <p:spPr>
          <a:xfrm>
            <a:off x="6537960" y="3931920"/>
            <a:ext cx="5102352" cy="2103120"/>
          </a:xfrm>
          <a:prstGeom prst="roundRect">
            <a:avLst>
              <a:gd name="adj" fmla="val 3478"/>
            </a:avLst>
          </a:prstGeom>
          <a:solidFill>
            <a:schemeClr val="bg2"/>
          </a:solidFill>
          <a:ln w="12700">
            <a:solidFill>
              <a:schemeClr val="bg2"/>
            </a:solidFill>
            <a:prstDash val="solid"/>
          </a:ln>
        </p:spPr>
      </p:sp>
      <p:sp>
        <p:nvSpPr>
          <p:cNvPr id="6" name="text_351"/>
          <p:cNvSpPr txBox="1"/>
          <p:nvPr/>
        </p:nvSpPr>
        <p:spPr>
          <a:xfrm>
            <a:off x="6766560" y="4069080"/>
            <a:ext cx="4663440" cy="1874520"/>
          </a:xfrm>
          <a:prstGeom prst="rect">
            <a:avLst/>
          </a:prstGeom>
          <a:noFill/>
          <a:ln/>
        </p:spPr>
        <p:txBody>
          <a:bodyPr wrap="square" lIns="0" tIns="0" rIns="0" bIns="0" rtlCol="0" anchor="t"/>
          <a:lstStyle/>
          <a:p>
            <a:pPr indent="0" marL="0">
              <a:spcAft>
                <a:spcPts val="400"/>
              </a:spcAft>
              <a:buNone/>
            </a:pPr>
            <a:r>
              <a:rPr lang="en-US" sz="1200" b="1" dirty="0">
                <a:solidFill>
                  <a:schemeClr val="accent2"/>
                </a:solidFill>
              </a:rPr>
              <a:t>All 20 ports (5 patterns × 4 languages) pass.</a:t>
            </a:r>
            <a:endParaRPr lang="en-US" sz="1200" dirty="0"/>
          </a:p>
          <a:p>
            <a:pPr marL="342900" indent="-342900">
              <a:spcAft>
                <a:spcPts val="400"/>
              </a:spcAft>
              <a:buSzPct val="100000"/>
              <a:buChar char="•"/>
            </a:pPr>
            <a:r>
              <a:rPr lang="en-US" sz="1200" dirty="0">
                <a:solidFill>
                  <a:schemeClr val="tx1"/>
                </a:solidFill>
              </a:rPr>
              <a:t>Times include process start-up: the JVM dominates Java, native C++ starts in ~10–17 ms.</a:t>
            </a:r>
            <a:endParaRPr lang="en-US" sz="1200" dirty="0"/>
          </a:p>
          <a:p>
            <a:pPr marL="342900" indent="-342900">
              <a:spcAft>
                <a:spcPts val="400"/>
              </a:spcAft>
              <a:buSzPct val="100000"/>
              <a:buChar char="•"/>
            </a:pPr>
            <a:r>
              <a:rPr lang="en-US" sz="1200" dirty="0">
                <a:solidFill>
                  <a:schemeClr val="tx1"/>
                </a:solidFill>
              </a:rPr>
              <a:t>Measured on different machines: compare within a row, not across rows.</a:t>
            </a:r>
            <a:endParaRPr lang="en-US" sz="1200" dirty="0"/>
          </a:p>
          <a:p>
            <a:pPr marL="342900" indent="-342900">
              <a:spcAft>
                <a:spcPts val="400"/>
              </a:spcAft>
              <a:buSzPct val="100000"/>
              <a:buChar char="•"/>
            </a:pPr>
            <a:r>
              <a:rPr lang="en-US" sz="1200" dirty="0">
                <a:solidFill>
                  <a:schemeClr val="tx1"/>
                </a:solidFill>
              </a:rPr>
              <a:t>Strategy/Repository Java, JS and C++ files put several statements per line, so their low LOC is not comparable.</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How each language expresses the same roles</a:t>
            </a:r>
            <a:endParaRPr lang="en-US" sz="3200" dirty="0"/>
          </a:p>
        </p:txBody>
      </p:sp>
      <p:sp>
        <p:nvSpPr>
          <p:cNvPr id="3" name="card_352"/>
          <p:cNvSpPr/>
          <p:nvPr/>
        </p:nvSpPr>
        <p:spPr>
          <a:xfrm>
            <a:off x="548640" y="1371600"/>
            <a:ext cx="2606040" cy="4663440"/>
          </a:xfrm>
          <a:prstGeom prst="roundRect">
            <a:avLst>
              <a:gd name="adj" fmla="val 2807"/>
            </a:avLst>
          </a:prstGeom>
          <a:solidFill>
            <a:schemeClr val="bg2"/>
          </a:solidFill>
          <a:ln w="12700">
            <a:solidFill>
              <a:schemeClr val="bg2"/>
            </a:solidFill>
            <a:prstDash val="solid"/>
          </a:ln>
        </p:spPr>
      </p:sp>
      <p:sp>
        <p:nvSpPr>
          <p:cNvPr id="4" name="chip_353"/>
          <p:cNvSpPr txBox="1"/>
          <p:nvPr/>
        </p:nvSpPr>
        <p:spPr>
          <a:xfrm>
            <a:off x="777240" y="1572768"/>
            <a:ext cx="2148840" cy="310896"/>
          </a:xfrm>
          <a:prstGeom prst="roundRect">
            <a:avLst>
              <a:gd name="adj" fmla="val 50000"/>
            </a:avLst>
          </a:prstGeom>
          <a:solidFill>
            <a:schemeClr val="accent3"/>
          </a:solidFill>
          <a:ln>
            <a:solidFill>
              <a:schemeClr val="accent3"/>
            </a:solidFill>
          </a:ln>
        </p:spPr>
        <p:txBody>
          <a:bodyPr wrap="square" lIns="0" tIns="0" rIns="0" bIns="0" rtlCol="0" anchor="ctr"/>
          <a:lstStyle/>
          <a:p>
            <a:pPr algn="ctr" indent="0" marL="0">
              <a:buNone/>
            </a:pPr>
            <a:r>
              <a:rPr lang="en-US" sz="1300" b="1" dirty="0">
                <a:solidFill>
                  <a:schemeClr val="bg1"/>
                </a:solidFill>
              </a:rPr>
              <a:t>Java</a:t>
            </a:r>
            <a:endParaRPr lang="en-US" sz="1300" dirty="0"/>
          </a:p>
        </p:txBody>
      </p:sp>
      <p:sp>
        <p:nvSpPr>
          <p:cNvPr id="5" name="text_354"/>
          <p:cNvSpPr txBox="1"/>
          <p:nvPr/>
        </p:nvSpPr>
        <p:spPr>
          <a:xfrm>
            <a:off x="777240" y="2103120"/>
            <a:ext cx="2194560" cy="37947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tx1"/>
                </a:solidFill>
              </a:rPr>
              <a:t>Nominal interfaces checked at compile time</a:t>
            </a:r>
            <a:endParaRPr lang="en-US" sz="1300" dirty="0"/>
          </a:p>
          <a:p>
            <a:pPr marL="342900" indent="-342900">
              <a:spcAft>
                <a:spcPts val="900"/>
              </a:spcAft>
              <a:buSzPct val="100000"/>
              <a:buChar char="•"/>
            </a:pPr>
            <a:r>
              <a:rPr lang="en-US" sz="1300" dirty="0">
                <a:solidFill>
                  <a:schemeClr val="tx1"/>
                </a:solidFill>
              </a:rPr>
              <a:t>Exhaustive switch over an enum — a missing category is a compile error</a:t>
            </a:r>
            <a:endParaRPr lang="en-US" sz="1300" dirty="0"/>
          </a:p>
          <a:p>
            <a:pPr marL="342900" indent="-342900">
              <a:spcAft>
                <a:spcPts val="900"/>
              </a:spcAft>
              <a:buSzPct val="100000"/>
              <a:buChar char="•"/>
            </a:pPr>
            <a:r>
              <a:rPr lang="en-US" sz="1300" dirty="0">
                <a:solidFill>
                  <a:schemeClr val="tx1"/>
                </a:solidFill>
              </a:rPr>
              <a:t>Single-method observer interface, so lambdas work as observers</a:t>
            </a:r>
            <a:endParaRPr lang="en-US" sz="1300" dirty="0"/>
          </a:p>
          <a:p>
            <a:pPr marL="342900" indent="-342900">
              <a:spcAft>
                <a:spcPts val="900"/>
              </a:spcAft>
              <a:buSzPct val="100000"/>
              <a:buChar char="•"/>
            </a:pPr>
            <a:r>
              <a:rPr lang="en-US" sz="1300" dirty="0">
                <a:solidFill>
                  <a:schemeClr val="tx1"/>
                </a:solidFill>
              </a:rPr>
              <a:t>DI by reflection; type erasure forces string tokens</a:t>
            </a:r>
            <a:endParaRPr lang="en-US" sz="1300" dirty="0"/>
          </a:p>
        </p:txBody>
      </p:sp>
      <p:sp>
        <p:nvSpPr>
          <p:cNvPr id="6" name="card_355"/>
          <p:cNvSpPr/>
          <p:nvPr/>
        </p:nvSpPr>
        <p:spPr>
          <a:xfrm>
            <a:off x="3392424" y="1371600"/>
            <a:ext cx="2606040" cy="4663440"/>
          </a:xfrm>
          <a:prstGeom prst="roundRect">
            <a:avLst>
              <a:gd name="adj" fmla="val 2807"/>
            </a:avLst>
          </a:prstGeom>
          <a:solidFill>
            <a:schemeClr val="bg2"/>
          </a:solidFill>
          <a:ln w="12700">
            <a:solidFill>
              <a:schemeClr val="bg2"/>
            </a:solidFill>
            <a:prstDash val="solid"/>
          </a:ln>
        </p:spPr>
      </p:sp>
      <p:sp>
        <p:nvSpPr>
          <p:cNvPr id="7" name="chip_356"/>
          <p:cNvSpPr txBox="1"/>
          <p:nvPr/>
        </p:nvSpPr>
        <p:spPr>
          <a:xfrm>
            <a:off x="3621024" y="1572768"/>
            <a:ext cx="214884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300" b="1" dirty="0">
                <a:solidFill>
                  <a:schemeClr val="bg1"/>
                </a:solidFill>
              </a:rPr>
              <a:t>Python</a:t>
            </a:r>
            <a:endParaRPr lang="en-US" sz="1300" dirty="0"/>
          </a:p>
        </p:txBody>
      </p:sp>
      <p:sp>
        <p:nvSpPr>
          <p:cNvPr id="8" name="text_357"/>
          <p:cNvSpPr txBox="1"/>
          <p:nvPr/>
        </p:nvSpPr>
        <p:spPr>
          <a:xfrm>
            <a:off x="3621024" y="2103120"/>
            <a:ext cx="2194560" cy="37947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tx1"/>
                </a:solidFill>
              </a:rPr>
              <a:t>abc.ABC enforced only at construction; duck typing still works</a:t>
            </a:r>
            <a:endParaRPr lang="en-US" sz="1300" dirty="0"/>
          </a:p>
          <a:p>
            <a:pPr marL="342900" indent="-342900">
              <a:spcAft>
                <a:spcPts val="900"/>
              </a:spcAft>
              <a:buSzPct val="100000"/>
              <a:buChar char="•"/>
            </a:pPr>
            <a:r>
              <a:rPr lang="en-US" sz="1300" dirty="0">
                <a:solidFill>
                  <a:schemeClr val="tx1"/>
                </a:solidFill>
              </a:rPr>
              <a:t>Factory looks the class up in a dict — no switch</a:t>
            </a:r>
            <a:endParaRPr lang="en-US" sz="1300" dirty="0"/>
          </a:p>
          <a:p>
            <a:pPr marL="342900" indent="-342900">
              <a:spcAft>
                <a:spcPts val="900"/>
              </a:spcAft>
              <a:buSzPct val="100000"/>
              <a:buChar char="•"/>
            </a:pPr>
            <a:r>
              <a:rPr lang="en-US" sz="1300" dirty="0">
                <a:solidFill>
                  <a:schemeClr val="tx1"/>
                </a:solidFill>
              </a:rPr>
              <a:t>Frozen dataclass as the event</a:t>
            </a:r>
            <a:endParaRPr lang="en-US" sz="1300" dirty="0"/>
          </a:p>
          <a:p>
            <a:pPr marL="342900" indent="-342900">
              <a:spcAft>
                <a:spcPts val="900"/>
              </a:spcAft>
              <a:buSzPct val="100000"/>
              <a:buChar char="•"/>
            </a:pPr>
            <a:r>
              <a:rPr lang="en-US" sz="1300" dirty="0">
                <a:solidFill>
                  <a:schemeClr val="tx1"/>
                </a:solidFill>
              </a:rPr>
              <a:t>Classes are callables: impl(*deps)</a:t>
            </a:r>
            <a:endParaRPr lang="en-US" sz="1300" dirty="0"/>
          </a:p>
        </p:txBody>
      </p:sp>
      <p:sp>
        <p:nvSpPr>
          <p:cNvPr id="9" name="card_358"/>
          <p:cNvSpPr/>
          <p:nvPr/>
        </p:nvSpPr>
        <p:spPr>
          <a:xfrm>
            <a:off x="6236208" y="1371600"/>
            <a:ext cx="2606040" cy="4663440"/>
          </a:xfrm>
          <a:prstGeom prst="roundRect">
            <a:avLst>
              <a:gd name="adj" fmla="val 2807"/>
            </a:avLst>
          </a:prstGeom>
          <a:solidFill>
            <a:schemeClr val="bg2"/>
          </a:solidFill>
          <a:ln w="12700">
            <a:solidFill>
              <a:schemeClr val="bg2"/>
            </a:solidFill>
            <a:prstDash val="solid"/>
          </a:ln>
        </p:spPr>
      </p:sp>
      <p:sp>
        <p:nvSpPr>
          <p:cNvPr id="10" name="chip_359"/>
          <p:cNvSpPr txBox="1"/>
          <p:nvPr/>
        </p:nvSpPr>
        <p:spPr>
          <a:xfrm>
            <a:off x="6464808" y="1572768"/>
            <a:ext cx="2148840"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300" b="1" dirty="0">
                <a:solidFill>
                  <a:schemeClr val="tx1"/>
                </a:solidFill>
              </a:rPr>
              <a:t>JavaScript</a:t>
            </a:r>
            <a:endParaRPr lang="en-US" sz="1300" dirty="0"/>
          </a:p>
        </p:txBody>
      </p:sp>
      <p:sp>
        <p:nvSpPr>
          <p:cNvPr id="11" name="text_360"/>
          <p:cNvSpPr txBox="1"/>
          <p:nvPr/>
        </p:nvSpPr>
        <p:spPr>
          <a:xfrm>
            <a:off x="6464808" y="2103120"/>
            <a:ext cx="2194560" cy="37947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tx1"/>
                </a:solidFill>
              </a:rPr>
              <a:t>No interfaces: base classes throw “not implemented”</a:t>
            </a:r>
            <a:endParaRPr lang="en-US" sz="1300" dirty="0"/>
          </a:p>
          <a:p>
            <a:pPr marL="342900" indent="-342900">
              <a:spcAft>
                <a:spcPts val="900"/>
              </a:spcAft>
              <a:buSzPct val="100000"/>
              <a:buChar char="•"/>
            </a:pPr>
            <a:r>
              <a:rPr lang="en-US" sz="1300" dirty="0">
                <a:solidFill>
                  <a:schemeClr val="tx1"/>
                </a:solidFill>
              </a:rPr>
              <a:t>Frozen objects stand in for enums</a:t>
            </a:r>
            <a:endParaRPr lang="en-US" sz="1300" dirty="0"/>
          </a:p>
          <a:p>
            <a:pPr marL="342900" indent="-342900">
              <a:spcAft>
                <a:spcPts val="900"/>
              </a:spcAft>
              <a:buSzPct val="100000"/>
              <a:buChar char="•"/>
            </a:pPr>
            <a:r>
              <a:rPr lang="en-US" sz="1300" dirty="0">
                <a:solidFill>
                  <a:schemeClr val="tx1"/>
                </a:solidFill>
              </a:rPr>
              <a:t>#private fields hold state</a:t>
            </a:r>
            <a:endParaRPr lang="en-US" sz="1300" dirty="0"/>
          </a:p>
          <a:p>
            <a:pPr marL="342900" indent="-342900">
              <a:spcAft>
                <a:spcPts val="900"/>
              </a:spcAft>
              <a:buSzPct val="100000"/>
              <a:buChar char="•"/>
            </a:pPr>
            <a:r>
              <a:rPr lang="en-US" sz="1300" dirty="0">
                <a:solidFill>
                  <a:schemeClr val="tx1"/>
                </a:solidFill>
              </a:rPr>
              <a:t>EventEmitter avoided — a throwing listener stops the rest</a:t>
            </a:r>
            <a:endParaRPr lang="en-US" sz="1300" dirty="0"/>
          </a:p>
        </p:txBody>
      </p:sp>
      <p:sp>
        <p:nvSpPr>
          <p:cNvPr id="12" name="card_361"/>
          <p:cNvSpPr/>
          <p:nvPr/>
        </p:nvSpPr>
        <p:spPr>
          <a:xfrm>
            <a:off x="9079992" y="1371600"/>
            <a:ext cx="2606040" cy="4663440"/>
          </a:xfrm>
          <a:prstGeom prst="roundRect">
            <a:avLst>
              <a:gd name="adj" fmla="val 2807"/>
            </a:avLst>
          </a:prstGeom>
          <a:solidFill>
            <a:schemeClr val="bg2"/>
          </a:solidFill>
          <a:ln w="12700">
            <a:solidFill>
              <a:schemeClr val="bg2"/>
            </a:solidFill>
            <a:prstDash val="solid"/>
          </a:ln>
        </p:spPr>
      </p:sp>
      <p:sp>
        <p:nvSpPr>
          <p:cNvPr id="13" name="chip_362"/>
          <p:cNvSpPr txBox="1"/>
          <p:nvPr/>
        </p:nvSpPr>
        <p:spPr>
          <a:xfrm>
            <a:off x="9308592" y="1572768"/>
            <a:ext cx="2148840" cy="310896"/>
          </a:xfrm>
          <a:prstGeom prst="roundRect">
            <a:avLst>
              <a:gd name="adj" fmla="val 50000"/>
            </a:avLst>
          </a:prstGeom>
          <a:solidFill>
            <a:schemeClr val="tx2"/>
          </a:solidFill>
          <a:ln>
            <a:solidFill>
              <a:schemeClr val="tx2"/>
            </a:solidFill>
          </a:ln>
        </p:spPr>
        <p:txBody>
          <a:bodyPr wrap="square" lIns="0" tIns="0" rIns="0" bIns="0" rtlCol="0" anchor="ctr"/>
          <a:lstStyle/>
          <a:p>
            <a:pPr algn="ctr" indent="0" marL="0">
              <a:buNone/>
            </a:pPr>
            <a:r>
              <a:rPr lang="en-US" sz="1300" b="1" dirty="0">
                <a:solidFill>
                  <a:schemeClr val="bg1"/>
                </a:solidFill>
              </a:rPr>
              <a:t>C++</a:t>
            </a:r>
            <a:endParaRPr lang="en-US" sz="1300" dirty="0"/>
          </a:p>
        </p:txBody>
      </p:sp>
      <p:sp>
        <p:nvSpPr>
          <p:cNvPr id="14" name="text_363"/>
          <p:cNvSpPr txBox="1"/>
          <p:nvPr/>
        </p:nvSpPr>
        <p:spPr>
          <a:xfrm>
            <a:off x="9308592" y="2103120"/>
            <a:ext cx="2194560" cy="3794760"/>
          </a:xfrm>
          <a:prstGeom prst="rect">
            <a:avLst/>
          </a:prstGeom>
          <a:noFill/>
          <a:ln/>
        </p:spPr>
        <p:txBody>
          <a:bodyPr wrap="square" lIns="0" tIns="0" rIns="0" bIns="0" rtlCol="0" anchor="t"/>
          <a:lstStyle/>
          <a:p>
            <a:pPr marL="342900" indent="-342900">
              <a:spcAft>
                <a:spcPts val="900"/>
              </a:spcAft>
              <a:buSzPct val="100000"/>
              <a:buChar char="•"/>
            </a:pPr>
            <a:r>
              <a:rPr lang="en-US" sz="1300" dirty="0">
                <a:solidFill>
                  <a:schemeClr val="tx1"/>
                </a:solidFill>
              </a:rPr>
              <a:t>Pure virtual abstract classes, virtual destructors</a:t>
            </a:r>
            <a:endParaRPr lang="en-US" sz="1300" dirty="0"/>
          </a:p>
          <a:p>
            <a:pPr marL="342900" indent="-342900">
              <a:spcAft>
                <a:spcPts val="900"/>
              </a:spcAft>
              <a:buSzPct val="100000"/>
              <a:buChar char="•"/>
            </a:pPr>
            <a:r>
              <a:rPr lang="en-US" sz="1300" dirty="0">
                <a:solidFill>
                  <a:schemeClr val="tx1"/>
                </a:solidFill>
              </a:rPr>
              <a:t>unique_ptr / shared_ptr make ownership explicit</a:t>
            </a:r>
            <a:endParaRPr lang="en-US" sz="1300" dirty="0"/>
          </a:p>
          <a:p>
            <a:pPr marL="342900" indent="-342900">
              <a:spcAft>
                <a:spcPts val="900"/>
              </a:spcAft>
              <a:buSzPct val="100000"/>
              <a:buChar char="•"/>
            </a:pPr>
            <a:r>
              <a:rPr lang="en-US" sz="1300" dirty="0">
                <a:solidFill>
                  <a:schemeClr val="tx1"/>
                </a:solidFill>
              </a:rPr>
              <a:t>Variadic templates wire DI at compile time</a:t>
            </a:r>
            <a:endParaRPr lang="en-US" sz="1300" dirty="0"/>
          </a:p>
          <a:p>
            <a:pPr marL="342900" indent="-342900">
              <a:spcAft>
                <a:spcPts val="900"/>
              </a:spcAft>
              <a:buSzPct val="100000"/>
              <a:buChar char="•"/>
            </a:pPr>
            <a:r>
              <a:rPr lang="en-US" sz="1300" dirty="0">
                <a:solidFill>
                  <a:schemeClr val="tx1"/>
                </a:solidFill>
              </a:rPr>
              <a:t>enum class needs a hand-written to_string</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lIns="0" tIns="0" rIns="0" bIns="0" rtlCol="0" anchor="b"/>
          <a:lstStyle/>
          <a:p>
            <a:pPr indent="0" marL="0">
              <a:buNone/>
            </a:pPr>
            <a:r>
              <a:rPr lang="en-US" sz="8800" b="1" dirty="0">
                <a:solidFill>
                  <a:schemeClr val="accent1"/>
                </a:solidFill>
                <a:latin typeface="Cambria" pitchFamily="34" charset="0"/>
                <a:ea typeface="Cambria" pitchFamily="34" charset="-122"/>
                <a:cs typeface="Cambria" pitchFamily="34" charset="-120"/>
              </a:rPr>
              <a:t>05</a:t>
            </a: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LLM records and human verification</a:t>
            </a: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lIns="0" tIns="0" rIns="0" bIns="0" rtlCol="0" anchor="t"/>
          <a:lstStyle/>
          <a:p>
            <a:pPr indent="0" marL="0">
              <a:buNone/>
            </a:pPr>
            <a:r>
              <a:rPr lang="en-US" sz="1800" dirty="0">
                <a:solidFill>
                  <a:schemeClr val="bg2"/>
                </a:solidFill>
              </a:rPr>
              <a:t>Every LLM-assisted step saved with prompt, input, output and an honest evaluation</a:t>
            </a:r>
            <a:endParaRPr lang="en-US" sz="1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What the LLMs did, and what we verified</a:t>
            </a:r>
            <a:endParaRPr lang="en-US" sz="3200" dirty="0"/>
          </a:p>
        </p:txBody>
      </p:sp>
      <p:graphicFrame>
        <p:nvGraphicFramePr>
          <p:cNvPr id="29" name="table_364"/>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822960"/>
                <a:gridCol w="2468880"/>
                <a:gridCol w="3383280"/>
                <a:gridCol w="4416552"/>
              </a:tblGrid>
              <a:tr h="484632">
                <a:tc>
                  <a:txBody>
                    <a:bodyPr/>
                    <a:lstStyle/>
                    <a:p>
                      <a:pPr indent="0" marL="0">
                        <a:buNone/>
                      </a:pPr>
                      <a:r>
                        <a:rPr lang="en-US" sz="1200" b="1" dirty="0">
                          <a:solidFill>
                            <a:schemeClr val="bg1"/>
                          </a:solidFill>
                        </a:rPr>
                        <a:t>Part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Model · date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Task</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Evaluation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484632">
                <a:tc>
                  <a:txBody>
                    <a:bodyPr/>
                    <a:lstStyle/>
                    <a:p>
                      <a:pPr indent="0" marL="0">
                        <a:buNone/>
                      </a:pPr>
                      <a:r>
                        <a:rPr lang="en-US" sz="1200" dirty="0">
                          <a:solidFill>
                            <a:schemeClr val="tx1"/>
                          </a:solidFill>
                        </a:rPr>
                        <a:t>Part 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GPT-5.6 Luna · 2026-10-08</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Pattern discovery on source context</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Checked by hand: 9 kept, 3 uncertain and 9 rejected excluded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84632">
                <a:tc>
                  <a:txBody>
                    <a:bodyPr/>
                    <a:lstStyle/>
                    <a:p>
                      <a:pPr indent="0" marL="0">
                        <a:buNone/>
                      </a:pPr>
                      <a:r>
                        <a:rPr lang="en-US" sz="1200" dirty="0">
                          <a:solidFill>
                            <a:schemeClr val="tx1"/>
                          </a:solidFill>
                        </a:rPr>
                        <a:t>Part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Claude Opus 5.5 · 2026-10-10</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Change4 Observer code and evidence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Correct with corrections — 200/201 re-run; commit only local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84632">
                <a:tc>
                  <a:txBody>
                    <a:bodyPr/>
                    <a:lstStyle/>
                    <a:p>
                      <a:pPr indent="0" marL="0">
                        <a:buNone/>
                      </a:pPr>
                      <a:r>
                        <a:rPr lang="en-US" sz="1200" dirty="0">
                          <a:solidFill>
                            <a:schemeClr val="tx1"/>
                          </a:solidFill>
                        </a:rPr>
                        <a:t>Part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Claude Opus 5.5 · 2026-10-11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Integrate Change1–4 into Part2/code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Correct for what ran: 297/297; not run on MySQL</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84632">
                <a:tc>
                  <a:txBody>
                    <a:bodyPr/>
                    <a:lstStyle/>
                    <a:p>
                      <a:pPr indent="0" marL="0">
                        <a:buNone/>
                      </a:pPr>
                      <a:r>
                        <a:rPr lang="en-US" sz="1200" dirty="0">
                          <a:solidFill>
                            <a:schemeClr val="tx1"/>
                          </a:solidFill>
                        </a:rPr>
                        <a:t>Part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Claude Opus 5.5 · 2026-10-11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Rewrite Change1 (no diff existed)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Cannot confirm as the team’s code: 50 test names match, LOC 3956 vs 3957</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84632">
                <a:tc>
                  <a:txBody>
                    <a:bodyPr/>
                    <a:lstStyle/>
                    <a:p>
                      <a:pPr indent="0" marL="0">
                        <a:buNone/>
                      </a:pPr>
                      <a:r>
                        <a:rPr lang="en-US" sz="1200" dirty="0">
                          <a:solidFill>
                            <a:schemeClr val="tx1"/>
                          </a:solidFill>
                        </a:rPr>
                        <a:t>Part 2</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Claude Opus 5.5 · 2026-10-11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Evolution CSV (55 rows), counts, 9 UML diagrams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Correct with limits — role mapping needs human review</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84632">
                <a:tc>
                  <a:txBody>
                    <a:bodyPr/>
                    <a:lstStyle/>
                    <a:p>
                      <a:pPr indent="0" marL="0">
                        <a:buNone/>
                      </a:pPr>
                      <a:r>
                        <a:rPr lang="en-US" sz="1200" dirty="0">
                          <a:solidFill>
                            <a:schemeClr val="tx1"/>
                          </a:solidFill>
                        </a:rPr>
                        <a:t>Part 3</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Claude Opus 5.5 · 2026-10-10</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Factory Method and Observer ports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Correct (FM with path corrections) — logs, LOC and timings checked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484632">
                <a:tc>
                  <a:txBody>
                    <a:bodyPr/>
                    <a:lstStyle/>
                    <a:p>
                      <a:pPr indent="0" marL="0">
                        <a:buNone/>
                      </a:pPr>
                      <a:r>
                        <a:rPr lang="en-US" sz="1200" dirty="0">
                          <a:solidFill>
                            <a:schemeClr val="tx1"/>
                          </a:solidFill>
                        </a:rPr>
                        <a:t>Part 3</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Claude Opus 5.5 · 2026-10-10</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Dependency Injection ports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Partial — 10/10 in author layout; not re-run here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484632">
                <a:tc>
                  <a:txBody>
                    <a:bodyPr/>
                    <a:lstStyle/>
                    <a:p>
                      <a:pPr indent="0" marL="0">
                        <a:buNone/>
                      </a:pPr>
                      <a:r>
                        <a:rPr lang="en-US" sz="1200" dirty="0">
                          <a:solidFill>
                            <a:schemeClr val="tx1"/>
                          </a:solidFill>
                        </a:rPr>
                        <a:t>Part 3</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GPT-6 · 2026-10-11; measured with Claude Opus 5.5</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Strategy and Repository ports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Correct for what ran — all 8 exit 0; first CSV rows replaced by measured values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bl>
          </a:graphicData>
        </a:graphic>
      </p:graphicFrame>
      <p:sp>
        <p:nvSpPr>
          <p:cNvPr id="4" name="text_365"/>
          <p:cNvSpPr txBox="1"/>
          <p:nvPr/>
        </p:nvSpPr>
        <p:spPr>
          <a:xfrm>
            <a:off x="548640" y="5852160"/>
            <a:ext cx="11094415" cy="320040"/>
          </a:xfrm>
          <a:prstGeom prst="rect">
            <a:avLst/>
          </a:prstGeom>
          <a:noFill/>
          <a:ln/>
        </p:spPr>
        <p:txBody>
          <a:bodyPr wrap="square" lIns="0" tIns="0" rIns="0" bIns="0" rtlCol="0" anchor="t"/>
          <a:lstStyle/>
          <a:p>
            <a:pPr indent="0" marL="0">
              <a:buNone/>
            </a:pPr>
            <a:r>
              <a:rPr lang="en-US" sz="1100" i="1" dirty="0">
                <a:solidFill>
                  <a:schemeClr val="accent4"/>
                </a:solidFill>
              </a:rPr>
              <a:t>Prompts: Part1/Part1_prompt.txt · Part2/part2_prompt.txt · Part2/changes/Change4/prompt.md · Part3/llm/part3_prompt.txt — records in each part’s llm.csv</a:t>
            </a:r>
            <a:endParaRPr lang="en-US" sz="11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ph idx="100" type="body" hasCustomPrompt="1"/>
          </p:nvPr>
        </p:nvSpPr>
        <p:spPr>
          <a:xfrm>
            <a:off x="548640" y="1554480"/>
            <a:ext cx="2743200" cy="1463040"/>
          </a:xfrm>
          <a:prstGeom prst="rect">
            <a:avLst/>
          </a:prstGeom>
          <a:noFill/>
          <a:ln/>
        </p:spPr>
        <p:txBody>
          <a:bodyPr wrap="square" lIns="0" tIns="0" rIns="0" bIns="0" rtlCol="0" anchor="b"/>
          <a:lstStyle/>
          <a:p>
            <a:pPr indent="0" marL="0">
              <a:buNone/>
            </a:pPr>
            <a:r>
              <a:rPr lang="en-US" sz="8800" b="1" dirty="0">
                <a:solidFill>
                  <a:schemeClr val="accent1"/>
                </a:solidFill>
                <a:latin typeface="Cambria" pitchFamily="34" charset="0"/>
                <a:ea typeface="Cambria" pitchFamily="34" charset="-122"/>
                <a:cs typeface="Cambria" pitchFamily="34" charset="-120"/>
              </a:rPr>
              <a:t>06</a:t>
            </a:r>
            <a:endParaRPr lang="en-US" sz="8800" dirty="0"/>
          </a:p>
        </p:txBody>
      </p:sp>
      <p:sp>
        <p:nvSpPr>
          <p:cNvPr id="3" name="Text 0"/>
          <p:cNvSpPr/>
          <p:nvPr>
            <p:ph idx="101" type="title" hasCustomPrompt="1"/>
          </p:nvPr>
        </p:nvSpPr>
        <p:spPr>
          <a:xfrm>
            <a:off x="548640" y="3108960"/>
            <a:ext cx="10058400" cy="1005840"/>
          </a:xfrm>
          <a:prstGeom prst="rect">
            <a:avLst/>
          </a:prstGeom>
          <a:noFill/>
          <a:ln/>
        </p:spPr>
        <p:txBody>
          <a:bodyPr wrap="square" lIns="0" tIns="0" rIns="0" bIns="0" rtlCol="0" anchor="t"/>
          <a:lstStyle/>
          <a:p>
            <a:pPr algn="l" indent="0" marL="0">
              <a:buNone/>
            </a:pPr>
            <a:r>
              <a:rPr lang="en-US" sz="4000" b="1" dirty="0">
                <a:solidFill>
                  <a:schemeClr val="bg1"/>
                </a:solidFill>
                <a:latin typeface="Cambria" pitchFamily="34" charset="0"/>
                <a:ea typeface="Cambria" pitchFamily="34" charset="-122"/>
                <a:cs typeface="Cambria" pitchFamily="34" charset="-120"/>
              </a:rPr>
              <a:t>Findings and contributions</a:t>
            </a:r>
            <a:endParaRPr lang="en-US" sz="4000" dirty="0"/>
          </a:p>
        </p:txBody>
      </p:sp>
      <p:sp>
        <p:nvSpPr>
          <p:cNvPr id="4" name="Text 0"/>
          <p:cNvSpPr/>
          <p:nvPr>
            <p:ph idx="102" type="body" hasCustomPrompt="1"/>
          </p:nvPr>
        </p:nvSpPr>
        <p:spPr>
          <a:xfrm>
            <a:off x="548640" y="4160520"/>
            <a:ext cx="10058400" cy="1097280"/>
          </a:xfrm>
          <a:prstGeom prst="rect">
            <a:avLst/>
          </a:prstGeom>
          <a:noFill/>
          <a:ln/>
        </p:spPr>
        <p:txBody>
          <a:bodyPr wrap="square" lIns="0" tIns="0" rIns="0" bIns="0" rtlCol="0" anchor="t"/>
          <a:lstStyle/>
          <a:p>
            <a:pPr indent="0" marL="0">
              <a:buNone/>
            </a:pPr>
            <a:r>
              <a:rPr lang="en-US" sz="1800" dirty="0">
                <a:solidFill>
                  <a:schemeClr val="bg2"/>
                </a:solidFill>
              </a:rPr>
              <a:t>Evidence-supported conclusions, who did what, and references</a:t>
            </a:r>
            <a:endParaRPr lang="en-US" sz="1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Findings</a:t>
            </a:r>
            <a:endParaRPr lang="en-US" sz="3200" dirty="0"/>
          </a:p>
        </p:txBody>
      </p:sp>
      <p:sp>
        <p:nvSpPr>
          <p:cNvPr id="3" name="card_366"/>
          <p:cNvSpPr/>
          <p:nvPr/>
        </p:nvSpPr>
        <p:spPr>
          <a:xfrm>
            <a:off x="548640" y="1325880"/>
            <a:ext cx="5440680" cy="1417320"/>
          </a:xfrm>
          <a:prstGeom prst="roundRect">
            <a:avLst>
              <a:gd name="adj" fmla="val 5161"/>
            </a:avLst>
          </a:prstGeom>
          <a:solidFill>
            <a:schemeClr val="bg2"/>
          </a:solidFill>
          <a:ln w="12700">
            <a:solidFill>
              <a:schemeClr val="bg2"/>
            </a:solidFill>
            <a:prstDash val="solid"/>
          </a:ln>
        </p:spPr>
      </p:sp>
      <p:sp>
        <p:nvSpPr>
          <p:cNvPr id="4" name="num_367"/>
          <p:cNvSpPr txBox="1"/>
          <p:nvPr/>
        </p:nvSpPr>
        <p:spPr>
          <a:xfrm>
            <a:off x="777240" y="15544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1</a:t>
            </a:r>
            <a:endParaRPr lang="en-US" sz="1500" dirty="0"/>
          </a:p>
        </p:txBody>
      </p:sp>
      <p:sp>
        <p:nvSpPr>
          <p:cNvPr id="5" name="text_368"/>
          <p:cNvSpPr txBox="1"/>
          <p:nvPr/>
        </p:nvSpPr>
        <p:spPr>
          <a:xfrm>
            <a:off x="1417320" y="1527048"/>
            <a:ext cx="4389120" cy="365760"/>
          </a:xfrm>
          <a:prstGeom prst="rect">
            <a:avLst/>
          </a:prstGeom>
          <a:noFill/>
          <a:ln/>
        </p:spPr>
        <p:txBody>
          <a:bodyPr wrap="square" lIns="0" tIns="0" rIns="0" bIns="0" rtlCol="0" anchor="t"/>
          <a:lstStyle/>
          <a:p>
            <a:pPr indent="0" marL="0">
              <a:buNone/>
            </a:pPr>
            <a:r>
              <a:rPr lang="en-US" sz="1500" b="1" dirty="0">
                <a:solidFill>
                  <a:schemeClr val="tx2"/>
                </a:solidFill>
              </a:rPr>
              <a:t>Framework-shaped baseline</a:t>
            </a:r>
            <a:endParaRPr lang="en-US" sz="1500" dirty="0"/>
          </a:p>
        </p:txBody>
      </p:sp>
      <p:sp>
        <p:nvSpPr>
          <p:cNvPr id="6" name="text_369"/>
          <p:cNvSpPr txBox="1"/>
          <p:nvPr/>
        </p:nvSpPr>
        <p:spPr>
          <a:xfrm>
            <a:off x="1417320" y="1920240"/>
            <a:ext cx="4389120" cy="731520"/>
          </a:xfrm>
          <a:prstGeom prst="rect">
            <a:avLst/>
          </a:prstGeom>
          <a:noFill/>
          <a:ln/>
        </p:spPr>
        <p:txBody>
          <a:bodyPr wrap="square" lIns="0" tIns="0" rIns="0" bIns="0" rtlCol="0" anchor="t"/>
          <a:lstStyle/>
          <a:p>
            <a:pPr indent="0" marL="0">
              <a:buNone/>
            </a:pPr>
            <a:r>
              <a:rPr lang="en-US" sz="1300" dirty="0">
                <a:solidFill>
                  <a:schemeClr val="tx1"/>
                </a:solidFill>
              </a:rPr>
              <a:t>All 9 confirmed instances are enterprise, architectural or integration patterns — no behavioural GoF pattern was present.</a:t>
            </a:r>
            <a:endParaRPr lang="en-US" sz="1300" dirty="0"/>
          </a:p>
        </p:txBody>
      </p:sp>
      <p:sp>
        <p:nvSpPr>
          <p:cNvPr id="7" name="card_370"/>
          <p:cNvSpPr/>
          <p:nvPr/>
        </p:nvSpPr>
        <p:spPr>
          <a:xfrm>
            <a:off x="6199632" y="1325880"/>
            <a:ext cx="5440680" cy="1417320"/>
          </a:xfrm>
          <a:prstGeom prst="roundRect">
            <a:avLst>
              <a:gd name="adj" fmla="val 5161"/>
            </a:avLst>
          </a:prstGeom>
          <a:solidFill>
            <a:schemeClr val="bg2"/>
          </a:solidFill>
          <a:ln w="12700">
            <a:solidFill>
              <a:schemeClr val="bg2"/>
            </a:solidFill>
            <a:prstDash val="solid"/>
          </a:ln>
        </p:spPr>
      </p:sp>
      <p:sp>
        <p:nvSpPr>
          <p:cNvPr id="8" name="num_371"/>
          <p:cNvSpPr txBox="1"/>
          <p:nvPr/>
        </p:nvSpPr>
        <p:spPr>
          <a:xfrm>
            <a:off x="6428232" y="1554480"/>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2</a:t>
            </a:r>
            <a:endParaRPr lang="en-US" sz="1500" dirty="0"/>
          </a:p>
        </p:txBody>
      </p:sp>
      <p:sp>
        <p:nvSpPr>
          <p:cNvPr id="9" name="text_372"/>
          <p:cNvSpPr txBox="1"/>
          <p:nvPr/>
        </p:nvSpPr>
        <p:spPr>
          <a:xfrm>
            <a:off x="7068312" y="1527048"/>
            <a:ext cx="4389120" cy="365760"/>
          </a:xfrm>
          <a:prstGeom prst="rect">
            <a:avLst/>
          </a:prstGeom>
          <a:noFill/>
          <a:ln/>
        </p:spPr>
        <p:txBody>
          <a:bodyPr wrap="square" lIns="0" tIns="0" rIns="0" bIns="0" rtlCol="0" anchor="t"/>
          <a:lstStyle/>
          <a:p>
            <a:pPr indent="0" marL="0">
              <a:buNone/>
            </a:pPr>
            <a:r>
              <a:rPr lang="en-US" sz="1500" b="1" dirty="0">
                <a:solidFill>
                  <a:schemeClr val="tx2"/>
                </a:solidFill>
              </a:rPr>
              <a:t>Missing patterns were the extension points</a:t>
            </a:r>
            <a:endParaRPr lang="en-US" sz="1500" dirty="0"/>
          </a:p>
        </p:txBody>
      </p:sp>
      <p:sp>
        <p:nvSpPr>
          <p:cNvPr id="10" name="text_373"/>
          <p:cNvSpPr txBox="1"/>
          <p:nvPr/>
        </p:nvSpPr>
        <p:spPr>
          <a:xfrm>
            <a:off x="7068312" y="1920240"/>
            <a:ext cx="4389120" cy="731520"/>
          </a:xfrm>
          <a:prstGeom prst="rect">
            <a:avLst/>
          </a:prstGeom>
          <a:noFill/>
          <a:ln/>
        </p:spPr>
        <p:txBody>
          <a:bodyPr wrap="square" lIns="0" tIns="0" rIns="0" bIns="0" rtlCol="0" anchor="t"/>
          <a:lstStyle/>
          <a:p>
            <a:pPr indent="0" marL="0">
              <a:buNone/>
            </a:pPr>
            <a:r>
              <a:rPr lang="en-US" sz="1300" dirty="0">
                <a:solidFill>
                  <a:schemeClr val="tx1"/>
                </a:solidFill>
              </a:rPr>
              <a:t>State, Factory Method, Strategy and Observer — rejected or doubtful at baseline — each solved one real requirement.</a:t>
            </a:r>
            <a:endParaRPr lang="en-US" sz="1300" dirty="0"/>
          </a:p>
        </p:txBody>
      </p:sp>
      <p:sp>
        <p:nvSpPr>
          <p:cNvPr id="11" name="card_374"/>
          <p:cNvSpPr/>
          <p:nvPr/>
        </p:nvSpPr>
        <p:spPr>
          <a:xfrm>
            <a:off x="548640" y="2907792"/>
            <a:ext cx="5440680" cy="1417320"/>
          </a:xfrm>
          <a:prstGeom prst="roundRect">
            <a:avLst>
              <a:gd name="adj" fmla="val 5161"/>
            </a:avLst>
          </a:prstGeom>
          <a:solidFill>
            <a:schemeClr val="bg2"/>
          </a:solidFill>
          <a:ln w="12700">
            <a:solidFill>
              <a:schemeClr val="bg2"/>
            </a:solidFill>
            <a:prstDash val="solid"/>
          </a:ln>
        </p:spPr>
      </p:sp>
      <p:sp>
        <p:nvSpPr>
          <p:cNvPr id="12" name="num_375"/>
          <p:cNvSpPr txBox="1"/>
          <p:nvPr/>
        </p:nvSpPr>
        <p:spPr>
          <a:xfrm>
            <a:off x="777240" y="313639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3</a:t>
            </a:r>
            <a:endParaRPr lang="en-US" sz="1500" dirty="0"/>
          </a:p>
        </p:txBody>
      </p:sp>
      <p:sp>
        <p:nvSpPr>
          <p:cNvPr id="13" name="text_376"/>
          <p:cNvSpPr txBox="1"/>
          <p:nvPr/>
        </p:nvSpPr>
        <p:spPr>
          <a:xfrm>
            <a:off x="1417320" y="3108960"/>
            <a:ext cx="4389120" cy="365760"/>
          </a:xfrm>
          <a:prstGeom prst="rect">
            <a:avLst/>
          </a:prstGeom>
          <a:noFill/>
          <a:ln/>
        </p:spPr>
        <p:txBody>
          <a:bodyPr wrap="square" lIns="0" tIns="0" rIns="0" bIns="0" rtlCol="0" anchor="t"/>
          <a:lstStyle/>
          <a:p>
            <a:pPr indent="0" marL="0">
              <a:buNone/>
            </a:pPr>
            <a:r>
              <a:rPr lang="en-US" sz="1500" b="1" dirty="0">
                <a:solidFill>
                  <a:schemeClr val="tx2"/>
                </a:solidFill>
              </a:rPr>
              <a:t>Existing patterns absorbed change</a:t>
            </a:r>
            <a:endParaRPr lang="en-US" sz="1500" dirty="0"/>
          </a:p>
        </p:txBody>
      </p:sp>
      <p:sp>
        <p:nvSpPr>
          <p:cNvPr id="14" name="text_377"/>
          <p:cNvSpPr txBox="1"/>
          <p:nvPr/>
        </p:nvSpPr>
        <p:spPr>
          <a:xfrm>
            <a:off x="1417320" y="3502152"/>
            <a:ext cx="4389120" cy="731520"/>
          </a:xfrm>
          <a:prstGeom prst="rect">
            <a:avLst/>
          </a:prstGeom>
          <a:noFill/>
          <a:ln/>
        </p:spPr>
        <p:txBody>
          <a:bodyPr wrap="square" lIns="0" tIns="0" rIns="0" bIns="0" rtlCol="0" anchor="t"/>
          <a:lstStyle/>
          <a:p>
            <a:pPr indent="0" marL="0">
              <a:buNone/>
            </a:pPr>
            <a:r>
              <a:rPr lang="en-US" sz="1300" dirty="0">
                <a:solidFill>
                  <a:schemeClr val="tx1"/>
                </a:solidFill>
              </a:rPr>
              <a:t>No instance removed or replaced; DI extended by every change, Repository gained clients without edits.</a:t>
            </a:r>
            <a:endParaRPr lang="en-US" sz="1300" dirty="0"/>
          </a:p>
        </p:txBody>
      </p:sp>
      <p:sp>
        <p:nvSpPr>
          <p:cNvPr id="15" name="card_378"/>
          <p:cNvSpPr/>
          <p:nvPr/>
        </p:nvSpPr>
        <p:spPr>
          <a:xfrm>
            <a:off x="6199632" y="2907792"/>
            <a:ext cx="5440680" cy="1417320"/>
          </a:xfrm>
          <a:prstGeom prst="roundRect">
            <a:avLst>
              <a:gd name="adj" fmla="val 5161"/>
            </a:avLst>
          </a:prstGeom>
          <a:solidFill>
            <a:schemeClr val="bg2"/>
          </a:solidFill>
          <a:ln w="12700">
            <a:solidFill>
              <a:schemeClr val="bg2"/>
            </a:solidFill>
            <a:prstDash val="solid"/>
          </a:ln>
        </p:spPr>
      </p:sp>
      <p:sp>
        <p:nvSpPr>
          <p:cNvPr id="16" name="num_379"/>
          <p:cNvSpPr txBox="1"/>
          <p:nvPr/>
        </p:nvSpPr>
        <p:spPr>
          <a:xfrm>
            <a:off x="6428232" y="3136392"/>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4</a:t>
            </a:r>
            <a:endParaRPr lang="en-US" sz="1500" dirty="0"/>
          </a:p>
        </p:txBody>
      </p:sp>
      <p:sp>
        <p:nvSpPr>
          <p:cNvPr id="17" name="text_380"/>
          <p:cNvSpPr txBox="1"/>
          <p:nvPr/>
        </p:nvSpPr>
        <p:spPr>
          <a:xfrm>
            <a:off x="7068312" y="3108960"/>
            <a:ext cx="4389120" cy="365760"/>
          </a:xfrm>
          <a:prstGeom prst="rect">
            <a:avLst/>
          </a:prstGeom>
          <a:noFill/>
          <a:ln/>
        </p:spPr>
        <p:txBody>
          <a:bodyPr wrap="square" lIns="0" tIns="0" rIns="0" bIns="0" rtlCol="0" anchor="t"/>
          <a:lstStyle/>
          <a:p>
            <a:pPr indent="0" marL="0">
              <a:buNone/>
            </a:pPr>
            <a:r>
              <a:rPr lang="en-US" sz="1500" b="1" dirty="0">
                <a:solidFill>
                  <a:schemeClr val="tx2"/>
                </a:solidFill>
              </a:rPr>
              <a:t>Refactor where the smell is real</a:t>
            </a:r>
            <a:endParaRPr lang="en-US" sz="1500" dirty="0"/>
          </a:p>
        </p:txBody>
      </p:sp>
      <p:sp>
        <p:nvSpPr>
          <p:cNvPr id="18" name="text_381"/>
          <p:cNvSpPr txBox="1"/>
          <p:nvPr/>
        </p:nvSpPr>
        <p:spPr>
          <a:xfrm>
            <a:off x="7068312" y="3502152"/>
            <a:ext cx="4389120" cy="731520"/>
          </a:xfrm>
          <a:prstGeom prst="rect">
            <a:avLst/>
          </a:prstGeom>
          <a:noFill/>
          <a:ln/>
        </p:spPr>
        <p:txBody>
          <a:bodyPr wrap="square" lIns="0" tIns="0" rIns="0" bIns="0" rtlCol="0" anchor="t"/>
          <a:lstStyle/>
          <a:p>
            <a:pPr indent="0" marL="0">
              <a:buNone/>
            </a:pPr>
            <a:r>
              <a:rPr lang="en-US" sz="1300" dirty="0">
                <a:solidFill>
                  <a:schemeClr val="tx1"/>
                </a:solidFill>
              </a:rPr>
              <a:t>Two refactorings: static pricing coupling with a hidden clock (C3), and a long mixed-responsibility method (C4).</a:t>
            </a:r>
            <a:endParaRPr lang="en-US" sz="1300" dirty="0"/>
          </a:p>
        </p:txBody>
      </p:sp>
      <p:sp>
        <p:nvSpPr>
          <p:cNvPr id="19" name="card_382"/>
          <p:cNvSpPr/>
          <p:nvPr/>
        </p:nvSpPr>
        <p:spPr>
          <a:xfrm>
            <a:off x="548640" y="4489704"/>
            <a:ext cx="5440680" cy="1417320"/>
          </a:xfrm>
          <a:prstGeom prst="roundRect">
            <a:avLst>
              <a:gd name="adj" fmla="val 5161"/>
            </a:avLst>
          </a:prstGeom>
          <a:solidFill>
            <a:schemeClr val="bg2"/>
          </a:solidFill>
          <a:ln w="12700">
            <a:solidFill>
              <a:schemeClr val="bg2"/>
            </a:solidFill>
            <a:prstDash val="solid"/>
          </a:ln>
        </p:spPr>
      </p:sp>
      <p:sp>
        <p:nvSpPr>
          <p:cNvPr id="20" name="num_383"/>
          <p:cNvSpPr txBox="1"/>
          <p:nvPr/>
        </p:nvSpPr>
        <p:spPr>
          <a:xfrm>
            <a:off x="777240" y="4718304"/>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5</a:t>
            </a:r>
            <a:endParaRPr lang="en-US" sz="1500" dirty="0"/>
          </a:p>
        </p:txBody>
      </p:sp>
      <p:sp>
        <p:nvSpPr>
          <p:cNvPr id="21" name="text_384"/>
          <p:cNvSpPr txBox="1"/>
          <p:nvPr/>
        </p:nvSpPr>
        <p:spPr>
          <a:xfrm>
            <a:off x="1417320" y="4690872"/>
            <a:ext cx="4389120" cy="365760"/>
          </a:xfrm>
          <a:prstGeom prst="rect">
            <a:avLst/>
          </a:prstGeom>
          <a:noFill/>
          <a:ln/>
        </p:spPr>
        <p:txBody>
          <a:bodyPr wrap="square" lIns="0" tIns="0" rIns="0" bIns="0" rtlCol="0" anchor="t"/>
          <a:lstStyle/>
          <a:p>
            <a:pPr indent="0" marL="0">
              <a:buNone/>
            </a:pPr>
            <a:r>
              <a:rPr lang="en-US" sz="1500" b="1" dirty="0">
                <a:solidFill>
                  <a:schemeClr val="tx2"/>
                </a:solidFill>
              </a:rPr>
              <a:t>Tests prove behaviour kept</a:t>
            </a:r>
            <a:endParaRPr lang="en-US" sz="1500" dirty="0"/>
          </a:p>
        </p:txBody>
      </p:sp>
      <p:sp>
        <p:nvSpPr>
          <p:cNvPr id="22" name="text_385"/>
          <p:cNvSpPr txBox="1"/>
          <p:nvPr/>
        </p:nvSpPr>
        <p:spPr>
          <a:xfrm>
            <a:off x="1417320" y="5084064"/>
            <a:ext cx="4389120" cy="731520"/>
          </a:xfrm>
          <a:prstGeom prst="rect">
            <a:avLst/>
          </a:prstGeom>
          <a:noFill/>
          <a:ln/>
        </p:spPr>
        <p:txBody>
          <a:bodyPr wrap="square" lIns="0" tIns="0" rIns="0" bIns="0" rtlCol="0" anchor="t"/>
          <a:lstStyle/>
          <a:p>
            <a:pPr indent="0" marL="0">
              <a:buNone/>
            </a:pPr>
            <a:r>
              <a:rPr lang="en-US" sz="1300" dirty="0">
                <a:solidFill>
                  <a:schemeClr val="tx1"/>
                </a:solidFill>
              </a:rPr>
              <a:t>183 → 297 tests, all passing; the one baseline failure was a clock dependency fixed by injection.</a:t>
            </a:r>
            <a:endParaRPr lang="en-US" sz="1300" dirty="0"/>
          </a:p>
        </p:txBody>
      </p:sp>
      <p:sp>
        <p:nvSpPr>
          <p:cNvPr id="23" name="card_386"/>
          <p:cNvSpPr/>
          <p:nvPr/>
        </p:nvSpPr>
        <p:spPr>
          <a:xfrm>
            <a:off x="6199632" y="4489704"/>
            <a:ext cx="5440680" cy="1417320"/>
          </a:xfrm>
          <a:prstGeom prst="roundRect">
            <a:avLst>
              <a:gd name="adj" fmla="val 5161"/>
            </a:avLst>
          </a:prstGeom>
          <a:solidFill>
            <a:schemeClr val="bg2"/>
          </a:solidFill>
          <a:ln w="12700">
            <a:solidFill>
              <a:schemeClr val="bg2"/>
            </a:solidFill>
            <a:prstDash val="solid"/>
          </a:ln>
        </p:spPr>
      </p:sp>
      <p:sp>
        <p:nvSpPr>
          <p:cNvPr id="24" name="num_387"/>
          <p:cNvSpPr txBox="1"/>
          <p:nvPr/>
        </p:nvSpPr>
        <p:spPr>
          <a:xfrm>
            <a:off x="6428232" y="4718304"/>
            <a:ext cx="457200" cy="457200"/>
          </a:xfrm>
          <a:prstGeom prst="ellipse">
            <a:avLst/>
          </a:prstGeom>
          <a:solidFill>
            <a:schemeClr val="accent1"/>
          </a:solidFill>
          <a:ln>
            <a:solidFill>
              <a:schemeClr val="accent1"/>
            </a:solidFill>
          </a:ln>
        </p:spPr>
        <p:txBody>
          <a:bodyPr wrap="square" lIns="0" tIns="0" rIns="0" bIns="0" rtlCol="0" anchor="ctr"/>
          <a:lstStyle/>
          <a:p>
            <a:pPr algn="ctr" indent="0" marL="0">
              <a:buNone/>
            </a:pPr>
            <a:r>
              <a:rPr lang="en-US" sz="1500" b="1" dirty="0">
                <a:solidFill>
                  <a:schemeClr val="tx1"/>
                </a:solidFill>
                <a:latin typeface="Cambria" pitchFamily="34" charset="0"/>
                <a:ea typeface="Cambria" pitchFamily="34" charset="-122"/>
                <a:cs typeface="Cambria" pitchFamily="34" charset="-120"/>
              </a:rPr>
              <a:t>6</a:t>
            </a:r>
            <a:endParaRPr lang="en-US" sz="1500" dirty="0"/>
          </a:p>
        </p:txBody>
      </p:sp>
      <p:sp>
        <p:nvSpPr>
          <p:cNvPr id="25" name="text_388"/>
          <p:cNvSpPr txBox="1"/>
          <p:nvPr/>
        </p:nvSpPr>
        <p:spPr>
          <a:xfrm>
            <a:off x="7068312" y="4690872"/>
            <a:ext cx="4389120" cy="365760"/>
          </a:xfrm>
          <a:prstGeom prst="rect">
            <a:avLst/>
          </a:prstGeom>
          <a:noFill/>
          <a:ln/>
        </p:spPr>
        <p:txBody>
          <a:bodyPr wrap="square" lIns="0" tIns="0" rIns="0" bIns="0" rtlCol="0" anchor="t"/>
          <a:lstStyle/>
          <a:p>
            <a:pPr indent="0" marL="0">
              <a:buNone/>
            </a:pPr>
            <a:r>
              <a:rPr lang="en-US" sz="1500" b="1" dirty="0">
                <a:solidFill>
                  <a:schemeClr val="tx2"/>
                </a:solidFill>
              </a:rPr>
              <a:t>Roles are language-independent</a:t>
            </a:r>
            <a:endParaRPr lang="en-US" sz="1500" dirty="0"/>
          </a:p>
        </p:txBody>
      </p:sp>
      <p:sp>
        <p:nvSpPr>
          <p:cNvPr id="26" name="text_389"/>
          <p:cNvSpPr txBox="1"/>
          <p:nvPr/>
        </p:nvSpPr>
        <p:spPr>
          <a:xfrm>
            <a:off x="7068312" y="5084064"/>
            <a:ext cx="4389120" cy="731520"/>
          </a:xfrm>
          <a:prstGeom prst="rect">
            <a:avLst/>
          </a:prstGeom>
          <a:noFill/>
          <a:ln/>
        </p:spPr>
        <p:txBody>
          <a:bodyPr wrap="square" lIns="0" tIns="0" rIns="0" bIns="0" rtlCol="0" anchor="t"/>
          <a:lstStyle/>
          <a:p>
            <a:pPr indent="0" marL="0">
              <a:buNone/>
            </a:pPr>
            <a:r>
              <a:rPr lang="en-US" sz="1300" dirty="0">
                <a:solidFill>
                  <a:schemeClr val="tx1"/>
                </a:solidFill>
              </a:rPr>
              <a:t>Four languages, same participants and tests; language features change LOC and CC, not the pattern.</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Contributions and team folder</a:t>
            </a:r>
            <a:endParaRPr lang="en-US" sz="3200" dirty="0"/>
          </a:p>
        </p:txBody>
      </p:sp>
      <p:graphicFrame>
        <p:nvGraphicFramePr>
          <p:cNvPr id="32" name="table_390"/>
          <p:cNvGraphicFramePr>
            <a:graphicFrameLocks noGrp="1"/>
          </p:cNvGraphicFramePr>
          <p:nvPr>
            <p:extLst>
              <p:ext uri="{D42A27DB-BD31-4B8C-83A1-F6EECF244321}">
                <p14:modId xmlns:p14="http://schemas.microsoft.com/office/powerpoint/2010/main" val="1579011935"/>
              </p:ext>
            </p:extLst>
          </p:nvPr>
        </p:nvGraphicFramePr>
        <p:xfrm>
          <a:off x="548640" y="1325880"/>
          <a:ext cx="6675120" cy="914400"/>
        </p:xfrm>
        <a:graphic>
          <a:graphicData uri="http://schemas.openxmlformats.org/drawingml/2006/table">
            <a:tbl>
              <a:tblPr/>
              <a:tblGrid>
                <a:gridCol w="1691640"/>
                <a:gridCol w="1600200"/>
                <a:gridCol w="3383280"/>
              </a:tblGrid>
              <a:tr h="658368">
                <a:tc>
                  <a:txBody>
                    <a:bodyPr/>
                    <a:lstStyle/>
                    <a:p>
                      <a:pPr indent="0" marL="0">
                        <a:buNone/>
                      </a:pPr>
                      <a:r>
                        <a:rPr lang="en-US" sz="1200" b="1" dirty="0">
                          <a:solidFill>
                            <a:schemeClr val="bg1"/>
                          </a:solidFill>
                        </a:rPr>
                        <a:t>Roll number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Name</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c>
                  <a:txBody>
                    <a:bodyPr/>
                    <a:lstStyle/>
                    <a:p>
                      <a:pPr indent="0" marL="0">
                        <a:buNone/>
                      </a:pPr>
                      <a:r>
                        <a:rPr lang="en-US" sz="1200" b="1" dirty="0">
                          <a:solidFill>
                            <a:schemeClr val="bg1"/>
                          </a:solidFill>
                        </a:rPr>
                        <a:t>Contribution</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tx2"/>
                    </a:solidFill>
                  </a:tcPr>
                </a:tc>
              </a:tr>
              <a:tr h="658368">
                <a:tc>
                  <a:txBody>
                    <a:bodyPr/>
                    <a:lstStyle/>
                    <a:p>
                      <a:pPr indent="0" marL="0">
                        <a:buNone/>
                      </a:pPr>
                      <a:r>
                        <a:rPr lang="en-US" sz="1200" dirty="0">
                          <a:solidFill>
                            <a:schemeClr val="tx1"/>
                          </a:solidFill>
                        </a:rPr>
                        <a:t>AM.SC.U4CSE23251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Samridhi Singh</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Change1: maintenance scheduling, State pattern, 50 tests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658368">
                <a:tc>
                  <a:txBody>
                    <a:bodyPr/>
                    <a:lstStyle/>
                    <a:p>
                      <a:pPr indent="0" marL="0">
                        <a:buNone/>
                      </a:pPr>
                      <a:r>
                        <a:rPr lang="en-US" sz="1200" dirty="0">
                          <a:solidFill>
                            <a:schemeClr val="tx1"/>
                          </a:solidFill>
                        </a:rPr>
                        <a:t>AM.SC.U4CSE23211</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Bhavana P H</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Change2: vehicle categories, Factory Method, 24 tests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r h="658368">
                <a:tc>
                  <a:txBody>
                    <a:bodyPr/>
                    <a:lstStyle/>
                    <a:p>
                      <a:pPr indent="0" marL="0">
                        <a:buNone/>
                      </a:pPr>
                      <a:r>
                        <a:rPr lang="en-US" sz="1200" dirty="0">
                          <a:solidFill>
                            <a:schemeClr val="tx1"/>
                          </a:solidFill>
                        </a:rPr>
                        <a:t>AM.SC.U4CSE23238</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Neema Vinod</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c>
                  <a:txBody>
                    <a:bodyPr/>
                    <a:lstStyle/>
                    <a:p>
                      <a:pPr indent="0" marL="0">
                        <a:buNone/>
                      </a:pPr>
                      <a:r>
                        <a:rPr lang="en-US" sz="1200" dirty="0">
                          <a:solidFill>
                            <a:schemeClr val="tx1"/>
                          </a:solidFill>
                        </a:rPr>
                        <a:t>Change3: pricing policies, Strategy, refactoring, 22 tests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1"/>
                    </a:solidFill>
                  </a:tcPr>
                </a:tc>
              </a:tr>
              <a:tr h="658368">
                <a:tc>
                  <a:txBody>
                    <a:bodyPr/>
                    <a:lstStyle/>
                    <a:p>
                      <a:pPr indent="0" marL="0">
                        <a:buNone/>
                      </a:pPr>
                      <a:r>
                        <a:rPr lang="en-US" sz="1200" dirty="0">
                          <a:solidFill>
                            <a:schemeClr val="tx1"/>
                          </a:solidFill>
                        </a:rPr>
                        <a:t>AM.SC.U4CSE23266</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Vani Sugovind S R</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c>
                  <a:txBody>
                    <a:bodyPr/>
                    <a:lstStyle/>
                    <a:p>
                      <a:pPr indent="0" marL="0">
                        <a:buNone/>
                      </a:pPr>
                      <a:r>
                        <a:rPr lang="en-US" sz="1200" dirty="0">
                          <a:solidFill>
                            <a:schemeClr val="tx1"/>
                          </a:solidFill>
                        </a:rPr>
                        <a:t>Change4: booking notifications, Observer, refactoring, 18 tests</a:t>
                      </a:r>
                      <a:endParaRPr lang="en-US" sz="1200" dirty="0"/>
                    </a:p>
                  </a:txBody>
                  <a:tcPr marL="76200" marR="76200" marT="38100" marB="38100" anchor="ctr">
                    <a:lnL w="6350" cap="flat" cmpd="sng" algn="ctr">
                      <a:solidFill>
                        <a:srgbClr val="D5DCE3"/>
                      </a:solidFill>
                      <a:prstDash val="solid"/>
                      <a:round/>
                      <a:headEnd type="none" w="med" len="med"/>
                      <a:tailEnd type="none" w="med" len="med"/>
                    </a:lnL>
                    <a:lnR w="6350" cap="flat" cmpd="sng" algn="ctr">
                      <a:solidFill>
                        <a:srgbClr val="D5DCE3"/>
                      </a:solidFill>
                      <a:prstDash val="solid"/>
                      <a:round/>
                      <a:headEnd type="none" w="med" len="med"/>
                      <a:tailEnd type="none" w="med" len="med"/>
                    </a:lnR>
                    <a:lnT w="6350" cap="flat" cmpd="sng" algn="ctr">
                      <a:solidFill>
                        <a:srgbClr val="D5DCE3"/>
                      </a:solidFill>
                      <a:prstDash val="solid"/>
                      <a:round/>
                      <a:headEnd type="none" w="med" len="med"/>
                      <a:tailEnd type="none" w="med" len="med"/>
                    </a:lnT>
                    <a:lnB w="6350" cap="flat" cmpd="sng" algn="ctr">
                      <a:solidFill>
                        <a:srgbClr val="D5DCE3"/>
                      </a:solidFill>
                      <a:prstDash val="solid"/>
                      <a:round/>
                      <a:headEnd type="none" w="med" len="med"/>
                      <a:tailEnd type="none" w="med" len="med"/>
                    </a:lnB>
                    <a:solidFill>
                      <a:schemeClr val="bg2"/>
                    </a:solidFill>
                  </a:tcPr>
                </a:tc>
              </a:tr>
            </a:tbl>
          </a:graphicData>
        </a:graphic>
      </p:graphicFrame>
      <p:sp>
        <p:nvSpPr>
          <p:cNvPr id="4" name="text_391"/>
          <p:cNvSpPr txBox="1"/>
          <p:nvPr/>
        </p:nvSpPr>
        <p:spPr>
          <a:xfrm>
            <a:off x="548640" y="5074920"/>
            <a:ext cx="6675120" cy="320040"/>
          </a:xfrm>
          <a:prstGeom prst="rect">
            <a:avLst/>
          </a:prstGeom>
          <a:noFill/>
          <a:ln/>
        </p:spPr>
        <p:txBody>
          <a:bodyPr wrap="square" lIns="0" tIns="0" rIns="0" bIns="0" rtlCol="0" anchor="t"/>
          <a:lstStyle/>
          <a:p>
            <a:pPr indent="0" marL="0">
              <a:buNone/>
            </a:pPr>
            <a:r>
              <a:rPr lang="en-US" sz="1300" i="1" dirty="0">
                <a:solidFill>
                  <a:schemeClr val="accent4"/>
                </a:solidFill>
              </a:rPr>
              <a:t>Parts 1 and 3, the integration and the report were shared team work.</a:t>
            </a:r>
            <a:endParaRPr lang="en-US" sz="1300" dirty="0"/>
          </a:p>
        </p:txBody>
      </p:sp>
      <p:sp>
        <p:nvSpPr>
          <p:cNvPr id="5" name="card_392"/>
          <p:cNvSpPr/>
          <p:nvPr/>
        </p:nvSpPr>
        <p:spPr>
          <a:xfrm>
            <a:off x="7543800" y="1325880"/>
            <a:ext cx="4096512" cy="4709160"/>
          </a:xfrm>
          <a:prstGeom prst="roundRect">
            <a:avLst>
              <a:gd name="adj" fmla="val 1786"/>
            </a:avLst>
          </a:prstGeom>
          <a:solidFill>
            <a:schemeClr val="tx2"/>
          </a:solidFill>
          <a:ln w="12700">
            <a:solidFill>
              <a:schemeClr val="tx2"/>
            </a:solidFill>
            <a:prstDash val="solid"/>
          </a:ln>
        </p:spPr>
      </p:sp>
      <p:sp>
        <p:nvSpPr>
          <p:cNvPr id="6" name="text_393"/>
          <p:cNvSpPr txBox="1"/>
          <p:nvPr/>
        </p:nvSpPr>
        <p:spPr>
          <a:xfrm>
            <a:off x="7772400" y="1554480"/>
            <a:ext cx="3749040" cy="4343400"/>
          </a:xfrm>
          <a:prstGeom prst="rect">
            <a:avLst/>
          </a:prstGeom>
          <a:noFill/>
          <a:ln/>
        </p:spPr>
        <p:txBody>
          <a:bodyPr wrap="square" lIns="0" tIns="0" rIns="0" bIns="0" rtlCol="0" anchor="t"/>
          <a:lstStyle/>
          <a:p>
            <a:pPr indent="0" marL="0">
              <a:buNone/>
            </a:pPr>
            <a:r>
              <a:rPr lang="en-US" sz="1200" dirty="0">
                <a:solidFill>
                  <a:schemeClr val="bg1"/>
                </a:solidFill>
                <a:latin typeface="Courier New" pitchFamily="34" charset="0"/>
                <a:ea typeface="Courier New" pitchFamily="34" charset="-122"/>
                <a:cs typeface="Courier New" pitchFamily="34" charset="-120"/>
              </a:rPr>
              <a:t>B6/</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README.md</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data/</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code/  original (dfc61ab8)</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test_result/</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Part1/</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part1_patterns.csv</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part1_pattern_count.csv</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pattern_architecture/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Part1_prompt.txt, llm.csv</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Part2/</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code/  evolved source</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changes/Change1…4, integration/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pattern_evaluation.csv</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Pattern_count.csv, diagrams/</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part2_prompt.txt, llm.csv</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Part3/</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Factory_Method/, Observer_Pattern/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Dependency_Injection_Pattern/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strategy_pattern/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repository_pattern/</a:t>
            </a:r>
            <a:endParaRPr lang="en-US" sz="1200" dirty="0"/>
          </a:p>
          <a:p>
            <a:pPr indent="0" marL="0">
              <a:buNone/>
            </a:pPr>
            <a:r>
              <a:rPr lang="en-US" sz="1200" dirty="0">
                <a:solidFill>
                  <a:schemeClr val="bg1"/>
                </a:solidFill>
                <a:latin typeface="Courier New" pitchFamily="34" charset="0"/>
                <a:ea typeface="Courier New" pitchFamily="34" charset="-122"/>
                <a:cs typeface="Courier New" pitchFamily="34" charset="-120"/>
              </a:rPr>
              <a:t>   └ llm/</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ph idx="100" type="title" hasCustomPrompt="1"/>
          </p:nvPr>
        </p:nvSpPr>
        <p:spPr>
          <a:xfrm>
            <a:off x="548640" y="320040"/>
            <a:ext cx="11094415" cy="777240"/>
          </a:xfrm>
          <a:prstGeom prst="rect">
            <a:avLst/>
          </a:prstGeom>
          <a:noFill/>
          <a:ln/>
        </p:spPr>
        <p:txBody>
          <a:bodyPr wrap="square" lIns="0" tIns="0" rIns="0" bIns="0" rtlCol="0" anchor="ctr"/>
          <a:lstStyle/>
          <a:p>
            <a:pPr algn="l" indent="0" marL="0">
              <a:buNone/>
            </a:pPr>
            <a:r>
              <a:rPr lang="en-US" sz="3200" b="1" dirty="0">
                <a:solidFill>
                  <a:schemeClr val="tx2"/>
                </a:solidFill>
                <a:latin typeface="Cambria" pitchFamily="34" charset="0"/>
                <a:ea typeface="Cambria" pitchFamily="34" charset="-122"/>
                <a:cs typeface="Cambria" pitchFamily="34" charset="-120"/>
              </a:rPr>
              <a:t>References</a:t>
            </a:r>
            <a:endParaRPr lang="en-US" sz="3200" dirty="0"/>
          </a:p>
        </p:txBody>
      </p:sp>
      <p:sp>
        <p:nvSpPr>
          <p:cNvPr id="3" name="text_394"/>
          <p:cNvSpPr txBox="1"/>
          <p:nvPr/>
        </p:nvSpPr>
        <p:spPr>
          <a:xfrm>
            <a:off x="548640" y="1371600"/>
            <a:ext cx="11094415" cy="4663440"/>
          </a:xfrm>
          <a:prstGeom prst="rect">
            <a:avLst/>
          </a:prstGeom>
          <a:noFill/>
          <a:ln/>
        </p:spPr>
        <p:txBody>
          <a:bodyPr wrap="square" lIns="0" tIns="0" rIns="0" bIns="0" rtlCol="0" anchor="t"/>
          <a:lstStyle/>
          <a:p>
            <a:pPr marL="342900" indent="-342900">
              <a:spcAft>
                <a:spcPts val="1600"/>
              </a:spcAft>
              <a:buSzPct val="100000"/>
              <a:buChar char="•"/>
            </a:pPr>
            <a:r>
              <a:rPr lang="en-US" sz="1600" dirty="0">
                <a:solidFill>
                  <a:schemeClr val="tx1"/>
                </a:solidFill>
              </a:rPr>
              <a:t>Application: Naveen-verma-7697/FleetManagment, GitHub, commit dfc61ab8 (accessed Oct 2026)</a:t>
            </a:r>
            <a:endParaRPr lang="en-US" sz="1600" dirty="0"/>
          </a:p>
          <a:p>
            <a:pPr marL="342900" indent="-342900">
              <a:spcAft>
                <a:spcPts val="1600"/>
              </a:spcAft>
              <a:buSzPct val="100000"/>
              <a:buChar char="•"/>
            </a:pPr>
            <a:r>
              <a:rPr lang="en-US" sz="1600" dirty="0">
                <a:solidFill>
                  <a:schemeClr val="tx1"/>
                </a:solidFill>
              </a:rPr>
              <a:t>Submission: aswathymohan-amrita/23CSE455_DP_CaseStudy, folder B6</a:t>
            </a:r>
            <a:endParaRPr lang="en-US" sz="1600" dirty="0"/>
          </a:p>
          <a:p>
            <a:pPr marL="342900" indent="-342900">
              <a:spcAft>
                <a:spcPts val="1600"/>
              </a:spcAft>
              <a:buSzPct val="100000"/>
              <a:buChar char="•"/>
            </a:pPr>
            <a:r>
              <a:rPr lang="en-US" sz="1600" dirty="0">
                <a:solidFill>
                  <a:schemeClr val="tx1"/>
                </a:solidFill>
              </a:rPr>
              <a:t>Gamma, Helm, Johnson, Vlissides — Design Patterns: Elements of Reusable Object-Oriented Software, 1994</a:t>
            </a:r>
            <a:endParaRPr lang="en-US" sz="1600" dirty="0"/>
          </a:p>
          <a:p>
            <a:pPr marL="342900" indent="-342900">
              <a:spcAft>
                <a:spcPts val="1600"/>
              </a:spcAft>
              <a:buSzPct val="100000"/>
              <a:buChar char="•"/>
            </a:pPr>
            <a:r>
              <a:rPr lang="en-US" sz="1600" dirty="0">
                <a:solidFill>
                  <a:schemeClr val="tx1"/>
                </a:solidFill>
              </a:rPr>
              <a:t>Fowler — Patterns of Enterprise Application Architecture, 2002 (Repository, Service Layer, DTO, Unit of Work)</a:t>
            </a:r>
            <a:endParaRPr lang="en-US" sz="1600" dirty="0"/>
          </a:p>
          <a:p>
            <a:pPr marL="342900" indent="-342900">
              <a:spcAft>
                <a:spcPts val="1600"/>
              </a:spcAft>
              <a:buSzPct val="100000"/>
              <a:buChar char="•"/>
            </a:pPr>
            <a:r>
              <a:rPr lang="en-US" sz="1600" dirty="0">
                <a:solidFill>
                  <a:schemeClr val="tx1"/>
                </a:solidFill>
              </a:rPr>
              <a:t>Fowler — “Strangler Fig Application”, martinfowler.com</a:t>
            </a:r>
            <a:endParaRPr lang="en-US" sz="1600" dirty="0"/>
          </a:p>
          <a:p>
            <a:pPr marL="342900" indent="-342900">
              <a:spcAft>
                <a:spcPts val="1600"/>
              </a:spcAft>
              <a:buSzPct val="100000"/>
              <a:buChar char="•"/>
            </a:pPr>
            <a:r>
              <a:rPr lang="en-US" sz="1600" dirty="0">
                <a:solidFill>
                  <a:schemeClr val="tx1"/>
                </a:solidFill>
              </a:rPr>
              <a:t>Microsoft Learn — ASP.NET Core dependency injection, middleware, hosted services, System.Threading.Channels, TimeProvider</a:t>
            </a:r>
            <a:endParaRPr lang="en-US" sz="1600" dirty="0"/>
          </a:p>
          <a:p>
            <a:pPr marL="342900" indent="-342900">
              <a:spcAft>
                <a:spcPts val="1600"/>
              </a:spcAft>
              <a:buSzPct val="100000"/>
              <a:buChar char="•"/>
            </a:pPr>
            <a:r>
              <a:rPr lang="en-US" sz="1600" dirty="0">
                <a:solidFill>
                  <a:schemeClr val="tx1"/>
                </a:solidFill>
              </a:rPr>
              <a:t>Tools: .NET SDK 8.0.425, NUnit 3.14, Moq, FluentAssertions, PlantUML 1.2024.8, lizard</a:t>
            </a:r>
            <a:endParaRPr lang="en-US" sz="1600" dirty="0"/>
          </a:p>
          <a:p>
            <a:pPr marL="342900" indent="-342900">
              <a:spcAft>
                <a:spcPts val="1600"/>
              </a:spcAft>
              <a:buSzPct val="100000"/>
              <a:buChar char="•"/>
            </a:pPr>
            <a:r>
              <a:rPr lang="en-US" sz="1600" dirty="0">
                <a:solidFill>
                  <a:schemeClr val="tx1"/>
                </a:solidFill>
              </a:rPr>
              <a:t>LLMs: GPT-5.6 Luna (Part 1); Claude Opus 5.5 in Claude Code (Parts 2 and 3); GPT-6 (Part 3 Strategy and Repository)</a:t>
            </a:r>
            <a:endParaRPr lang="en-US" sz="16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8778240" cy="2103120"/>
          </a:xfrm>
          <a:prstGeom prst="rect">
            <a:avLst/>
          </a:prstGeom>
          <a:noFill/>
          <a:ln/>
        </p:spPr>
        <p:txBody>
          <a:bodyPr wrap="square" lIns="0" tIns="0" rIns="0" bIns="0" rtlCol="0" anchor="b"/>
          <a:lstStyle/>
          <a:p>
            <a:pPr algn="l" indent="0" marL="0">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p:nvPr>
            <p:ph idx="101" type="body" hasCustomPrompt="1"/>
          </p:nvPr>
        </p:nvSpPr>
        <p:spPr>
          <a:xfrm>
            <a:off x="548640" y="3520440"/>
            <a:ext cx="8778240" cy="548640"/>
          </a:xfrm>
          <a:prstGeom prst="rect">
            <a:avLst/>
          </a:prstGeom>
          <a:noFill/>
          <a:ln/>
        </p:spPr>
        <p:txBody>
          <a:bodyPr wrap="square" lIns="0" tIns="0" rIns="0" bIns="0" rtlCol="0" anchor="t"/>
          <a:lstStyle/>
          <a:p>
            <a:pPr indent="0" marL="0">
              <a:buNone/>
            </a:pPr>
            <a:r>
              <a:rPr lang="en-US" sz="2000" dirty="0">
                <a:solidFill>
                  <a:schemeClr val="accent1"/>
                </a:solidFill>
              </a:rPr>
              <a:t>Questions?  ·  Team B6</a:t>
            </a:r>
            <a:endParaRPr lang="en-US" sz="2000" dirty="0"/>
          </a:p>
        </p:txBody>
      </p:sp>
      <p:sp>
        <p:nvSpPr>
          <p:cNvPr id="4" name="chip_395"/>
          <p:cNvSpPr txBox="1"/>
          <p:nvPr/>
        </p:nvSpPr>
        <p:spPr>
          <a:xfrm>
            <a:off x="548640" y="4937760"/>
            <a:ext cx="103327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Repository</a:t>
            </a:r>
            <a:endParaRPr lang="en-US" sz="1100" dirty="0"/>
          </a:p>
        </p:txBody>
      </p:sp>
      <p:sp>
        <p:nvSpPr>
          <p:cNvPr id="5" name="chip_396"/>
          <p:cNvSpPr txBox="1"/>
          <p:nvPr/>
        </p:nvSpPr>
        <p:spPr>
          <a:xfrm>
            <a:off x="1691640" y="4937760"/>
            <a:ext cx="181051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Dependency Injection</a:t>
            </a:r>
            <a:endParaRPr lang="en-US" sz="1100" dirty="0"/>
          </a:p>
        </p:txBody>
      </p:sp>
      <p:sp>
        <p:nvSpPr>
          <p:cNvPr id="6" name="chip_397"/>
          <p:cNvSpPr txBox="1"/>
          <p:nvPr/>
        </p:nvSpPr>
        <p:spPr>
          <a:xfrm>
            <a:off x="3611880" y="4937760"/>
            <a:ext cx="126644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Service Layer</a:t>
            </a:r>
            <a:endParaRPr lang="en-US" sz="1100" dirty="0"/>
          </a:p>
        </p:txBody>
      </p:sp>
      <p:sp>
        <p:nvSpPr>
          <p:cNvPr id="7" name="chip_398"/>
          <p:cNvSpPr txBox="1"/>
          <p:nvPr/>
        </p:nvSpPr>
        <p:spPr>
          <a:xfrm>
            <a:off x="4988052" y="4937760"/>
            <a:ext cx="1499616"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Middleware Chain</a:t>
            </a:r>
            <a:endParaRPr lang="en-US" sz="1100" dirty="0"/>
          </a:p>
        </p:txBody>
      </p:sp>
      <p:sp>
        <p:nvSpPr>
          <p:cNvPr id="8" name="chip_399"/>
          <p:cNvSpPr txBox="1"/>
          <p:nvPr/>
        </p:nvSpPr>
        <p:spPr>
          <a:xfrm>
            <a:off x="6597396" y="4937760"/>
            <a:ext cx="157734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Producer–Consumer</a:t>
            </a:r>
            <a:endParaRPr lang="en-US" sz="1100" dirty="0"/>
          </a:p>
        </p:txBody>
      </p:sp>
      <p:sp>
        <p:nvSpPr>
          <p:cNvPr id="9" name="chip_400"/>
          <p:cNvSpPr txBox="1"/>
          <p:nvPr/>
        </p:nvSpPr>
        <p:spPr>
          <a:xfrm>
            <a:off x="8284464" y="4937760"/>
            <a:ext cx="800100"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Adapter</a:t>
            </a:r>
            <a:endParaRPr lang="en-US" sz="1100" dirty="0"/>
          </a:p>
        </p:txBody>
      </p:sp>
      <p:sp>
        <p:nvSpPr>
          <p:cNvPr id="10" name="chip_401"/>
          <p:cNvSpPr txBox="1"/>
          <p:nvPr/>
        </p:nvSpPr>
        <p:spPr>
          <a:xfrm>
            <a:off x="9194292" y="4937760"/>
            <a:ext cx="644652"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Proxy</a:t>
            </a:r>
            <a:endParaRPr lang="en-US" sz="1100" dirty="0"/>
          </a:p>
        </p:txBody>
      </p:sp>
      <p:sp>
        <p:nvSpPr>
          <p:cNvPr id="11" name="chip_402"/>
          <p:cNvSpPr txBox="1"/>
          <p:nvPr/>
        </p:nvSpPr>
        <p:spPr>
          <a:xfrm>
            <a:off x="9948672" y="4937760"/>
            <a:ext cx="126644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Strangler Fig</a:t>
            </a:r>
            <a:endParaRPr lang="en-US" sz="1100" dirty="0"/>
          </a:p>
        </p:txBody>
      </p:sp>
      <p:sp>
        <p:nvSpPr>
          <p:cNvPr id="12" name="chip_403"/>
          <p:cNvSpPr txBox="1"/>
          <p:nvPr/>
        </p:nvSpPr>
        <p:spPr>
          <a:xfrm>
            <a:off x="548640" y="5340096"/>
            <a:ext cx="489204" cy="310896"/>
          </a:xfrm>
          <a:prstGeom prst="roundRect">
            <a:avLst>
              <a:gd name="adj" fmla="val 50000"/>
            </a:avLst>
          </a:prstGeom>
          <a:solidFill>
            <a:schemeClr val="accent2"/>
          </a:solidFill>
          <a:ln>
            <a:solidFill>
              <a:schemeClr val="accent2"/>
            </a:solidFill>
          </a:ln>
        </p:spPr>
        <p:txBody>
          <a:bodyPr wrap="square" lIns="0" tIns="0" rIns="0" bIns="0" rtlCol="0" anchor="ctr"/>
          <a:lstStyle/>
          <a:p>
            <a:pPr algn="ctr" indent="0" marL="0">
              <a:buNone/>
            </a:pPr>
            <a:r>
              <a:rPr lang="en-US" sz="1100" b="1" dirty="0">
                <a:solidFill>
                  <a:schemeClr val="bg1"/>
                </a:solidFill>
              </a:rPr>
              <a:t>DTO</a:t>
            </a:r>
            <a:endParaRPr lang="en-US" sz="1100" dirty="0"/>
          </a:p>
        </p:txBody>
      </p:sp>
      <p:sp>
        <p:nvSpPr>
          <p:cNvPr id="13" name="chip_404"/>
          <p:cNvSpPr txBox="1"/>
          <p:nvPr/>
        </p:nvSpPr>
        <p:spPr>
          <a:xfrm>
            <a:off x="1147572" y="5340096"/>
            <a:ext cx="644652"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State</a:t>
            </a:r>
            <a:endParaRPr lang="en-US" sz="1100" dirty="0"/>
          </a:p>
        </p:txBody>
      </p:sp>
      <p:sp>
        <p:nvSpPr>
          <p:cNvPr id="14" name="chip_405"/>
          <p:cNvSpPr txBox="1"/>
          <p:nvPr/>
        </p:nvSpPr>
        <p:spPr>
          <a:xfrm>
            <a:off x="1901952" y="5340096"/>
            <a:ext cx="1344168"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Factory Method</a:t>
            </a:r>
            <a:endParaRPr lang="en-US" sz="1100" dirty="0"/>
          </a:p>
        </p:txBody>
      </p:sp>
      <p:sp>
        <p:nvSpPr>
          <p:cNvPr id="15" name="chip_406"/>
          <p:cNvSpPr txBox="1"/>
          <p:nvPr/>
        </p:nvSpPr>
        <p:spPr>
          <a:xfrm>
            <a:off x="3355848" y="5340096"/>
            <a:ext cx="877824"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Strategy</a:t>
            </a:r>
            <a:endParaRPr lang="en-US" sz="1100" dirty="0"/>
          </a:p>
        </p:txBody>
      </p:sp>
      <p:sp>
        <p:nvSpPr>
          <p:cNvPr id="16" name="chip_407"/>
          <p:cNvSpPr txBox="1"/>
          <p:nvPr/>
        </p:nvSpPr>
        <p:spPr>
          <a:xfrm>
            <a:off x="4343400" y="5340096"/>
            <a:ext cx="877824" cy="310896"/>
          </a:xfrm>
          <a:prstGeom prst="roundRect">
            <a:avLst>
              <a:gd name="adj" fmla="val 50000"/>
            </a:avLst>
          </a:prstGeom>
          <a:solidFill>
            <a:schemeClr val="accent1"/>
          </a:solidFill>
          <a:ln>
            <a:solidFill>
              <a:schemeClr val="accent1"/>
            </a:solidFill>
          </a:ln>
        </p:spPr>
        <p:txBody>
          <a:bodyPr wrap="square" lIns="0" tIns="0" rIns="0" bIns="0" rtlCol="0" anchor="ctr"/>
          <a:lstStyle/>
          <a:p>
            <a:pPr algn="ctr" indent="0" marL="0">
              <a:buNone/>
            </a:pPr>
            <a:r>
              <a:rPr lang="en-US" sz="1100" b="1" dirty="0">
                <a:solidFill>
                  <a:schemeClr val="tx1"/>
                </a:solidFill>
              </a:rPr>
              <a:t>Observer</a:t>
            </a:r>
            <a:endParaRPr lang="en-US" sz="1100" dirty="0"/>
          </a:p>
        </p:txBody>
      </p:sp>
    </p:spTree>
  </p:cSld>
  <p:clrMapOvr>
    <a:masterClrMapping/>
  </p:clrMapOvr>
</p:sld>
</file>

<file path=ppt/theme/theme1.xml><?xml version="1.0" encoding="utf-8"?>
<a:theme xmlns:a="http://schemas.openxmlformats.org/drawingml/2006/main" name="Fleet Asphalt">
  <a:themeElements>
    <a:clrScheme name="Fleet Asphalt">
      <a:dk1>
        <a:srgbClr val="1A1F26"/>
      </a:dk1>
      <a:lt1>
        <a:srgbClr val="FFFFFF"/>
      </a:lt1>
      <a:dk2>
        <a:srgbClr val="1E2B38"/>
      </a:dk2>
      <a:lt2>
        <a:srgbClr val="EEF2F5"/>
      </a:lt2>
      <a:accent1>
        <a:srgbClr val="E39B2D"/>
      </a:accent1>
      <a:accent2>
        <a:srgbClr val="2A7F7A"/>
      </a:accent2>
      <a:accent3>
        <a:srgbClr val="B5483A"/>
      </a:accent3>
      <a:accent4>
        <a:srgbClr val="5B6B7C"/>
      </a:accent4>
      <a:accent5>
        <a:srgbClr val="6E9A3A"/>
      </a:accent5>
      <a:accent6>
        <a:srgbClr val="7B5EA7"/>
      </a:accent6>
      <a:hlink>
        <a:srgbClr val="2A7F7A"/>
      </a:hlink>
      <a:folHlink>
        <a:srgbClr val="5B6B7C"/>
      </a:folHlink>
    </a:clrScheme>
    <a:fontScheme name="Fleet Asphal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33</Slides>
  <Notes>33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33</vt:i4>
      </vt:variant>
    </vt:vector>
  </HeadingPairs>
  <TitlesOfParts>
    <vt:vector size="3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B6 - Design Pattern Case Study</dc:title>
  <dc:subject>23CSE455 Design Patterns case study</dc:subject>
  <dc:creator>Team B6</dc:creator>
  <cp:lastModifiedBy>Team B6</cp:lastModifiedBy>
  <cp:revision>1</cp:revision>
  <dcterms:created xsi:type="dcterms:W3CDTF">2026-10-11T16:30:15Z</dcterms:created>
  <dcterms:modified xsi:type="dcterms:W3CDTF">2026-10-11T16:30:15Z</dcterms:modified>
</cp:coreProperties>
</file>